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ira Sans Medium"/>
      <p:regular r:id="rId14"/>
      <p:bold r:id="rId15"/>
      <p:italic r:id="rId16"/>
      <p:boldItalic r:id="rId17"/>
    </p:embeddedFont>
    <p:embeddedFont>
      <p:font typeface="Fira Sans ExtraBold"/>
      <p:bold r:id="rId18"/>
      <p:boldItalic r:id="rId19"/>
    </p:embeddedFont>
    <p:embeddedFont>
      <p:font typeface="Fira Sans"/>
      <p:regular r:id="rId20"/>
      <p:bold r:id="rId21"/>
      <p:italic r:id="rId22"/>
      <p:boldItalic r:id="rId23"/>
    </p:embeddedFont>
    <p:embeddedFont>
      <p:font typeface="Open Sans Medium"/>
      <p:regular r:id="rId24"/>
      <p:bold r:id="rId25"/>
      <p:italic r:id="rId26"/>
      <p:boldItalic r:id="rId27"/>
    </p:embeddedFont>
    <p:embeddedFont>
      <p:font typeface="DM Serif Display"/>
      <p:regular r:id="rId28"/>
      <p:italic r:id="rId29"/>
    </p:embeddedFont>
    <p:embeddedFont>
      <p:font typeface="Karla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regular.fntdata"/><Relationship Id="rId22" Type="http://schemas.openxmlformats.org/officeDocument/2006/relationships/font" Target="fonts/FiraSans-italic.fntdata"/><Relationship Id="rId21" Type="http://schemas.openxmlformats.org/officeDocument/2006/relationships/font" Target="fonts/FiraSans-bold.fntdata"/><Relationship Id="rId24" Type="http://schemas.openxmlformats.org/officeDocument/2006/relationships/font" Target="fonts/OpenSansMedium-regular.fntdata"/><Relationship Id="rId23" Type="http://schemas.openxmlformats.org/officeDocument/2006/relationships/font" Target="fonts/Fira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Medium-italic.fntdata"/><Relationship Id="rId25" Type="http://schemas.openxmlformats.org/officeDocument/2006/relationships/font" Target="fonts/OpenSansMedium-bold.fntdata"/><Relationship Id="rId28" Type="http://schemas.openxmlformats.org/officeDocument/2006/relationships/font" Target="fonts/DMSerifDisplay-regular.fntdata"/><Relationship Id="rId27" Type="http://schemas.openxmlformats.org/officeDocument/2006/relationships/font" Target="fonts/OpenSa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erif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Karla-bold.fntdata"/><Relationship Id="rId30" Type="http://schemas.openxmlformats.org/officeDocument/2006/relationships/font" Target="fonts/Karla-regular.fntdata"/><Relationship Id="rId11" Type="http://schemas.openxmlformats.org/officeDocument/2006/relationships/slide" Target="slides/slide6.xml"/><Relationship Id="rId33" Type="http://schemas.openxmlformats.org/officeDocument/2006/relationships/font" Target="fonts/Karla-boldItalic.fntdata"/><Relationship Id="rId10" Type="http://schemas.openxmlformats.org/officeDocument/2006/relationships/slide" Target="slides/slide5.xml"/><Relationship Id="rId32" Type="http://schemas.openxmlformats.org/officeDocument/2006/relationships/font" Target="fonts/Karla-italic.fntdata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OpenSans-regular.fntdata"/><Relationship Id="rId15" Type="http://schemas.openxmlformats.org/officeDocument/2006/relationships/font" Target="fonts/FiraSansMedium-bold.fntdata"/><Relationship Id="rId37" Type="http://schemas.openxmlformats.org/officeDocument/2006/relationships/font" Target="fonts/OpenSans-boldItalic.fntdata"/><Relationship Id="rId14" Type="http://schemas.openxmlformats.org/officeDocument/2006/relationships/font" Target="fonts/FiraSansMedium-regular.fntdata"/><Relationship Id="rId36" Type="http://schemas.openxmlformats.org/officeDocument/2006/relationships/font" Target="fonts/OpenSans-italic.fntdata"/><Relationship Id="rId17" Type="http://schemas.openxmlformats.org/officeDocument/2006/relationships/font" Target="fonts/FiraSansMedium-boldItalic.fntdata"/><Relationship Id="rId16" Type="http://schemas.openxmlformats.org/officeDocument/2006/relationships/font" Target="fonts/FiraSansMedium-italic.fntdata"/><Relationship Id="rId19" Type="http://schemas.openxmlformats.org/officeDocument/2006/relationships/font" Target="fonts/FiraSansExtraBold-boldItalic.fntdata"/><Relationship Id="rId1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b1e44ee660_0_1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1b1e44ee660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b1e44ee66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b1e44ee66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5df9ed63_0_21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1125df9ed63_0_2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b1e44ee660_0_4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1b1e44ee660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25df9ed63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125df9ed63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b1e44ee660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b1e44ee660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8075" y="8979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8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Databases </a:t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8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and SQL</a:t>
            </a:r>
            <a:endParaRPr sz="34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78075" y="2749750"/>
            <a:ext cx="419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248325" y="2071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Why use Databases?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Relational </a:t>
            </a: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Databases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SQL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Writing Queries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1B2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082175" y="604394"/>
            <a:ext cx="4378200" cy="4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Organize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Structure data in an orderly fashion so that it is more easily interpretable and accessible. Understand what data is important and what is not.</a:t>
            </a: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Store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Need a way to actually ‘keep’ the data being collected in specific format. Lots of different kinds of database for different types of data.</a:t>
            </a:r>
            <a:b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Secure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Provides a way to enforce and enact security and access restrictions on your data. Think customer personal identifying information.</a:t>
            </a:r>
            <a:endParaRPr sz="9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Retrieve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Stored data needs to be easily retrievable so it can be used by the company for all manners from billing to customer and product sales analysis.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6"/>
          <p:cNvSpPr txBox="1"/>
          <p:nvPr>
            <p:ph idx="4294967295" type="ctrTitle"/>
          </p:nvPr>
        </p:nvSpPr>
        <p:spPr>
          <a:xfrm>
            <a:off x="351375" y="318700"/>
            <a:ext cx="28776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Databases are Essential Tools</a:t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426" l="0" r="0" t="426"/>
          <a:stretch/>
        </p:blipFill>
        <p:spPr>
          <a:xfrm>
            <a:off x="1293800" y="2375400"/>
            <a:ext cx="2283900" cy="2264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32309" r="-1480" t="76156"/>
          <a:stretch/>
        </p:blipFill>
        <p:spPr>
          <a:xfrm>
            <a:off x="-7350" y="3917100"/>
            <a:ext cx="3557801" cy="122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 rotWithShape="1">
          <a:blip r:embed="rId4">
            <a:alphaModFix/>
          </a:blip>
          <a:srcRect b="0" l="13682" r="13690" t="0"/>
          <a:stretch/>
        </p:blipFill>
        <p:spPr>
          <a:xfrm>
            <a:off x="3543075" y="0"/>
            <a:ext cx="56007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type="ctrTitle"/>
          </p:nvPr>
        </p:nvSpPr>
        <p:spPr>
          <a:xfrm>
            <a:off x="351375" y="522075"/>
            <a:ext cx="2877600" cy="23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Example: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Facebook Analytics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0" y="0"/>
            <a:ext cx="9144000" cy="15759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8527" l="0" r="0" t="25004"/>
          <a:stretch/>
        </p:blipFill>
        <p:spPr>
          <a:xfrm>
            <a:off x="4771300" y="1290626"/>
            <a:ext cx="4023300" cy="1799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4771305" y="1290626"/>
            <a:ext cx="4023300" cy="1799700"/>
          </a:xfrm>
          <a:prstGeom prst="roundRect">
            <a:avLst>
              <a:gd fmla="val 0" name="adj"/>
            </a:avLst>
          </a:prstGeom>
          <a:solidFill>
            <a:srgbClr val="E7643C">
              <a:alpha val="6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4">
            <a:alphaModFix/>
          </a:blip>
          <a:srcRect b="26665" l="0" r="0" t="7510"/>
          <a:stretch/>
        </p:blipFill>
        <p:spPr>
          <a:xfrm>
            <a:off x="370700" y="1290626"/>
            <a:ext cx="4023300" cy="1799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95" name="Google Shape;95;p18"/>
          <p:cNvSpPr/>
          <p:nvPr/>
        </p:nvSpPr>
        <p:spPr>
          <a:xfrm>
            <a:off x="370755" y="1290626"/>
            <a:ext cx="4023300" cy="1799700"/>
          </a:xfrm>
          <a:prstGeom prst="roundRect">
            <a:avLst>
              <a:gd fmla="val 0" name="adj"/>
            </a:avLst>
          </a:prstGeom>
          <a:solidFill>
            <a:srgbClr val="E7643C">
              <a:alpha val="6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280855" y="445325"/>
            <a:ext cx="851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10182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Relational Databases</a:t>
            </a:r>
            <a:endParaRPr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771300" y="3267575"/>
            <a:ext cx="4023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Multiple tables within a single database can ‘relate’ to each other based on shared data, </a:t>
            </a:r>
            <a:r>
              <a:rPr lang="en" sz="90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known as foreign keys. In other words, the data in different tables can be linked together by a shared column allowing for a wide range of analytics to occur.</a:t>
            </a:r>
            <a:endParaRPr sz="900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5073548" y="2020125"/>
            <a:ext cx="341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Relations</a:t>
            </a:r>
            <a:endParaRPr sz="24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5">
            <a:alphaModFix/>
          </a:blip>
          <a:srcRect b="-10" l="0" r="0" t="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672948" y="2020125"/>
            <a:ext cx="341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Tables</a:t>
            </a:r>
            <a:endParaRPr sz="24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354750" y="3267575"/>
            <a:ext cx="4023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Data is stored in tabular format, think columns and rows like a spreadsheet. Each table in the database has a specific and granular focus for what data is stored in it, reflected in naming conventions.</a:t>
            </a:r>
            <a:endParaRPr sz="900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/>
        </p:nvSpPr>
        <p:spPr>
          <a:xfrm>
            <a:off x="3412300" y="0"/>
            <a:ext cx="5731800" cy="5143500"/>
          </a:xfrm>
          <a:prstGeom prst="rect">
            <a:avLst/>
          </a:prstGeom>
          <a:solidFill>
            <a:srgbClr val="1B2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3922950" y="732875"/>
            <a:ext cx="2315100" cy="4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Specialized Language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While not a true ‘programming’ language, SQL is a specialized language used in programming specifically to interact with relational databases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Highly Structured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SQL provides rigorous capability to control data validation and enforce a rigid structure to your data storage vai a schema. It can impose specific data types and even character lengths for things like string data as well as provide access control at a per table level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6524050" y="732875"/>
            <a:ext cx="2315100" cy="4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Declarative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SQL is declarative as opposed to procedural meaning it focuses more on what the output should look like and less on the process to get there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Dialects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There are many forms or ‘dialects’ of SQL that all differ slightly in specific syntax. Many of the major corporations have adopted a form of their own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Mysql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PostgreSQL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SQL Server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Oracle SQL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SQLite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9"/>
          <p:cNvSpPr txBox="1"/>
          <p:nvPr>
            <p:ph idx="4294967295" type="ctrTitle"/>
          </p:nvPr>
        </p:nvSpPr>
        <p:spPr>
          <a:xfrm>
            <a:off x="351375" y="643350"/>
            <a:ext cx="2801400" cy="30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SQL:</a:t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Structured Query </a:t>
            </a:r>
            <a:endParaRPr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Language</a:t>
            </a:r>
            <a:endParaRPr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5" y="907675"/>
            <a:ext cx="4581900" cy="42357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3287375" y="4828298"/>
            <a:ext cx="564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600">
                <a:solidFill>
                  <a:srgbClr val="999999"/>
                </a:solidFill>
                <a:latin typeface="Fira Sans"/>
                <a:ea typeface="Fira Sans"/>
                <a:cs typeface="Fira Sans"/>
                <a:sym typeface="Fira Sans"/>
              </a:rPr>
              <a:t>*Can be completed from home, with the option to come to campus as locations reopen (if available).</a:t>
            </a:r>
            <a:endParaRPr i="1" sz="600">
              <a:solidFill>
                <a:srgbClr val="999999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4581900" y="907675"/>
            <a:ext cx="4581900" cy="4235700"/>
          </a:xfrm>
          <a:prstGeom prst="rect">
            <a:avLst/>
          </a:prstGeom>
          <a:solidFill>
            <a:srgbClr val="1B2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441132" y="1316846"/>
            <a:ext cx="280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22222"/>
                </a:solidFill>
                <a:latin typeface="Fira Sans"/>
                <a:ea typeface="Fira Sans"/>
                <a:cs typeface="Fira Sans"/>
                <a:sym typeface="Fira Sans"/>
              </a:rPr>
              <a:t>Retrieving and Analysing</a:t>
            </a:r>
            <a:endParaRPr b="1" sz="1700">
              <a:solidFill>
                <a:srgbClr val="22222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445799" y="1903364"/>
            <a:ext cx="35502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The primary focus for our understanding of SQL is being able to access data/information which we can then use in further analysis or provide as evidence to support our claims.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290474" y="2693867"/>
            <a:ext cx="3550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Filtering data based on condition/criteria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Grouping data based on column values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Aggregating data: count, sum, average, min, max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Joining data from multiple tables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5097455" y="1316851"/>
            <a:ext cx="2802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Creating and Modifying</a:t>
            </a:r>
            <a:endParaRPr b="1" sz="17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5102132" y="1827164"/>
            <a:ext cx="35502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Interacting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with a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database includes creating the structure and inputting information as well as being able to update, modify, and delete information as well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4946807" y="2617667"/>
            <a:ext cx="3550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Create tables and relational structure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Add new data into database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Impose/enforce datatype storage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constraints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Impose/enforce access permissions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20"/>
          <p:cNvSpPr txBox="1"/>
          <p:nvPr>
            <p:ph type="title"/>
          </p:nvPr>
        </p:nvSpPr>
        <p:spPr>
          <a:xfrm>
            <a:off x="427172" y="189100"/>
            <a:ext cx="806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latin typeface="Fira Sans"/>
                <a:ea typeface="Fira Sans"/>
                <a:cs typeface="Fira Sans"/>
                <a:sym typeface="Fira Sans"/>
              </a:rPr>
              <a:t>Writing Queries</a:t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/>
          <p:nvPr/>
        </p:nvSpPr>
        <p:spPr>
          <a:xfrm>
            <a:off x="6098400" y="907950"/>
            <a:ext cx="3048000" cy="4235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3050400" y="907950"/>
            <a:ext cx="3048000" cy="42357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2400" y="907950"/>
            <a:ext cx="3048000" cy="4235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32" name="Google Shape;132;p21"/>
          <p:cNvSpPr txBox="1"/>
          <p:nvPr>
            <p:ph type="title"/>
          </p:nvPr>
        </p:nvSpPr>
        <p:spPr>
          <a:xfrm>
            <a:off x="311099" y="189100"/>
            <a:ext cx="852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200"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197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the general importance of databases and 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specifically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highlighted relational databases - used heavily in data 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analytics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304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39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Relational Database</a:t>
            </a:r>
            <a:endParaRPr i="0" sz="39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226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Tables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3245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SQL as a form of ‘programming’ language that allows one to interact with relational databases using written code. 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3352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67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SQL</a:t>
            </a:r>
            <a:endParaRPr i="0" sz="67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3274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Language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6293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how 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queries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are written in SQL in order to interact 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with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said databases for both data retrieval and data input. Declarative instructions 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versus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procedural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6400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54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Queries</a:t>
            </a:r>
            <a:endParaRPr i="0" sz="54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6322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Syntax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