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Fira Sans Medium"/>
      <p:regular r:id="rId15"/>
      <p:bold r:id="rId16"/>
      <p:italic r:id="rId17"/>
      <p:boldItalic r:id="rId18"/>
    </p:embeddedFont>
    <p:embeddedFont>
      <p:font typeface="Fira Sans ExtraBold"/>
      <p:bold r:id="rId19"/>
      <p:boldItalic r:id="rId20"/>
    </p:embeddedFont>
    <p:embeddedFont>
      <p:font typeface="Fira Sans"/>
      <p:regular r:id="rId21"/>
      <p:bold r:id="rId22"/>
      <p:italic r:id="rId23"/>
      <p:boldItalic r:id="rId24"/>
    </p:embeddedFont>
    <p:embeddedFont>
      <p:font typeface="Open Sans Medium"/>
      <p:regular r:id="rId25"/>
      <p:bold r:id="rId26"/>
      <p:italic r:id="rId27"/>
      <p:boldItalic r:id="rId28"/>
    </p:embeddedFont>
    <p:embeddedFont>
      <p:font typeface="DM Serif Display"/>
      <p:regular r:id="rId29"/>
      <p:italic r:id="rId30"/>
    </p:embeddedFont>
    <p:embeddedFont>
      <p:font typeface="Karla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657">
          <p15:clr>
            <a:srgbClr val="9AA0A6"/>
          </p15:clr>
        </p15:guide>
        <p15:guide id="4" pos="4649">
          <p15:clr>
            <a:srgbClr val="9AA0A6"/>
          </p15:clr>
        </p15:guide>
        <p15:guide id="5" pos="3497">
          <p15:clr>
            <a:srgbClr val="9AA0A6"/>
          </p15:clr>
        </p15:guide>
        <p15:guide id="6" pos="2350">
          <p15:clr>
            <a:srgbClr val="9AA0A6"/>
          </p15:clr>
        </p15:guide>
        <p15:guide id="7" pos="2016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657" orient="horz"/>
        <p:guide pos="4649"/>
        <p:guide pos="3497"/>
        <p:guide pos="2350"/>
        <p:guide pos="201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iraSansExtraBold-boldItalic.fntdata"/><Relationship Id="rId22" Type="http://schemas.openxmlformats.org/officeDocument/2006/relationships/font" Target="fonts/FiraSans-bold.fntdata"/><Relationship Id="rId21" Type="http://schemas.openxmlformats.org/officeDocument/2006/relationships/font" Target="fonts/FiraSans-regular.fntdata"/><Relationship Id="rId24" Type="http://schemas.openxmlformats.org/officeDocument/2006/relationships/font" Target="fonts/FiraSans-boldItalic.fntdata"/><Relationship Id="rId23" Type="http://schemas.openxmlformats.org/officeDocument/2006/relationships/font" Target="fonts/Fira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Medium-bold.fntdata"/><Relationship Id="rId25" Type="http://schemas.openxmlformats.org/officeDocument/2006/relationships/font" Target="fonts/OpenSansMedium-regular.fntdata"/><Relationship Id="rId28" Type="http://schemas.openxmlformats.org/officeDocument/2006/relationships/font" Target="fonts/OpenSansMedium-boldItalic.fntdata"/><Relationship Id="rId27" Type="http://schemas.openxmlformats.org/officeDocument/2006/relationships/font" Target="fonts/OpenSa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erifDis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Karla-regular.fntdata"/><Relationship Id="rId30" Type="http://schemas.openxmlformats.org/officeDocument/2006/relationships/font" Target="fonts/DMSerifDisplay-italic.fntdata"/><Relationship Id="rId11" Type="http://schemas.openxmlformats.org/officeDocument/2006/relationships/slide" Target="slides/slide6.xml"/><Relationship Id="rId33" Type="http://schemas.openxmlformats.org/officeDocument/2006/relationships/font" Target="fonts/Karla-italic.fntdata"/><Relationship Id="rId10" Type="http://schemas.openxmlformats.org/officeDocument/2006/relationships/slide" Target="slides/slide5.xml"/><Relationship Id="rId32" Type="http://schemas.openxmlformats.org/officeDocument/2006/relationships/font" Target="fonts/Karla-bold.fntdata"/><Relationship Id="rId13" Type="http://schemas.openxmlformats.org/officeDocument/2006/relationships/slide" Target="slides/slide8.xml"/><Relationship Id="rId35" Type="http://schemas.openxmlformats.org/officeDocument/2006/relationships/font" Target="fonts/OpenSans-regular.fntdata"/><Relationship Id="rId12" Type="http://schemas.openxmlformats.org/officeDocument/2006/relationships/slide" Target="slides/slide7.xml"/><Relationship Id="rId34" Type="http://schemas.openxmlformats.org/officeDocument/2006/relationships/font" Target="fonts/Karla-boldItalic.fntdata"/><Relationship Id="rId15" Type="http://schemas.openxmlformats.org/officeDocument/2006/relationships/font" Target="fonts/FiraSansMedium-regular.fntdata"/><Relationship Id="rId37" Type="http://schemas.openxmlformats.org/officeDocument/2006/relationships/font" Target="fonts/OpenSans-italic.fntdata"/><Relationship Id="rId14" Type="http://schemas.openxmlformats.org/officeDocument/2006/relationships/slide" Target="slides/slide9.xml"/><Relationship Id="rId36" Type="http://schemas.openxmlformats.org/officeDocument/2006/relationships/font" Target="fonts/OpenSans-bold.fntdata"/><Relationship Id="rId17" Type="http://schemas.openxmlformats.org/officeDocument/2006/relationships/font" Target="fonts/FiraSansMedium-italic.fntdata"/><Relationship Id="rId16" Type="http://schemas.openxmlformats.org/officeDocument/2006/relationships/font" Target="fonts/FiraSansMedium-bold.fntdata"/><Relationship Id="rId38" Type="http://schemas.openxmlformats.org/officeDocument/2006/relationships/font" Target="fonts/OpenSans-boldItalic.fntdata"/><Relationship Id="rId19" Type="http://schemas.openxmlformats.org/officeDocument/2006/relationships/font" Target="fonts/FiraSansExtraBold-bold.fntdata"/><Relationship Id="rId18" Type="http://schemas.openxmlformats.org/officeDocument/2006/relationships/font" Target="fonts/Fira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125df9ed6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1125df9ed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b1e44ee660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b1e44ee660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b1e44ee660_0_11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1b1e44ee660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b1e44ee66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b1e44ee6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5df9ed63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5df9ed63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324f7f7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f324f7f7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b1e44ee66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b1e44ee66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f324f7f7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f324f7f7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b1e44ee660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b1e44ee660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07194" y="178941"/>
            <a:ext cx="7886700" cy="6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000">
                <a:solidFill>
                  <a:srgbClr val="002060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00050" y="10263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200"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Karla"/>
                <a:ea typeface="Karla"/>
                <a:cs typeface="Karla"/>
                <a:sym typeface="Karla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688150" y="4767275"/>
            <a:ext cx="360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b="0" i="0" sz="900" u="none" cap="none" strike="noStrike">
                <a:solidFill>
                  <a:srgbClr val="888888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 rotWithShape="1">
          <a:blip r:embed="rId3">
            <a:alphaModFix/>
          </a:blip>
          <a:srcRect b="-10" l="0" r="0" t="0"/>
          <a:stretch/>
        </p:blipFill>
        <p:spPr>
          <a:xfrm>
            <a:off x="450734" y="4615050"/>
            <a:ext cx="2094225" cy="2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378075" y="821700"/>
            <a:ext cx="72993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Filtering, Ordering, </a:t>
            </a:r>
            <a:endParaRPr sz="3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Limiting, &amp; Grouping Data</a:t>
            </a:r>
            <a:endParaRPr sz="34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rgbClr val="1B2630"/>
                </a:solidFill>
                <a:latin typeface="Fira Sans ExtraBold"/>
                <a:ea typeface="Fira Sans ExtraBold"/>
                <a:cs typeface="Fira Sans ExtraBold"/>
                <a:sym typeface="Fira Sans ExtraBold"/>
              </a:rPr>
              <a:t> with SQL</a:t>
            </a:r>
            <a:endParaRPr sz="10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2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9639" y="8"/>
            <a:ext cx="4224356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63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15561" r="15554" t="0"/>
          <a:stretch/>
        </p:blipFill>
        <p:spPr>
          <a:xfrm>
            <a:off x="0" y="0"/>
            <a:ext cx="3543000" cy="51435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 txBox="1"/>
          <p:nvPr>
            <p:ph type="ctrTitle"/>
          </p:nvPr>
        </p:nvSpPr>
        <p:spPr>
          <a:xfrm>
            <a:off x="4384750" y="1284075"/>
            <a:ext cx="2877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Agenda</a:t>
            </a:r>
            <a:endParaRPr b="1" sz="36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4248325" y="1995350"/>
            <a:ext cx="46722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Filtering</a:t>
            </a: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Data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Ordering and Limiting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pen Sans Medium"/>
              <a:buChar char="●"/>
            </a:pPr>
            <a:r>
              <a:rPr lang="en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Grouping and Aggregating</a:t>
            </a:r>
            <a:endParaRPr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3398625" y="0"/>
            <a:ext cx="5745300" cy="51435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4082175" y="604394"/>
            <a:ext cx="4378200" cy="43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Computational and Memory Efficiency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Only need a specific subset of the data. By using SQL to query that specific subset you can avoid parsing through unnecessary data.</a:t>
            </a: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br>
              <a:rPr lang="en" sz="9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Granular Data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Allows you to hone in that specific subset of data to answer both high level and more granular analysis questions.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Condition Expressions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Like with base python and pandas filtering in SQL is accomplished via the creation of conditional expressions.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Syntax</a:t>
            </a:r>
            <a:endParaRPr b="1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WHERE &lt;conditional expression&gt; </a:t>
            </a:r>
            <a:endParaRPr b="1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6"/>
          <p:cNvSpPr txBox="1"/>
          <p:nvPr>
            <p:ph idx="4294967295" type="ctrTitle"/>
          </p:nvPr>
        </p:nvSpPr>
        <p:spPr>
          <a:xfrm>
            <a:off x="351375" y="623500"/>
            <a:ext cx="28776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Filtering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426" l="0" r="0" t="426"/>
          <a:stretch/>
        </p:blipFill>
        <p:spPr>
          <a:xfrm>
            <a:off x="1293800" y="2375400"/>
            <a:ext cx="2283900" cy="22644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 b="0" l="17409" r="13696" t="0"/>
          <a:stretch/>
        </p:blipFill>
        <p:spPr>
          <a:xfrm>
            <a:off x="0" y="0"/>
            <a:ext cx="3543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ctrTitle"/>
          </p:nvPr>
        </p:nvSpPr>
        <p:spPr>
          <a:xfrm>
            <a:off x="4384750" y="1360275"/>
            <a:ext cx="3750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Filtering Process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248325" y="2071550"/>
            <a:ext cx="43137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Identify what data and tables are needed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SELECT the appropriate information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FROM the correct tables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WHERE data matches your desired conditions and filters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5" y="907675"/>
            <a:ext cx="45819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287375" y="4828298"/>
            <a:ext cx="56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00">
                <a:solidFill>
                  <a:srgbClr val="999999"/>
                </a:solidFill>
                <a:latin typeface="Fira Sans"/>
                <a:ea typeface="Fira Sans"/>
                <a:cs typeface="Fira Sans"/>
                <a:sym typeface="Fira Sans"/>
              </a:rPr>
              <a:t>*Can be completed from home, with the option to come to campus as locations reopen (if available).</a:t>
            </a:r>
            <a:endParaRPr i="1" sz="600">
              <a:solidFill>
                <a:srgbClr val="999999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4581900" y="907675"/>
            <a:ext cx="4581900" cy="4235700"/>
          </a:xfrm>
          <a:prstGeom prst="rect">
            <a:avLst/>
          </a:prstGeom>
          <a:solidFill>
            <a:srgbClr val="1B26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441132" y="1316846"/>
            <a:ext cx="280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22222"/>
                </a:solidFill>
                <a:latin typeface="Fira Sans"/>
                <a:ea typeface="Fira Sans"/>
                <a:cs typeface="Fira Sans"/>
                <a:sym typeface="Fira Sans"/>
              </a:rPr>
              <a:t>ORDER BY</a:t>
            </a:r>
            <a:endParaRPr b="1" sz="1700">
              <a:solidFill>
                <a:srgbClr val="22222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445799" y="20557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SQL allows one to order or sort their data based on a specific column or columns.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You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 can order by ascending or descending, low to high and high to low respectively.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290474" y="28462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Ordering based on string values will sort alphabetically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Incredibly useful for finding the “top n”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Can order by multiple columns sequentially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Second to last operation run in a query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Syntax</a:t>
            </a:r>
            <a:endParaRPr b="1" sz="13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ORDER BY &lt;column_to_sort_on&gt; ASC or DESC</a:t>
            </a:r>
            <a:endParaRPr b="1" sz="10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5097455" y="1316851"/>
            <a:ext cx="280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LIMIT</a:t>
            </a:r>
            <a:endParaRPr b="1" sz="1700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5102132" y="20557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An alternative form of filtering that is almost always used in tandem with ordering. Allows one to limit the amount of entries returned.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4946807" y="28462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Applies a simple cut-off for how much data is returned 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Incredibly useful for finding the “top n”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Can skip over entries using OFFSET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The last operation run in a query</a:t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Syntax</a:t>
            </a:r>
            <a:endParaRPr b="1"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LIMIT &lt;n&gt;</a:t>
            </a:r>
            <a:endParaRPr b="1"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8"/>
          <p:cNvSpPr txBox="1"/>
          <p:nvPr>
            <p:ph type="title"/>
          </p:nvPr>
        </p:nvSpPr>
        <p:spPr>
          <a:xfrm>
            <a:off x="427172" y="189100"/>
            <a:ext cx="806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Ordering and Limiting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17409" r="13696" t="0"/>
          <a:stretch/>
        </p:blipFill>
        <p:spPr>
          <a:xfrm>
            <a:off x="0" y="0"/>
            <a:ext cx="3543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>
            <p:ph type="ctrTitle"/>
          </p:nvPr>
        </p:nvSpPr>
        <p:spPr>
          <a:xfrm>
            <a:off x="4384750" y="369675"/>
            <a:ext cx="3750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Order and 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Limit</a:t>
            </a: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 Process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4248325" y="2071550"/>
            <a:ext cx="43137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Identify what data and tables are needed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SELECT the appropriate information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FROM the correct tables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WHERE data matches your desired conditions and filters (optional)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ORDER BY the column values you need to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lphaL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Determine </a:t>
            </a: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ascending</a:t>
            </a: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or descending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LIMIT to the top n number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/>
          <p:nvPr/>
        </p:nvSpPr>
        <p:spPr>
          <a:xfrm>
            <a:off x="5" y="907675"/>
            <a:ext cx="45819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287375" y="4828298"/>
            <a:ext cx="564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600">
                <a:solidFill>
                  <a:srgbClr val="999999"/>
                </a:solidFill>
                <a:latin typeface="Fira Sans"/>
                <a:ea typeface="Fira Sans"/>
                <a:cs typeface="Fira Sans"/>
                <a:sym typeface="Fira Sans"/>
              </a:rPr>
              <a:t>*Can be completed from home, with the option to come to campus as locations reopen (if available).</a:t>
            </a:r>
            <a:endParaRPr i="1" sz="600">
              <a:solidFill>
                <a:srgbClr val="999999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5" name="Google Shape;115;p20"/>
          <p:cNvSpPr/>
          <p:nvPr/>
        </p:nvSpPr>
        <p:spPr>
          <a:xfrm>
            <a:off x="4581900" y="907675"/>
            <a:ext cx="4581900" cy="4235700"/>
          </a:xfrm>
          <a:prstGeom prst="rect">
            <a:avLst/>
          </a:prstGeom>
          <a:solidFill>
            <a:srgbClr val="01ADE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/>
        </p:nvSpPr>
        <p:spPr>
          <a:xfrm>
            <a:off x="441132" y="1088246"/>
            <a:ext cx="28029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222222"/>
                </a:solidFill>
                <a:latin typeface="Fira Sans"/>
                <a:ea typeface="Fira Sans"/>
                <a:cs typeface="Fira Sans"/>
                <a:sym typeface="Fira Sans"/>
              </a:rPr>
              <a:t>GROUP BY</a:t>
            </a:r>
            <a:endParaRPr b="1" sz="1700">
              <a:solidFill>
                <a:srgbClr val="22222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445799" y="15223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SQL allows you to group your data based on values from a 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specific</a:t>
            </a: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 column. This creates internal subsets of data based on the groupings that can be further analyzed and compared.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20"/>
          <p:cNvSpPr/>
          <p:nvPr/>
        </p:nvSpPr>
        <p:spPr>
          <a:xfrm>
            <a:off x="290474" y="23128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Allows for meta analysis of patterns and trends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Works in tandem with aggregation to produce summary statistics like average, max, and min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Can be combined with HAVING statement to further filter data based on aggregated values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Breakdown a complex dataset into more manageable subsets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Very similar to how DataFrame.groupby() works</a:t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Syntax</a:t>
            </a:r>
            <a:endParaRPr b="1" sz="13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GROUP BY &lt;column_to_group_by&gt;</a:t>
            </a:r>
            <a:endParaRPr b="1" sz="10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HAVING &lt;conditional_expression&gt;</a:t>
            </a:r>
            <a:endParaRPr b="1" sz="10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5097455" y="1088251"/>
            <a:ext cx="2802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Aggregation</a:t>
            </a:r>
            <a:endParaRPr b="1" sz="17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0" name="Google Shape;120;p20"/>
          <p:cNvSpPr/>
          <p:nvPr/>
        </p:nvSpPr>
        <p:spPr>
          <a:xfrm>
            <a:off x="5102132" y="1522364"/>
            <a:ext cx="35502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Just like with DataFrame.groupby() an aggregation function is used in tandem with </a:t>
            </a: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grouping</a:t>
            </a: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to produce a summary statistic (aggregate value). 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20"/>
          <p:cNvSpPr/>
          <p:nvPr/>
        </p:nvSpPr>
        <p:spPr>
          <a:xfrm>
            <a:off x="4946807" y="2312867"/>
            <a:ext cx="3550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Allows for further filtering based on aggregate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Common aggregates are AVG(), COUNT(), MIN(), MAX()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Can include in SELECT statement to return value</a:t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2857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en Sans"/>
              <a:buChar char="●"/>
            </a:pPr>
            <a: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Summary statistic are incredibly useful in high level analysis to understand general patterns and trends across your ‘groups’</a:t>
            </a:r>
            <a:br>
              <a:rPr lang="en" sz="9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Syntax</a:t>
            </a:r>
            <a:endParaRPr b="1" sz="1300">
              <a:solidFill>
                <a:srgbClr val="1B263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1B2630"/>
                </a:solidFill>
                <a:latin typeface="Open Sans"/>
                <a:ea typeface="Open Sans"/>
                <a:cs typeface="Open Sans"/>
                <a:sym typeface="Open Sans"/>
              </a:rPr>
              <a:t>SUM(&lt;column_to_sum&gt;), COUNT(&lt;column_to_count&gt;)</a:t>
            </a:r>
            <a:endParaRPr b="1" sz="9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20"/>
          <p:cNvSpPr txBox="1"/>
          <p:nvPr>
            <p:ph type="title"/>
          </p:nvPr>
        </p:nvSpPr>
        <p:spPr>
          <a:xfrm>
            <a:off x="427172" y="189100"/>
            <a:ext cx="8069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Grouping</a:t>
            </a: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 and Aggregating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21"/>
          <p:cNvPicPr preferRelativeResize="0"/>
          <p:nvPr/>
        </p:nvPicPr>
        <p:blipFill rotWithShape="1">
          <a:blip r:embed="rId3">
            <a:alphaModFix/>
          </a:blip>
          <a:srcRect b="0" l="17409" r="13696" t="0"/>
          <a:stretch/>
        </p:blipFill>
        <p:spPr>
          <a:xfrm>
            <a:off x="0" y="0"/>
            <a:ext cx="3543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1"/>
          <p:cNvSpPr txBox="1"/>
          <p:nvPr>
            <p:ph type="ctrTitle"/>
          </p:nvPr>
        </p:nvSpPr>
        <p:spPr>
          <a:xfrm>
            <a:off x="4384750" y="64875"/>
            <a:ext cx="37500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3600">
                <a:solidFill>
                  <a:srgbClr val="1B2630"/>
                </a:solidFill>
                <a:latin typeface="Fira Sans"/>
                <a:ea typeface="Fira Sans"/>
                <a:cs typeface="Fira Sans"/>
                <a:sym typeface="Fira Sans"/>
              </a:rPr>
              <a:t>Grouping and Aggregating Process</a:t>
            </a:r>
            <a:endParaRPr b="1" sz="36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1" sz="2900">
              <a:solidFill>
                <a:srgbClr val="1B263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Fira Sans ExtraBold"/>
              <a:ea typeface="Fira Sans ExtraBold"/>
              <a:cs typeface="Fira Sans ExtraBold"/>
              <a:sym typeface="Fira Sans ExtraBo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900">
              <a:solidFill>
                <a:srgbClr val="1B263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4248325" y="2300150"/>
            <a:ext cx="4313700" cy="21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B263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Identify what data and tables are needed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SELECT the appropriate information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lphaL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Including aggregate in needed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FROM the correct tables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WHERE data matches your desired conditions and filters (optional)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GROUP BY column/s  you need to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01820"/>
              </a:buClr>
              <a:buSzPts val="1400"/>
              <a:buFont typeface="Open Sans Medium"/>
              <a:buAutoNum type="arabicPeriod"/>
            </a:pP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HAVING further filtering based on </a:t>
            </a:r>
            <a:r>
              <a:rPr lang="en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aggregate (optional)</a:t>
            </a:r>
            <a:endParaRPr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0" r="63341" t="0"/>
          <a:stretch/>
        </p:blipFill>
        <p:spPr>
          <a:xfrm>
            <a:off x="8058067" y="1536650"/>
            <a:ext cx="1085924" cy="3606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>
            <a:off x="6098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6" name="Google Shape;136;p22"/>
          <p:cNvSpPr/>
          <p:nvPr/>
        </p:nvSpPr>
        <p:spPr>
          <a:xfrm>
            <a:off x="3050400" y="907950"/>
            <a:ext cx="3048000" cy="42357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2400" y="907950"/>
            <a:ext cx="3048000" cy="4235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AD5C8"/>
              </a:solidFill>
            </a:endParaRPr>
          </a:p>
        </p:txBody>
      </p:sp>
      <p:sp>
        <p:nvSpPr>
          <p:cNvPr id="138" name="Google Shape;138;p22"/>
          <p:cNvSpPr txBox="1"/>
          <p:nvPr>
            <p:ph type="title"/>
          </p:nvPr>
        </p:nvSpPr>
        <p:spPr>
          <a:xfrm>
            <a:off x="311099" y="189100"/>
            <a:ext cx="8521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200">
                <a:latin typeface="Fira Sans"/>
                <a:ea typeface="Fira Sans"/>
                <a:cs typeface="Fira Sans"/>
                <a:sym typeface="Fira Sans"/>
              </a:rPr>
              <a:t>Summary</a:t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2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39" name="Google Shape;139;p22"/>
          <p:cNvSpPr/>
          <p:nvPr/>
        </p:nvSpPr>
        <p:spPr>
          <a:xfrm>
            <a:off x="197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SQL filtering allows you to obtain the specific subset of data you need for analysis. 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0" name="Google Shape;140;p22"/>
          <p:cNvSpPr/>
          <p:nvPr/>
        </p:nvSpPr>
        <p:spPr>
          <a:xfrm>
            <a:off x="304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67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Filter</a:t>
            </a:r>
            <a:endParaRPr i="0" sz="67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1" name="Google Shape;141;p22"/>
          <p:cNvSpPr/>
          <p:nvPr/>
        </p:nvSpPr>
        <p:spPr>
          <a:xfrm>
            <a:off x="226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Subset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2" name="Google Shape;142;p22"/>
          <p:cNvSpPr/>
          <p:nvPr/>
        </p:nvSpPr>
        <p:spPr>
          <a:xfrm>
            <a:off x="3245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SQL ordering allows you to sort data. You can also place a hard limit on the amount of data.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3352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67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Order</a:t>
            </a:r>
            <a:endParaRPr i="0" sz="67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3274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Sort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6293100" y="3280475"/>
            <a:ext cx="26586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 talked about how SQL grouping allows you to 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aggregate</a:t>
            </a:r>
            <a:r>
              <a:rPr lang="en" sz="900">
                <a:solidFill>
                  <a:srgbClr val="101820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data together based on column values and produce summary statistics from those groups.</a:t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900">
              <a:solidFill>
                <a:srgbClr val="101820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6400202" y="1816263"/>
            <a:ext cx="2444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6700">
                <a:solidFill>
                  <a:srgbClr val="01ADE2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Group</a:t>
            </a:r>
            <a:endParaRPr i="0" sz="6700" cap="none" strike="noStrike">
              <a:solidFill>
                <a:srgbClr val="01ADE2"/>
              </a:solidFill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6322050" y="2777200"/>
            <a:ext cx="2600700" cy="4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 sz="1700">
                <a:solidFill>
                  <a:srgbClr val="101820"/>
                </a:solidFill>
                <a:latin typeface="Fira Sans"/>
                <a:ea typeface="Fira Sans"/>
                <a:cs typeface="Fira Sans"/>
                <a:sym typeface="Fira Sans"/>
              </a:rPr>
              <a:t>Aggregate</a:t>
            </a:r>
            <a:endParaRPr b="1" i="0" sz="1700" cap="none" strike="noStrike">
              <a:solidFill>
                <a:srgbClr val="10182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