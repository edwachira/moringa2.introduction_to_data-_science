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Fira Sans Medium"/>
      <p:regular r:id="rId12"/>
      <p:bold r:id="rId13"/>
      <p:italic r:id="rId14"/>
      <p:boldItalic r:id="rId15"/>
    </p:embeddedFont>
    <p:embeddedFont>
      <p:font typeface="Fira Sans ExtraBold"/>
      <p:bold r:id="rId16"/>
      <p:boldItalic r:id="rId17"/>
    </p:embeddedFont>
    <p:embeddedFont>
      <p:font typeface="Fira Sans"/>
      <p:regular r:id="rId18"/>
      <p:bold r:id="rId19"/>
      <p:italic r:id="rId20"/>
      <p:boldItalic r:id="rId21"/>
    </p:embeddedFont>
    <p:embeddedFont>
      <p:font typeface="Open Sans Medium"/>
      <p:regular r:id="rId22"/>
      <p:bold r:id="rId23"/>
      <p:italic r:id="rId24"/>
      <p:boldItalic r:id="rId25"/>
    </p:embeddedFont>
    <p:embeddedFont>
      <p:font typeface="DM Serif Display"/>
      <p:regular r:id="rId26"/>
      <p:italic r:id="rId27"/>
    </p:embeddedFont>
    <p:embeddedFont>
      <p:font typeface="Karla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italic.fntdata"/><Relationship Id="rId22" Type="http://schemas.openxmlformats.org/officeDocument/2006/relationships/font" Target="fonts/OpenSansMedium-regular.fntdata"/><Relationship Id="rId21" Type="http://schemas.openxmlformats.org/officeDocument/2006/relationships/font" Target="fonts/FiraSans-boldItalic.fntdata"/><Relationship Id="rId24" Type="http://schemas.openxmlformats.org/officeDocument/2006/relationships/font" Target="fonts/OpenSansMedium-italic.fntdata"/><Relationship Id="rId23" Type="http://schemas.openxmlformats.org/officeDocument/2006/relationships/font" Target="fonts/Open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erifDisplay-regular.fntdata"/><Relationship Id="rId25" Type="http://schemas.openxmlformats.org/officeDocument/2006/relationships/font" Target="fonts/OpenSansMedium-boldItalic.fntdata"/><Relationship Id="rId28" Type="http://schemas.openxmlformats.org/officeDocument/2006/relationships/font" Target="fonts/Karla-regular.fntdata"/><Relationship Id="rId27" Type="http://schemas.openxmlformats.org/officeDocument/2006/relationships/font" Target="fonts/DMSerif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Karl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Karla-boldItalic.fntdata"/><Relationship Id="rId30" Type="http://schemas.openxmlformats.org/officeDocument/2006/relationships/font" Target="fonts/Karla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font" Target="fonts/FiraSansMedium-bold.fntdata"/><Relationship Id="rId35" Type="http://schemas.openxmlformats.org/officeDocument/2006/relationships/font" Target="fonts/OpenSans-boldItalic.fntdata"/><Relationship Id="rId12" Type="http://schemas.openxmlformats.org/officeDocument/2006/relationships/font" Target="fonts/FiraSansMedium-regular.fntdata"/><Relationship Id="rId34" Type="http://schemas.openxmlformats.org/officeDocument/2006/relationships/font" Target="fonts/OpenSans-italic.fntdata"/><Relationship Id="rId15" Type="http://schemas.openxmlformats.org/officeDocument/2006/relationships/font" Target="fonts/FiraSansMedium-boldItalic.fntdata"/><Relationship Id="rId14" Type="http://schemas.openxmlformats.org/officeDocument/2006/relationships/font" Target="fonts/FiraSansMedium-italic.fntdata"/><Relationship Id="rId17" Type="http://schemas.openxmlformats.org/officeDocument/2006/relationships/font" Target="fonts/FiraSansExtraBold-boldItalic.fntdata"/><Relationship Id="rId16" Type="http://schemas.openxmlformats.org/officeDocument/2006/relationships/font" Target="fonts/FiraSansExtraBold-bold.fntdata"/><Relationship Id="rId19" Type="http://schemas.openxmlformats.org/officeDocument/2006/relationships/font" Target="fonts/FiraSans-bold.fntdata"/><Relationship Id="rId18" Type="http://schemas.openxmlformats.org/officeDocument/2006/relationships/font" Target="fonts/Fir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1e44ee660_0_1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1b1e44ee660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125df9ed63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125df9ed63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b1e44ee660_0_4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1b1e44ee660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b1e44ee66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b1e44ee66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8979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Data Analysis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Using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SQL and Pandas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37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Pandas DataFrame Query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pandasql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SQL Query to Pandas DataFrame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082175" y="451994"/>
            <a:ext cx="43782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Direct from DataFrame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Pandas has a built-in method for DataFrame objects called query(). This method is called directly on a dataframe object.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Conditional Expression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This method takes in a conditional expression based on columns from the DataFrame. Can be thought of as a shorthand way to write a .loc[] containing a conditional expression.</a:t>
            </a: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&amp; and |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 pandas when combining multiple conditional expressions you need to use ‘&amp;’ instead of ‘and’ and ‘|’ instead of ‘or’.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endParaRPr sz="9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Quick and Dirty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While this is an efficient and syntax light way to query a pandas DataFrame it has limitation in complexity and functionality.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6"/>
          <p:cNvSpPr txBox="1"/>
          <p:nvPr>
            <p:ph idx="4294967295" type="ctrTitle"/>
          </p:nvPr>
        </p:nvSpPr>
        <p:spPr>
          <a:xfrm>
            <a:off x="122125" y="623500"/>
            <a:ext cx="31068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Pandas Query Method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1293800" y="2375400"/>
            <a:ext cx="2283900" cy="226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" y="907675"/>
            <a:ext cx="45819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287375" y="4828298"/>
            <a:ext cx="56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00">
                <a:solidFill>
                  <a:srgbClr val="999999"/>
                </a:solidFill>
                <a:latin typeface="Fira Sans"/>
                <a:ea typeface="Fira Sans"/>
                <a:cs typeface="Fira Sans"/>
                <a:sym typeface="Fira Sans"/>
              </a:rPr>
              <a:t>*Can be completed from home, with the option to come to campus as locations reopen (if available).</a:t>
            </a:r>
            <a:endParaRPr i="1" sz="600">
              <a:solidFill>
                <a:srgbClr val="999999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581900" y="907675"/>
            <a:ext cx="4581900" cy="42357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41132" y="1164446"/>
            <a:ext cx="280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22222"/>
                </a:solidFill>
                <a:latin typeface="Fira Sans"/>
                <a:ea typeface="Fira Sans"/>
                <a:cs typeface="Fira Sans"/>
                <a:sym typeface="Fira Sans"/>
              </a:rPr>
              <a:t>String Query</a:t>
            </a:r>
            <a:endParaRPr b="1" sz="1700">
              <a:solidFill>
                <a:srgbClr val="22222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45799" y="15985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Full SQl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queries can be utilized to access and extract data from a Pandas DataFrame. Shares syntax with SQLite. No connection because we are treating DataFrames as our database/tables.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290474" y="25414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Only employs DQL (Data Query Language)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Cannot update,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insert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otherwise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modify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 table in place would use Pandas to do so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Can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aggregate, group, join, sort, limit, and filter data in a DataFrame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Results in a new Pandas DataFrame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097455" y="1164451"/>
            <a:ext cx="280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SQL vs. Default Pandas</a:t>
            </a:r>
            <a:endParaRPr b="1" sz="17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102132" y="15985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Why use a string query instead of built-in Pandas methods? Query syntax is more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easily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understood from a technical audience and at large volumes of data will be faster to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perform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aggregate queries.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946807" y="25414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Logical ‘written’ syntax vs python code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Faster operations (for the most part)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More explicit in terms of end result - declarative vs. procedural language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Can be easier to troubleshoot and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adapt a query as needed.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Ultimately about the same, still working local no database.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427172" y="189100"/>
            <a:ext cx="806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Library: pandasql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122133" y="93800"/>
            <a:ext cx="2877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1B263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Section</a:t>
            </a:r>
            <a:endParaRPr sz="1000">
              <a:solidFill>
                <a:srgbClr val="1B263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412300" y="0"/>
            <a:ext cx="57318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922950" y="732875"/>
            <a:ext cx="23151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Database -&gt; Pandas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 string queries can be used in conjunction with Pandas to read data directly from a database into a DataFrame.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Full Syntax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 can be read and written to using Pandas and the appropriate query. Queries are written using standard language syntax for the SQL dialect.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524050" y="732875"/>
            <a:ext cx="23151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SQL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SQL used to retrieve data from source and perform high level operations like major filtering, grouping, sorting, or joining. Subset data to what is needed.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Pandas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Pandas can then be used to provide a more granular and descriptive approach to analyzing the data including basic visualization methods.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8"/>
          <p:cNvSpPr txBox="1"/>
          <p:nvPr>
            <p:ph idx="4294967295" type="ctrTitle"/>
          </p:nvPr>
        </p:nvSpPr>
        <p:spPr>
          <a:xfrm>
            <a:off x="351375" y="643350"/>
            <a:ext cx="2801400" cy="30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SQL to DataFrame</a:t>
            </a:r>
            <a:endParaRPr sz="36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6098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050400" y="907950"/>
            <a:ext cx="30480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2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099" y="189100"/>
            <a:ext cx="852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97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you can use conditional expressions with Pandas query() method to subset and filtering data.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304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4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query()</a:t>
            </a:r>
            <a:endParaRPr i="0" sz="4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226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Pandas Only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3245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you can use SQL to query data from an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existing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DataFrame object.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352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4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pandasql</a:t>
            </a:r>
            <a:endParaRPr i="0" sz="4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274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No Database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293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you can use SQL to query data from a SQL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database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that results in a Pandas DataFrame.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6400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4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read_sql()</a:t>
            </a:r>
            <a:endParaRPr i="0" sz="4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322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Database to DataFrame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