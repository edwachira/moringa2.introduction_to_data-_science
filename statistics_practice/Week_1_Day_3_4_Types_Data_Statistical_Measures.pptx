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7899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Week 1 Day 3–4</a:t>
            </a:r>
          </a:p>
          <a:p>
            <a:pPr>
              <a:defRPr sz="2800"/>
            </a:pPr>
            <a:r>
              <a:t>Types of Data, Data Collection &amp; Statistical Measures in Python</a:t>
            </a:r>
          </a:p>
          <a:p>
            <a:pPr>
              <a:defRPr sz="1800"/>
            </a:pPr>
            <a:r>
              <a:t>Beginner-friendly notes • Python code • Practice exercises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Identify common types of data and Python data types.</a:t>
            </a:r>
          </a:p>
          <a:p>
            <a:pPr>
              <a:spcAft>
                <a:spcPts val="1200"/>
              </a:spcAft>
              <a:defRPr sz="2000"/>
            </a:pPr>
            <a:r>
              <a:t>Distinguish qualitative vs quantitative, discrete vs continuous data.</a:t>
            </a:r>
          </a:p>
          <a:p>
            <a:pPr>
              <a:spcAft>
                <a:spcPts val="1200"/>
              </a:spcAft>
              <a:defRPr sz="2000"/>
            </a:pPr>
            <a:r>
              <a:t>Work with text, CSV and JSON data in Python.</a:t>
            </a:r>
          </a:p>
          <a:p>
            <a:pPr>
              <a:spcAft>
                <a:spcPts val="1200"/>
              </a:spcAft>
              <a:defRPr sz="2000"/>
            </a:pPr>
            <a:r>
              <a:t>Explain primary/secondary data and basic sampling techniques.</a:t>
            </a:r>
          </a:p>
          <a:p>
            <a:pPr>
              <a:spcAft>
                <a:spcPts val="1200"/>
              </a:spcAft>
              <a:defRPr sz="2000"/>
            </a:pPr>
            <a:r>
              <a:t>Calculate and interpret mean, median, mode and measures of dispersion.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What Is Data?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Data is a collection of facts, observations, measurements or information.</a:t>
            </a:r>
          </a:p>
          <a:p>
            <a:pPr>
              <a:spcAft>
                <a:spcPts val="1200"/>
              </a:spcAft>
              <a:defRPr sz="2000"/>
            </a:pPr>
            <a:r>
              <a:t>Examples: names, ages, scores, salaries, counties and temperatures.</a:t>
            </a:r>
          </a:p>
          <a:p>
            <a:pPr>
              <a:spcAft>
                <a:spcPts val="1200"/>
              </a:spcAft>
              <a:defRPr sz="2000"/>
            </a:pPr>
            <a:r>
              <a:t>Data can be collected, cleaned, analyzed and visualized to support decisions.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Types of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Qualitative: describes qualities or categories — e.g., county, color, department.</a:t>
            </a:r>
          </a:p>
          <a:p>
            <a:pPr>
              <a:spcAft>
                <a:spcPts val="1200"/>
              </a:spcAft>
              <a:defRPr sz="2000"/>
            </a:pPr>
            <a:r>
              <a:t>Quantitative: represents numerical quantities — e.g., age, salary, score.</a:t>
            </a:r>
          </a:p>
          <a:p>
            <a:pPr>
              <a:spcAft>
                <a:spcPts val="1200"/>
              </a:spcAft>
              <a:defRPr sz="2000"/>
            </a:pPr>
            <a:r>
              <a:t>Quantitative data can be discrete or continuous.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Discrete vs Continuous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Discrete data: countable values, usually whole numbers.</a:t>
            </a:r>
          </a:p>
          <a:p>
            <a:pPr>
              <a:spcAft>
                <a:spcPts val="1200"/>
              </a:spcAft>
              <a:defRPr sz="2000"/>
            </a:pPr>
            <a:r>
              <a:t>Examples: number of students, cars or children.</a:t>
            </a:r>
          </a:p>
          <a:p>
            <a:pPr>
              <a:spcAft>
                <a:spcPts val="1200"/>
              </a:spcAft>
              <a:defRPr sz="2000"/>
            </a:pPr>
            <a:r>
              <a:t>Continuous data: measurable values within a range.</a:t>
            </a:r>
          </a:p>
          <a:p>
            <a:pPr>
              <a:spcAft>
                <a:spcPts val="1200"/>
              </a:spcAft>
              <a:defRPr sz="2000"/>
            </a:pPr>
            <a:r>
              <a:t>Examples: height, weight, temperature and time.</a:t>
            </a:r>
          </a:p>
          <a:p>
            <a:pPr>
              <a:spcAft>
                <a:spcPts val="1200"/>
              </a:spcAft>
              <a:defRPr sz="2000"/>
            </a:pPr>
            <a:r>
              <a:t>Remember: Discrete → COUNT; Continuous → MEASURE.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Python Data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int → whole numbers: 25</a:t>
            </a:r>
          </a:p>
          <a:p>
            <a:pPr>
              <a:spcAft>
                <a:spcPts val="1200"/>
              </a:spcAft>
              <a:defRPr sz="2000"/>
            </a:pPr>
            <a:r>
              <a:t>float → decimal numbers: 1.75</a:t>
            </a:r>
          </a:p>
          <a:p>
            <a:pPr>
              <a:spcAft>
                <a:spcPts val="1200"/>
              </a:spcAft>
              <a:defRPr sz="2000"/>
            </a:pPr>
            <a:r>
              <a:t>str → text: 'Nairobi'</a:t>
            </a:r>
          </a:p>
          <a:p>
            <a:pPr>
              <a:spcAft>
                <a:spcPts val="1200"/>
              </a:spcAft>
              <a:defRPr sz="2000"/>
            </a:pPr>
            <a:r>
              <a:t>bool → True or False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0" y="114300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500">
                <a:latin typeface="Courier New"/>
              </a:defRPr>
            </a:pPr>
            <a:r>
              <a:t>age = 25</a:t>
            </a:r>
            <a:br/>
            <a:r>
              <a:t>height = 1.75</a:t>
            </a:r>
            <a:br/>
            <a:r>
              <a:t>county = "Nairobi"</a:t>
            </a:r>
            <a:br/>
            <a:r>
              <a:t>is_student = True</a:t>
            </a:r>
            <a:br/>
            <a:br/>
            <a:r>
              <a:t>print(type(age))</a:t>
            </a:r>
            <a:br/>
            <a:r>
              <a:t>print(type(height))</a:t>
            </a:r>
            <a:br/>
            <a:r>
              <a:t>print(type(county))</a:t>
            </a:r>
            <a:br/>
            <a:r>
              <a:t>print(type(is_student))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Structured vs Unstructured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Structured data follows a predictable organization such as rows and columns.</a:t>
            </a:r>
          </a:p>
          <a:p>
            <a:pPr>
              <a:spcAft>
                <a:spcPts val="1200"/>
              </a:spcAft>
              <a:defRPr sz="2000"/>
            </a:pPr>
            <a:r>
              <a:t>Examples: spreadsheets, CSV files and database tables.</a:t>
            </a:r>
          </a:p>
          <a:p>
            <a:pPr>
              <a:spcAft>
                <a:spcPts val="1200"/>
              </a:spcAft>
              <a:defRPr sz="2000"/>
            </a:pPr>
            <a:r>
              <a:t>Unstructured data does not naturally follow a fixed table structure.</a:t>
            </a:r>
          </a:p>
          <a:p>
            <a:pPr>
              <a:spcAft>
                <a:spcPts val="1200"/>
              </a:spcAft>
              <a:defRPr sz="2000"/>
            </a:pPr>
            <a:r>
              <a:t>Examples: images, videos, audio, emails and free-form text.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Strings in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Strings store text and are written inside quotes.</a:t>
            </a:r>
          </a:p>
          <a:p>
            <a:pPr>
              <a:spcAft>
                <a:spcPts val="1200"/>
              </a:spcAft>
              <a:defRPr sz="2000"/>
            </a:pPr>
            <a:r>
              <a:t>Common operations: lower(), upper(), strip(), replace(), len().</a:t>
            </a:r>
          </a:p>
          <a:p>
            <a:pPr>
              <a:spcAft>
                <a:spcPts val="1200"/>
              </a:spcAft>
              <a:defRPr sz="2000"/>
            </a:pPr>
            <a:r>
              <a:t>Indexing starts at 0; negative indexes count from the end.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0" y="114300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500">
                <a:latin typeface="Courier New"/>
              </a:defRPr>
            </a:pPr>
            <a:r>
              <a:t>text = "  Python Data Science  "</a:t>
            </a:r>
            <a:br/>
            <a:br/>
            <a:r>
              <a:t>print(text.strip())</a:t>
            </a:r>
            <a:br/>
            <a:r>
              <a:t>print(text.upper())</a:t>
            </a:r>
            <a:br/>
            <a:r>
              <a:t>print(text.lower())</a:t>
            </a:r>
            <a:br/>
            <a:r>
              <a:t>print(len(text))</a:t>
            </a:r>
            <a:br/>
            <a:r>
              <a:t>print(text.replace("Python", "SQL"))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CSV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CSV means Comma-Separated Values.</a:t>
            </a:r>
          </a:p>
          <a:p>
            <a:pPr>
              <a:spcAft>
                <a:spcPts val="1200"/>
              </a:spcAft>
              <a:defRPr sz="2000"/>
            </a:pPr>
            <a:r>
              <a:t>It stores tabular data as rows and columns.</a:t>
            </a:r>
          </a:p>
          <a:p>
            <a:pPr>
              <a:spcAft>
                <a:spcPts val="1200"/>
              </a:spcAft>
              <a:defRPr sz="2000"/>
            </a:pPr>
            <a:r>
              <a:t>The first row commonly contains column names.</a:t>
            </a:r>
          </a:p>
          <a:p>
            <a:pPr>
              <a:spcAft>
                <a:spcPts val="1200"/>
              </a:spcAft>
              <a:defRPr sz="2000"/>
            </a:pPr>
            <a:r>
              <a:t>CSV is simple, lightweight and widely used in Data Science.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0" y="114300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500">
                <a:latin typeface="Courier New"/>
              </a:defRPr>
            </a:pPr>
            <a:r>
              <a:t>import pandas as pd</a:t>
            </a:r>
            <a:br/>
            <a:br/>
            <a:r>
              <a:t>df = pd.read_csv("students.csv")</a:t>
            </a:r>
            <a:br/>
            <a:br/>
            <a:r>
              <a:t>print(df.head())</a:t>
            </a:r>
            <a:br/>
            <a:r>
              <a:t>print(df.shape)</a:t>
            </a:r>
            <a:br/>
            <a:r>
              <a:t>print(df.columns)</a:t>
            </a:r>
            <a:br/>
            <a:r>
              <a:t>print(df.dtypes)</a:t>
            </a:r>
            <a:br/>
            <a:r>
              <a:t>print(df.describe())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JSON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JSON means JavaScript Object Notation.</a:t>
            </a:r>
          </a:p>
          <a:p>
            <a:pPr>
              <a:spcAft>
                <a:spcPts val="1200"/>
              </a:spcAft>
              <a:defRPr sz="2000"/>
            </a:pPr>
            <a:r>
              <a:t>It is commonly used for APIs and exchanging data.</a:t>
            </a:r>
          </a:p>
          <a:p>
            <a:pPr>
              <a:spcAft>
                <a:spcPts val="1200"/>
              </a:spcAft>
              <a:defRPr sz="2000"/>
            </a:pPr>
            <a:r>
              <a:t>JSON objects use key-value pairs.</a:t>
            </a:r>
          </a:p>
          <a:p>
            <a:pPr>
              <a:spcAft>
                <a:spcPts val="1200"/>
              </a:spcAft>
              <a:defRPr sz="2000"/>
            </a:pPr>
            <a:r>
              <a:t>Python dictionaries look very similar to JSON objects.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0" y="114300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500">
                <a:latin typeface="Courier New"/>
              </a:defRPr>
            </a:pPr>
            <a:r>
              <a:t>student = {</a:t>
            </a:r>
            <a:br/>
            <a:r>
              <a:t>    "name": "John",</a:t>
            </a:r>
            <a:br/>
            <a:r>
              <a:t>    "age": 25,</a:t>
            </a:r>
            <a:br/>
            <a:r>
              <a:t>    "county": "Nairobi"</a:t>
            </a:r>
            <a:br/>
            <a:r>
              <a:t>}</a:t>
            </a:r>
            <a:br/>
            <a:br/>
            <a:r>
              <a:t>print(student["name"])</a:t>
            </a:r>
            <a:br/>
            <a:r>
              <a:t>print(student["age"])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Data Collection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Data collection is the process of gathering information for analysis.</a:t>
            </a:r>
          </a:p>
          <a:p>
            <a:pPr>
              <a:spcAft>
                <a:spcPts val="1200"/>
              </a:spcAft>
              <a:defRPr sz="2000"/>
            </a:pPr>
            <a:r>
              <a:t>Common methods: surveys, interviews, observations, experiments and questionnaires.</a:t>
            </a:r>
          </a:p>
          <a:p>
            <a:pPr>
              <a:spcAft>
                <a:spcPts val="1200"/>
              </a:spcAft>
              <a:defRPr sz="2000"/>
            </a:pPr>
            <a:r>
              <a:t>Data may also come from databases, APIs, websites and sensors.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Primary vs Secondary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Primary data: collected directly by the researcher.</a:t>
            </a:r>
          </a:p>
          <a:p>
            <a:pPr>
              <a:spcAft>
                <a:spcPts val="1200"/>
              </a:spcAft>
              <a:defRPr sz="2000"/>
            </a:pPr>
            <a:r>
              <a:t>Examples: conducting a survey, interview or experiment.</a:t>
            </a:r>
          </a:p>
          <a:p>
            <a:pPr>
              <a:spcAft>
                <a:spcPts val="1200"/>
              </a:spcAft>
              <a:defRPr sz="2000"/>
            </a:pPr>
            <a:r>
              <a:t>Secondary data: already collected by someone else.</a:t>
            </a:r>
          </a:p>
          <a:p>
            <a:pPr>
              <a:spcAft>
                <a:spcPts val="1200"/>
              </a:spcAft>
              <a:defRPr sz="2000"/>
            </a:pPr>
            <a:r>
              <a:t>Examples: government datasets, published research and public datasets.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Population &amp; Sample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Population: the entire group we are interested in studying.</a:t>
            </a:r>
          </a:p>
          <a:p>
            <a:pPr>
              <a:spcAft>
                <a:spcPts val="1200"/>
              </a:spcAft>
              <a:defRPr sz="2000"/>
            </a:pPr>
            <a:r>
              <a:t>Sample: a smaller group selected from the population.</a:t>
            </a:r>
          </a:p>
          <a:p>
            <a:pPr>
              <a:spcAft>
                <a:spcPts val="1200"/>
              </a:spcAft>
              <a:defRPr sz="2000"/>
            </a:pPr>
            <a:r>
              <a:t>Example: 10,000 students = population; 500 selected students = sample.</a:t>
            </a:r>
          </a:p>
          <a:p>
            <a:pPr>
              <a:spcAft>
                <a:spcPts val="1200"/>
              </a:spcAft>
              <a:defRPr sz="2000"/>
            </a:pPr>
            <a:r>
              <a:t>Sampling can save time, cost and effort.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12. Sampling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Simple Random: every member has an equal chance of selection.</a:t>
            </a:r>
          </a:p>
          <a:p>
            <a:pPr>
              <a:spcAft>
                <a:spcPts val="1200"/>
              </a:spcAft>
              <a:defRPr sz="2000"/>
            </a:pPr>
            <a:r>
              <a:t>Systematic: select every nth member.</a:t>
            </a:r>
          </a:p>
          <a:p>
            <a:pPr>
              <a:spcAft>
                <a:spcPts val="1200"/>
              </a:spcAft>
              <a:defRPr sz="2000"/>
            </a:pPr>
            <a:r>
              <a:t>Stratified: divide into groups and sample from each group.</a:t>
            </a:r>
          </a:p>
          <a:p>
            <a:pPr>
              <a:spcAft>
                <a:spcPts val="1200"/>
              </a:spcAft>
              <a:defRPr sz="2000"/>
            </a:pPr>
            <a:r>
              <a:t>Cluster: divide into clusters and select whole clusters.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0" y="114300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500">
                <a:latin typeface="Courier New"/>
              </a:defRPr>
            </a:pPr>
            <a:r>
              <a:t>import random</a:t>
            </a:r>
            <a:br/>
            <a:br/>
            <a:r>
              <a:t>students = ["John", "Mary", "Peter",</a:t>
            </a:r>
            <a:br/>
            <a:r>
              <a:t>            "Jane", "David", "Anne"]</a:t>
            </a:r>
            <a:br/>
            <a:br/>
            <a:r>
              <a:t>sample = random.sample(students, 3)</a:t>
            </a:r>
            <a:br/>
            <a:r>
              <a:t>print(sample)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Day 3 — Coding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1. Create variables for your name, age, height, county and student status. Print their types.</a:t>
            </a:r>
          </a:p>
          <a:p>
            <a:pPr>
              <a:spcAft>
                <a:spcPts val="1200"/>
              </a:spcAft>
              <a:defRPr sz="2000"/>
            </a:pPr>
            <a:r>
              <a:t>2. Create a list of five students. Print the first, last and number of students.</a:t>
            </a:r>
          </a:p>
          <a:p>
            <a:pPr>
              <a:spcAft>
                <a:spcPts val="1200"/>
              </a:spcAft>
              <a:defRPr sz="2000"/>
            </a:pPr>
            <a:r>
              <a:t>3. Create a dictionary with name, age, county, course and score.</a:t>
            </a:r>
          </a:p>
          <a:p>
            <a:pPr>
              <a:spcAft>
                <a:spcPts val="1200"/>
              </a:spcAft>
              <a:defRPr sz="2000"/>
            </a:pPr>
            <a:r>
              <a:t>4. Create a CSV with at least 10 students and load it with pandas.</a:t>
            </a:r>
          </a:p>
          <a:p>
            <a:pPr>
              <a:spcAft>
                <a:spcPts val="1200"/>
              </a:spcAft>
              <a:defRPr sz="2000"/>
            </a:pPr>
            <a:r>
              <a:t>5. Randomly select 5 students from a list of 20.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Day 4: Statistical Measures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Statistics helps us collect, organize, analyze and interpret data.</a:t>
            </a:r>
          </a:p>
          <a:p>
            <a:pPr>
              <a:spcAft>
                <a:spcPts val="1200"/>
              </a:spcAft>
              <a:defRPr sz="2000"/>
            </a:pPr>
            <a:r>
              <a:t>Central tendency describes the center or typical value.</a:t>
            </a:r>
          </a:p>
          <a:p>
            <a:pPr>
              <a:spcAft>
                <a:spcPts val="1200"/>
              </a:spcAft>
              <a:defRPr sz="2000"/>
            </a:pPr>
            <a:r>
              <a:t>Dispersion describes how spread out the observations are.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13. Mean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Mean is the arithmetic average.</a:t>
            </a:r>
          </a:p>
          <a:p>
            <a:pPr>
              <a:spcAft>
                <a:spcPts val="1200"/>
              </a:spcAft>
              <a:defRPr sz="2000"/>
            </a:pPr>
            <a:r>
              <a:t>Formula: Mean = Sum of values ÷ Number of values.</a:t>
            </a:r>
          </a:p>
          <a:p>
            <a:pPr>
              <a:spcAft>
                <a:spcPts val="1200"/>
              </a:spcAft>
              <a:defRPr sz="2000"/>
            </a:pPr>
            <a:r>
              <a:t>Mean can be strongly affected by extreme values (outliers).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0" y="114300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500">
                <a:latin typeface="Courier New"/>
              </a:defRPr>
            </a:pPr>
            <a:r>
              <a:t>scores = [10, 20, 30]</a:t>
            </a:r>
            <a:br/>
            <a:br/>
            <a:r>
              <a:t>mean = sum(scores) / len(scores)</a:t>
            </a:r>
            <a:br/>
            <a:r>
              <a:t>print(mean)</a:t>
            </a:r>
            <a:br/>
            <a:br/>
            <a:r>
              <a:t># NumPy</a:t>
            </a:r>
            <a:br/>
            <a:r>
              <a:t>import numpy as np</a:t>
            </a:r>
            <a:br/>
            <a:r>
              <a:t>print(np.mean(scores))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14. Median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Median is the middle value after data is ordered.</a:t>
            </a:r>
          </a:p>
          <a:p>
            <a:pPr>
              <a:spcAft>
                <a:spcPts val="1200"/>
              </a:spcAft>
              <a:defRPr sz="2000"/>
            </a:pPr>
            <a:r>
              <a:t>With an even number of observations, average the two middle values.</a:t>
            </a:r>
          </a:p>
          <a:p>
            <a:pPr>
              <a:spcAft>
                <a:spcPts val="1200"/>
              </a:spcAft>
              <a:defRPr sz="2000"/>
            </a:pPr>
            <a:r>
              <a:t>Median is less affected by extreme values than the mean.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0" y="114300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500">
                <a:latin typeface="Courier New"/>
              </a:defRPr>
            </a:pPr>
            <a:r>
              <a:t>import numpy as np</a:t>
            </a:r>
            <a:br/>
            <a:br/>
            <a:r>
              <a:t>scores = [10, 20, 30, 40]</a:t>
            </a:r>
            <a:br/>
            <a:br/>
            <a:r>
              <a:t>print(np.median(scores))</a:t>
            </a:r>
            <a:br/>
            <a:r>
              <a:t># 25.0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15.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Mode is the most frequently occurring value.</a:t>
            </a:r>
          </a:p>
          <a:p>
            <a:pPr>
              <a:spcAft>
                <a:spcPts val="1200"/>
              </a:spcAft>
              <a:defRPr sz="2000"/>
            </a:pPr>
            <a:r>
              <a:t>A dataset can have one mode, multiple modes or no unique mode.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0" y="114300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500">
                <a:latin typeface="Courier New"/>
              </a:defRPr>
            </a:pPr>
            <a:r>
              <a:t>from statistics import mode</a:t>
            </a:r>
            <a:br/>
            <a:br/>
            <a:r>
              <a:t>scores = [10, 20, 20, 30, 40]</a:t>
            </a:r>
            <a:br/>
            <a:br/>
            <a:r>
              <a:t>print(mode(scores))</a:t>
            </a:r>
            <a:br/>
            <a:r>
              <a:t>#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16. Mean vs Median: Outliers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An outlier is an unusually high or low observation.</a:t>
            </a:r>
          </a:p>
          <a:p>
            <a:pPr>
              <a:spcAft>
                <a:spcPts val="1200"/>
              </a:spcAft>
              <a:defRPr sz="2000"/>
            </a:pPr>
            <a:r>
              <a:t>Example: salaries = 30k, 35k, 40k, 45k, 1,000k.</a:t>
            </a:r>
          </a:p>
          <a:p>
            <a:pPr>
              <a:spcAft>
                <a:spcPts val="1200"/>
              </a:spcAft>
              <a:defRPr sz="2000"/>
            </a:pPr>
            <a:r>
              <a:t>The very large salary pulls the mean upward.</a:t>
            </a:r>
          </a:p>
          <a:p>
            <a:pPr>
              <a:spcAft>
                <a:spcPts val="1200"/>
              </a:spcAft>
              <a:defRPr sz="2000"/>
            </a:pPr>
            <a:r>
              <a:t>The median may better represent the typical observation.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0" y="114300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500">
                <a:latin typeface="Courier New"/>
              </a:defRPr>
            </a:pPr>
            <a:r>
              <a:t>salaries = [30000, 35000,</a:t>
            </a:r>
            <a:br/>
            <a:r>
              <a:t>            40000, 45000, 1000000]</a:t>
            </a:r>
            <a:br/>
            <a:br/>
            <a:r>
              <a:t>print(np.mean(salaries))</a:t>
            </a:r>
            <a:br/>
            <a:r>
              <a:t>print(np.median(salaries))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17. Measures of Dispersion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Range = Maximum − Minimum.</a:t>
            </a:r>
          </a:p>
          <a:p>
            <a:pPr>
              <a:spcAft>
                <a:spcPts val="1200"/>
              </a:spcAft>
              <a:defRPr sz="2000"/>
            </a:pPr>
            <a:r>
              <a:t>Variance measures spread around the mean.</a:t>
            </a:r>
          </a:p>
          <a:p>
            <a:pPr>
              <a:spcAft>
                <a:spcPts val="1200"/>
              </a:spcAft>
              <a:defRPr sz="2000"/>
            </a:pPr>
            <a:r>
              <a:t>Standard deviation describes typical spread around the mean.</a:t>
            </a:r>
          </a:p>
          <a:p>
            <a:pPr>
              <a:spcAft>
                <a:spcPts val="1200"/>
              </a:spcAft>
              <a:defRPr sz="2000"/>
            </a:pPr>
            <a:r>
              <a:t>IQR = Q3 − Q1 and represents the spread of the middle 50%.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18. Range, Variance &amp; Standard Deviation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Range is simple and uses only the minimum and maximum.</a:t>
            </a:r>
          </a:p>
          <a:p>
            <a:pPr>
              <a:spcAft>
                <a:spcPts val="1200"/>
              </a:spcAft>
              <a:defRPr sz="2000"/>
            </a:pPr>
            <a:r>
              <a:t>Variance is expressed in squared units.</a:t>
            </a:r>
          </a:p>
          <a:p>
            <a:pPr>
              <a:spcAft>
                <a:spcPts val="1200"/>
              </a:spcAft>
              <a:defRPr sz="2000"/>
            </a:pPr>
            <a:r>
              <a:t>Standard deviation is in the same units as the original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0" y="114300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500">
                <a:latin typeface="Courier New"/>
              </a:defRPr>
            </a:pPr>
            <a:r>
              <a:t>data = [10, 20, 30, 40, 50]</a:t>
            </a:r>
            <a:br/>
            <a:br/>
            <a:r>
              <a:t>print("Range:", max(data) - min(data))</a:t>
            </a:r>
            <a:br/>
            <a:r>
              <a:t>print("Variance:", np.var(data))</a:t>
            </a:r>
            <a:br/>
            <a:r>
              <a:t>print("Std:", np.std(data))</a:t>
            </a:r>
            <a:br/>
            <a:br/>
            <a:r>
              <a:t># Sample std:</a:t>
            </a:r>
            <a:br/>
            <a:r>
              <a:t>print(np.std(data, ddof=1))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19. Interquartile Range (IQR)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Q1 is the 25th percentile.</a:t>
            </a:r>
          </a:p>
          <a:p>
            <a:pPr>
              <a:spcAft>
                <a:spcPts val="1200"/>
              </a:spcAft>
              <a:defRPr sz="2000"/>
            </a:pPr>
            <a:r>
              <a:t>Q3 is the 75th percentile.</a:t>
            </a:r>
          </a:p>
          <a:p>
            <a:pPr>
              <a:spcAft>
                <a:spcPts val="1200"/>
              </a:spcAft>
              <a:defRPr sz="2000"/>
            </a:pPr>
            <a:r>
              <a:t>IQR = Q3 − Q1.</a:t>
            </a:r>
          </a:p>
          <a:p>
            <a:pPr>
              <a:spcAft>
                <a:spcPts val="1200"/>
              </a:spcAft>
              <a:defRPr sz="2000"/>
            </a:pPr>
            <a:r>
              <a:t>IQR focuses on the middle 50% and is less sensitive to extreme values.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0" y="114300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500">
                <a:latin typeface="Courier New"/>
              </a:defRPr>
            </a:pPr>
            <a:r>
              <a:t>data = [10, 20, 30, 40,</a:t>
            </a:r>
            <a:br/>
            <a:r>
              <a:t>        50, 60, 70]</a:t>
            </a:r>
            <a:br/>
            <a:br/>
            <a:r>
              <a:t>q1 = np.percentile(data, 25)</a:t>
            </a:r>
            <a:br/>
            <a:r>
              <a:t>q3 = np.percentile(data, 75)</a:t>
            </a:r>
            <a:br/>
            <a:r>
              <a:t>iqr = q3 - q1</a:t>
            </a:r>
            <a:br/>
            <a:br/>
            <a:r>
              <a:t>print(q1, q3, iqr)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20. Statistics with Pandas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Pandas provides convenient methods for statistical summaries.</a:t>
            </a:r>
          </a:p>
          <a:p>
            <a:pPr>
              <a:spcAft>
                <a:spcPts val="1200"/>
              </a:spcAft>
              <a:defRPr sz="2000"/>
            </a:pPr>
            <a:r>
              <a:t>Use mean(), median(), mode(), min(), max(), std() and var().</a:t>
            </a:r>
          </a:p>
          <a:p>
            <a:pPr>
              <a:spcAft>
                <a:spcPts val="1200"/>
              </a:spcAft>
              <a:defRPr sz="2000"/>
            </a:pPr>
            <a:r>
              <a:t>Use describe() for a quick overview.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0" y="114300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500">
                <a:latin typeface="Courier New"/>
              </a:defRPr>
            </a:pPr>
            <a:r>
              <a:t>df["score"].mean()</a:t>
            </a:r>
            <a:br/>
            <a:r>
              <a:t>df["score"].median()</a:t>
            </a:r>
            <a:br/>
            <a:r>
              <a:t>df["score"].mode()</a:t>
            </a:r>
            <a:br/>
            <a:r>
              <a:t>df["score"].min()</a:t>
            </a:r>
            <a:br/>
            <a:r>
              <a:t>df["score"].max()</a:t>
            </a:r>
            <a:br/>
            <a:r>
              <a:t>df["score"].std()</a:t>
            </a:r>
            <a:br/>
            <a:r>
              <a:t>df["score"].var()</a:t>
            </a:r>
            <a:br/>
            <a:br/>
            <a:r>
              <a:t>df.describe()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21. Practice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Use the following scores for the exercises:</a:t>
            </a:r>
          </a:p>
          <a:p>
            <a:pPr>
              <a:spcAft>
                <a:spcPts val="1200"/>
              </a:spcAft>
              <a:defRPr sz="2000"/>
            </a:pPr>
            <a:r>
              <a:t>55, 60, 62, 65, 68, 70, 70, 72, 75, 78, 80, 82, 85, 90, 95</a:t>
            </a:r>
          </a:p>
          <a:p>
            <a:pPr>
              <a:spcAft>
                <a:spcPts val="1200"/>
              </a:spcAft>
              <a:defRPr sz="2000"/>
            </a:pPr>
            <a:r>
              <a:t>Calculate: mean, median, mode, minimum, maximum, range, variance and standard deviation.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22. Mini Data Science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Create a dataset containing at least 15 student exam scores.</a:t>
            </a:r>
          </a:p>
          <a:p>
            <a:pPr>
              <a:spcAft>
                <a:spcPts val="1200"/>
              </a:spcAft>
              <a:defRPr sz="2000"/>
            </a:pPr>
            <a:r>
              <a:t>Calculate: count, mean, median, mode, minimum, maximum, range, variance, standard deviation, Q1, Q3 and IQR.</a:t>
            </a:r>
          </a:p>
          <a:p>
            <a:pPr>
              <a:spcAft>
                <a:spcPts val="1200"/>
              </a:spcAft>
              <a:defRPr sz="2000"/>
            </a:pPr>
            <a:r>
              <a:t>Then write 3–5 sentences interpreting the results.</a:t>
            </a:r>
          </a:p>
          <a:p>
            <a:pPr>
              <a:spcAft>
                <a:spcPts val="1200"/>
              </a:spcAft>
              <a:defRPr sz="2000"/>
            </a:pPr>
            <a:r>
              <a:t>Focus on what the statistics tell you — not just producing numbers.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23. Exit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1. What is the difference between qualitative and quantitative data?</a:t>
            </a:r>
          </a:p>
          <a:p>
            <a:pPr>
              <a:spcAft>
                <a:spcPts val="1200"/>
              </a:spcAft>
              <a:defRPr sz="2000"/>
            </a:pPr>
            <a:r>
              <a:t>2. What is the difference between discrete and continuous data?</a:t>
            </a:r>
          </a:p>
          <a:p>
            <a:pPr>
              <a:spcAft>
                <a:spcPts val="1200"/>
              </a:spcAft>
              <a:defRPr sz="2000"/>
            </a:pPr>
            <a:r>
              <a:t>3. When might the median be better than the mean?</a:t>
            </a:r>
          </a:p>
          <a:p>
            <a:pPr>
              <a:spcAft>
                <a:spcPts val="1200"/>
              </a:spcAft>
              <a:defRPr sz="2000"/>
            </a:pPr>
            <a:r>
              <a:t>4. What does standard deviation tell us?</a:t>
            </a:r>
          </a:p>
          <a:p>
            <a:pPr>
              <a:spcAft>
                <a:spcPts val="1200"/>
              </a:spcAft>
              <a:defRPr sz="2000"/>
            </a:pPr>
            <a:r>
              <a:t>5. What is the difference between a population and a sample?</a:t>
            </a:r>
          </a:p>
          <a:p>
            <a:pPr>
              <a:spcAft>
                <a:spcPts val="1200"/>
              </a:spcAft>
              <a:defRPr sz="2000"/>
            </a:pPr>
            <a:r>
              <a:t>6. Why is sampling useful?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Data can be classified in different ways depending on its characteristics.</a:t>
            </a:r>
          </a:p>
          <a:p>
            <a:pPr>
              <a:spcAft>
                <a:spcPts val="1200"/>
              </a:spcAft>
              <a:defRPr sz="2000"/>
            </a:pPr>
            <a:r>
              <a:t>Python provides built-in types such as int, float, str and bool.</a:t>
            </a:r>
          </a:p>
          <a:p>
            <a:pPr>
              <a:spcAft>
                <a:spcPts val="1200"/>
              </a:spcAft>
              <a:defRPr sz="2000"/>
            </a:pPr>
            <a:r>
              <a:t>CSV and JSON are common formats for storing and exchanging data.</a:t>
            </a:r>
          </a:p>
          <a:p>
            <a:pPr>
              <a:spcAft>
                <a:spcPts val="1200"/>
              </a:spcAft>
              <a:defRPr sz="2000"/>
            </a:pPr>
            <a:r>
              <a:t>Data collection and sampling determine what information is available for analysis.</a:t>
            </a:r>
          </a:p>
          <a:p>
            <a:pPr>
              <a:spcAft>
                <a:spcPts val="1200"/>
              </a:spcAft>
              <a:defRPr sz="2000"/>
            </a:pPr>
            <a:r>
              <a:t>Mean, median and mode describe central tendency.</a:t>
            </a:r>
          </a:p>
          <a:p>
            <a:pPr>
              <a:spcAft>
                <a:spcPts val="1200"/>
              </a:spcAft>
              <a:defRPr sz="2000"/>
            </a:pPr>
            <a:r>
              <a:t>Range, variance, standard deviation and IQR describe dispersion.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