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Fira Sans Medium"/>
      <p:regular r:id="rId13"/>
      <p:bold r:id="rId14"/>
      <p:italic r:id="rId15"/>
      <p:boldItalic r:id="rId16"/>
    </p:embeddedFont>
    <p:embeddedFont>
      <p:font typeface="Fira Sans ExtraBold"/>
      <p:bold r:id="rId17"/>
      <p:boldItalic r:id="rId18"/>
    </p:embeddedFont>
    <p:embeddedFont>
      <p:font typeface="Fira Sans SemiBold"/>
      <p:regular r:id="rId19"/>
      <p:bold r:id="rId20"/>
      <p:italic r:id="rId21"/>
      <p:boldItalic r:id="rId22"/>
    </p:embeddedFont>
    <p:embeddedFont>
      <p:font typeface="Fira Sans"/>
      <p:regular r:id="rId23"/>
      <p:bold r:id="rId24"/>
      <p:italic r:id="rId25"/>
      <p:boldItalic r:id="rId26"/>
    </p:embeddedFont>
    <p:embeddedFont>
      <p:font typeface="Open Sans Medium"/>
      <p:regular r:id="rId27"/>
      <p:bold r:id="rId28"/>
      <p:italic r:id="rId29"/>
      <p:boldItalic r:id="rId30"/>
    </p:embeddedFont>
    <p:embeddedFont>
      <p:font typeface="DM Serif Display"/>
      <p:regular r:id="rId31"/>
      <p:italic r:id="rId32"/>
    </p:embeddedFont>
    <p:embeddedFont>
      <p:font typeface="Karla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font" Target="fonts/FiraSansSemiBold-bold.fntdata"/><Relationship Id="rId22" Type="http://schemas.openxmlformats.org/officeDocument/2006/relationships/font" Target="fonts/FiraSansSemiBold-boldItalic.fntdata"/><Relationship Id="rId21" Type="http://schemas.openxmlformats.org/officeDocument/2006/relationships/font" Target="fonts/FiraSansSemiBold-italic.fntdata"/><Relationship Id="rId24" Type="http://schemas.openxmlformats.org/officeDocument/2006/relationships/font" Target="fonts/FiraSans-bold.fntdata"/><Relationship Id="rId23" Type="http://schemas.openxmlformats.org/officeDocument/2006/relationships/font" Target="fonts/Fir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-boldItalic.fntdata"/><Relationship Id="rId25" Type="http://schemas.openxmlformats.org/officeDocument/2006/relationships/font" Target="fonts/FiraSans-italic.fntdata"/><Relationship Id="rId28" Type="http://schemas.openxmlformats.org/officeDocument/2006/relationships/font" Target="fonts/OpenSansMedium-bold.fntdata"/><Relationship Id="rId27" Type="http://schemas.openxmlformats.org/officeDocument/2006/relationships/font" Target="fonts/OpenSa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erifDisplay-regular.fntdata"/><Relationship Id="rId30" Type="http://schemas.openxmlformats.org/officeDocument/2006/relationships/font" Target="fonts/OpenSa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Karla-regular.fntdata"/><Relationship Id="rId10" Type="http://schemas.openxmlformats.org/officeDocument/2006/relationships/slide" Target="slides/slide5.xml"/><Relationship Id="rId32" Type="http://schemas.openxmlformats.org/officeDocument/2006/relationships/font" Target="fonts/DMSerifDisplay-italic.fntdata"/><Relationship Id="rId13" Type="http://schemas.openxmlformats.org/officeDocument/2006/relationships/font" Target="fonts/FiraSansMedium-regular.fntdata"/><Relationship Id="rId35" Type="http://schemas.openxmlformats.org/officeDocument/2006/relationships/font" Target="fonts/Karla-italic.fntdata"/><Relationship Id="rId12" Type="http://schemas.openxmlformats.org/officeDocument/2006/relationships/slide" Target="slides/slide7.xml"/><Relationship Id="rId34" Type="http://schemas.openxmlformats.org/officeDocument/2006/relationships/font" Target="fonts/Karla-bold.fntdata"/><Relationship Id="rId15" Type="http://schemas.openxmlformats.org/officeDocument/2006/relationships/font" Target="fonts/FiraSansMedium-italic.fntdata"/><Relationship Id="rId37" Type="http://schemas.openxmlformats.org/officeDocument/2006/relationships/font" Target="fonts/OpenSans-regular.fntdata"/><Relationship Id="rId14" Type="http://schemas.openxmlformats.org/officeDocument/2006/relationships/font" Target="fonts/FiraSansMedium-bold.fntdata"/><Relationship Id="rId36" Type="http://schemas.openxmlformats.org/officeDocument/2006/relationships/font" Target="fonts/Karla-boldItalic.fntdata"/><Relationship Id="rId17" Type="http://schemas.openxmlformats.org/officeDocument/2006/relationships/font" Target="fonts/FiraSansExtraBold-bold.fntdata"/><Relationship Id="rId39" Type="http://schemas.openxmlformats.org/officeDocument/2006/relationships/font" Target="fonts/OpenSans-italic.fntdata"/><Relationship Id="rId16" Type="http://schemas.openxmlformats.org/officeDocument/2006/relationships/font" Target="fonts/FiraSansMedium-boldItalic.fntdata"/><Relationship Id="rId38" Type="http://schemas.openxmlformats.org/officeDocument/2006/relationships/font" Target="fonts/OpenSans-bold.fntdata"/><Relationship Id="rId19" Type="http://schemas.openxmlformats.org/officeDocument/2006/relationships/font" Target="fonts/FiraSansSemiBold-regular.fntdata"/><Relationship Id="rId18" Type="http://schemas.openxmlformats.org/officeDocument/2006/relationships/font" Target="fonts/Fir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1e44ee660_0_1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1b1e44ee660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b1e44ee660_0_3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1b1e44ee660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b1e44ee660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b1e44ee660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420cac5d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420cac5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420cac5d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f420cac5d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897900"/>
            <a:ext cx="54570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Database Administration and Design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37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What is it?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 Typing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Design Considerations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Process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082175" y="451994"/>
            <a:ext cx="43782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Usage and Needs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Vitally important to understand both what kind of information the database will store as well as how it will be utilized before creating it.</a:t>
            </a: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Security and Access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Control over who can query the database is an essential part of administration, preventing unwanted access and data leaks.</a:t>
            </a: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Data Engineering and Pipeline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Ingesting new data at large volumes can be made efficient via a processing and storage pipeline to standardize/normalize and quality control data.</a:t>
            </a: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endParaRPr sz="9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Lots of Tools and Products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AWS - Database Migration Service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MIcrosoft - SQL Server Optimization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Oracle - Autonomous Database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6"/>
          <p:cNvSpPr txBox="1"/>
          <p:nvPr>
            <p:ph idx="4294967295" type="ctrTitle"/>
          </p:nvPr>
        </p:nvSpPr>
        <p:spPr>
          <a:xfrm>
            <a:off x="198975" y="547300"/>
            <a:ext cx="28776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2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DBA:</a:t>
            </a:r>
            <a:endParaRPr b="1" sz="32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9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Design, Create, Maintain</a:t>
            </a:r>
            <a:endParaRPr b="1" sz="1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2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2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1293800" y="2375400"/>
            <a:ext cx="2283900" cy="226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3232400" y="-8650"/>
            <a:ext cx="5911500" cy="51522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370700" y="4817918"/>
            <a:ext cx="1205250" cy="1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6274923" y="2227200"/>
            <a:ext cx="2484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43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BLOB</a:t>
            </a:r>
            <a:endParaRPr i="0" sz="4300" u="none" cap="none" strike="noStrike">
              <a:solidFill>
                <a:schemeClr val="lt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403275" y="2865395"/>
            <a:ext cx="22614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Binary Large Object data used generally to hold special binary data representing images or audio files. 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302199" y="630348"/>
            <a:ext cx="2484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43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REAL</a:t>
            </a:r>
            <a:endParaRPr i="0" sz="4300" u="none" cap="none" strike="noStrike">
              <a:solidFill>
                <a:schemeClr val="lt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403275" y="1221752"/>
            <a:ext cx="22614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Any data represented as a decimal number. SQlite can store values up to 15 places long. 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659097" y="630348"/>
            <a:ext cx="2484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43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INTEGER</a:t>
            </a:r>
            <a:endParaRPr i="0" sz="4300" u="none" cap="none" strike="noStrike">
              <a:solidFill>
                <a:schemeClr val="lt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779201" y="1221752"/>
            <a:ext cx="22614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Any data represented as a whole number. Context is important - leading zeros might get lost.</a:t>
            </a:r>
            <a:endParaRPr sz="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659097" y="2227200"/>
            <a:ext cx="226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43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TEXT</a:t>
            </a:r>
            <a:endParaRPr i="0" sz="4300" u="none" cap="none" strike="noStrike">
              <a:solidFill>
                <a:schemeClr val="lt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779200" y="2865395"/>
            <a:ext cx="22614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Any alphanumeric data represented as plain text characters. Other dialects have further limiting functionality.</a:t>
            </a:r>
            <a:endParaRPr sz="1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7"/>
          <p:cNvSpPr txBox="1"/>
          <p:nvPr>
            <p:ph idx="4294967295" type="ctrTitle"/>
          </p:nvPr>
        </p:nvSpPr>
        <p:spPr>
          <a:xfrm>
            <a:off x="503775" y="758575"/>
            <a:ext cx="22872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41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Data Typing</a:t>
            </a:r>
            <a:endParaRPr b="1" sz="41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41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1" sz="41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34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400">
              <a:solidFill>
                <a:srgbClr val="10182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400">
              <a:solidFill>
                <a:srgbClr val="10182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78297" y="4211748"/>
            <a:ext cx="2484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marR="1143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43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NULL</a:t>
            </a:r>
            <a:endParaRPr i="0" sz="4300" u="none" cap="none" strike="noStrike">
              <a:solidFill>
                <a:schemeClr val="lt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50975" y="341500"/>
            <a:ext cx="82839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Database Design Considerations</a:t>
            </a:r>
            <a:endParaRPr b="1" sz="3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1415048" y="2111422"/>
            <a:ext cx="28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What data is being stored and who needs to use it. Involves planning of the schema including identifying table relations via keys.</a:t>
            </a:r>
            <a:endParaRPr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163905" y="1976625"/>
            <a:ext cx="113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rgbClr val="01ADE2"/>
                </a:solidFill>
                <a:latin typeface="Fira Sans"/>
                <a:ea typeface="Fira Sans"/>
                <a:cs typeface="Fira Sans"/>
                <a:sym typeface="Fira Sans"/>
              </a:rPr>
              <a:t>Purpose</a:t>
            </a:r>
            <a:endParaRPr b="1" i="0" sz="1800" u="none" cap="none" strike="noStrike">
              <a:solidFill>
                <a:srgbClr val="01ADE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63899" y="3636550"/>
            <a:ext cx="125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800">
                <a:solidFill>
                  <a:srgbClr val="01ADE2"/>
                </a:solidFill>
                <a:latin typeface="Fira Sans"/>
                <a:ea typeface="Fira Sans"/>
                <a:cs typeface="Fira Sans"/>
                <a:sym typeface="Fira Sans"/>
              </a:rPr>
              <a:t>Constraints</a:t>
            </a:r>
            <a:endParaRPr b="1" i="0" sz="1800" u="none" cap="none" strike="noStrike">
              <a:solidFill>
                <a:srgbClr val="01ADE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1415050" y="3771350"/>
            <a:ext cx="28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Can implement further advance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constraints the “UNIQUE”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enforce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more data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integrity. Creating indices can speed up queries as well.</a:t>
            </a:r>
            <a:endParaRPr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1415048" y="2941386"/>
            <a:ext cx="28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Enforce strict data typing for column values to ensure quality control.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Could c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onsider small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 types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 save on size.</a:t>
            </a:r>
            <a:endParaRPr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163900" y="2806575"/>
            <a:ext cx="122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" sz="1800">
                <a:solidFill>
                  <a:srgbClr val="01ADE2"/>
                </a:solidFill>
                <a:latin typeface="Fira Sans"/>
                <a:ea typeface="Fira Sans"/>
                <a:cs typeface="Fira Sans"/>
                <a:sym typeface="Fira Sans"/>
              </a:rPr>
              <a:t>Data Types</a:t>
            </a:r>
            <a:endParaRPr b="1" i="0" sz="1800" u="none" cap="none" strike="noStrike">
              <a:solidFill>
                <a:srgbClr val="01ADE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163901" y="1355375"/>
            <a:ext cx="1485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The Data</a:t>
            </a:r>
            <a:endParaRPr b="1" i="0" sz="17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819698" y="2111422"/>
            <a:ext cx="28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Ensure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database is designed to accommodate potential/expected growth. Avoid unnecessary table redundancies.</a:t>
            </a:r>
            <a:endParaRPr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877613" y="1976628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800">
                <a:solidFill>
                  <a:srgbClr val="01ADE2"/>
                </a:solidFill>
                <a:latin typeface="Fira Sans"/>
                <a:ea typeface="Fira Sans"/>
                <a:cs typeface="Fira Sans"/>
                <a:sym typeface="Fira Sans"/>
              </a:rPr>
              <a:t>Scale</a:t>
            </a:r>
            <a:endParaRPr b="1" i="0" sz="1800" u="none" cap="none" strike="noStrike">
              <a:solidFill>
                <a:srgbClr val="01ADE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755327" y="3636550"/>
            <a:ext cx="94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800">
                <a:solidFill>
                  <a:srgbClr val="01ADE2"/>
                </a:solidFill>
                <a:latin typeface="Fira Sans"/>
                <a:ea typeface="Fira Sans"/>
                <a:cs typeface="Fira Sans"/>
                <a:sym typeface="Fira Sans"/>
              </a:rPr>
              <a:t>Security</a:t>
            </a:r>
            <a:endParaRPr b="1" i="0" sz="1800" u="none" cap="none" strike="noStrike">
              <a:solidFill>
                <a:srgbClr val="01ADE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5819700" y="3771350"/>
            <a:ext cx="28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Setup up access control for appropriate users. Need to be able to add and remove approved users.</a:t>
            </a:r>
            <a:endParaRPr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819698" y="2941386"/>
            <a:ext cx="28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Could consider partitioning large tables to </a:t>
            </a: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improve query speed. Use appropriate indexing when possible. </a:t>
            </a:r>
            <a:endParaRPr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365913" y="2806575"/>
            <a:ext cx="133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" sz="1800">
                <a:solidFill>
                  <a:srgbClr val="01ADE2"/>
                </a:solidFill>
                <a:latin typeface="Fira Sans"/>
                <a:ea typeface="Fira Sans"/>
                <a:cs typeface="Fira Sans"/>
                <a:sym typeface="Fira Sans"/>
              </a:rPr>
              <a:t>Performance</a:t>
            </a:r>
            <a:endParaRPr b="1" i="0" sz="1800" u="none" cap="none" strike="noStrike">
              <a:solidFill>
                <a:srgbClr val="01ADE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827269" y="1355376"/>
            <a:ext cx="1226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Admin</a:t>
            </a:r>
            <a:endParaRPr b="1" i="0" sz="17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>
            <p:ph type="ctrTitle"/>
          </p:nvPr>
        </p:nvSpPr>
        <p:spPr>
          <a:xfrm>
            <a:off x="4384750" y="3696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Process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4248325" y="1690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Requirements Gathering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Conceptual Design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Logical Design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Physical Design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Database Creation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 Integration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Security</a:t>
            </a: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and Access Control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Performance Tuning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Maintenance and Scalability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6098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3050400" y="907950"/>
            <a:ext cx="30480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2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099" y="189100"/>
            <a:ext cx="852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97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about the importance of understanding the storage goal and expected uses of a database in order to facilitate the creation of the schema.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304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50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Usage</a:t>
            </a:r>
            <a:endParaRPr i="0" sz="50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226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The Goal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245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and stressed the importance of having a secure database preventing unwanted access and only allowing specific users to query - control - update.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3352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50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Security</a:t>
            </a:r>
            <a:endParaRPr i="0" sz="50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3274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Control Access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6293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a bief step by step process to help in developing a good database. The thought you put ahead of building the actual database the better off you will be.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400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50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Process</a:t>
            </a:r>
            <a:endParaRPr i="0" sz="50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322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Plan on Plans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