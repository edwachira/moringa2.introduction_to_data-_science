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Fira Sans Medium"/>
      <p:regular r:id="rId14"/>
      <p:bold r:id="rId15"/>
      <p:italic r:id="rId16"/>
      <p:boldItalic r:id="rId17"/>
    </p:embeddedFont>
    <p:embeddedFont>
      <p:font typeface="Fira Sans ExtraBold"/>
      <p:bold r:id="rId18"/>
      <p:boldItalic r:id="rId19"/>
    </p:embeddedFont>
    <p:embeddedFont>
      <p:font typeface="Fira Sans"/>
      <p:regular r:id="rId20"/>
      <p:bold r:id="rId21"/>
      <p:italic r:id="rId22"/>
      <p:boldItalic r:id="rId23"/>
    </p:embeddedFont>
    <p:embeddedFont>
      <p:font typeface="Open Sans Medium"/>
      <p:regular r:id="rId24"/>
      <p:bold r:id="rId25"/>
      <p:italic r:id="rId26"/>
      <p:boldItalic r:id="rId27"/>
    </p:embeddedFont>
    <p:embeddedFont>
      <p:font typeface="DM Serif Display"/>
      <p:regular r:id="rId28"/>
      <p:italic r:id="rId29"/>
    </p:embeddedFont>
    <p:embeddedFont>
      <p:font typeface="Karla"/>
      <p:regular r:id="rId30"/>
      <p:bold r:id="rId31"/>
      <p:italic r:id="rId32"/>
      <p:boldItalic r:id="rId33"/>
    </p:embeddedFont>
    <p:embeddedFont>
      <p:font typeface="Open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orient="horz" pos="657">
          <p15:clr>
            <a:srgbClr val="9AA0A6"/>
          </p15:clr>
        </p15:guide>
        <p15:guide id="4" pos="4649">
          <p15:clr>
            <a:srgbClr val="9AA0A6"/>
          </p15:clr>
        </p15:guide>
        <p15:guide id="5" pos="3497">
          <p15:clr>
            <a:srgbClr val="9AA0A6"/>
          </p15:clr>
        </p15:guide>
        <p15:guide id="6" pos="2350">
          <p15:clr>
            <a:srgbClr val="9AA0A6"/>
          </p15:clr>
        </p15:guide>
        <p15:guide id="7" pos="201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657" orient="horz"/>
        <p:guide pos="4649"/>
        <p:guide pos="3497"/>
        <p:guide pos="2350"/>
        <p:guide pos="201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FiraSans-regular.fntdata"/><Relationship Id="rId22" Type="http://schemas.openxmlformats.org/officeDocument/2006/relationships/font" Target="fonts/FiraSans-italic.fntdata"/><Relationship Id="rId21" Type="http://schemas.openxmlformats.org/officeDocument/2006/relationships/font" Target="fonts/FiraSans-bold.fntdata"/><Relationship Id="rId24" Type="http://schemas.openxmlformats.org/officeDocument/2006/relationships/font" Target="fonts/OpenSansMedium-regular.fntdata"/><Relationship Id="rId23" Type="http://schemas.openxmlformats.org/officeDocument/2006/relationships/font" Target="fonts/Fira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Medium-italic.fntdata"/><Relationship Id="rId25" Type="http://schemas.openxmlformats.org/officeDocument/2006/relationships/font" Target="fonts/OpenSansMedium-bold.fntdata"/><Relationship Id="rId28" Type="http://schemas.openxmlformats.org/officeDocument/2006/relationships/font" Target="fonts/DMSerifDisplay-regular.fntdata"/><Relationship Id="rId27" Type="http://schemas.openxmlformats.org/officeDocument/2006/relationships/font" Target="fonts/OpenSansMedium-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MSerifDisplay-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Karla-bold.fntdata"/><Relationship Id="rId30" Type="http://schemas.openxmlformats.org/officeDocument/2006/relationships/font" Target="fonts/Karla-regular.fntdata"/><Relationship Id="rId11" Type="http://schemas.openxmlformats.org/officeDocument/2006/relationships/slide" Target="slides/slide6.xml"/><Relationship Id="rId33" Type="http://schemas.openxmlformats.org/officeDocument/2006/relationships/font" Target="fonts/Karla-boldItalic.fntdata"/><Relationship Id="rId10" Type="http://schemas.openxmlformats.org/officeDocument/2006/relationships/slide" Target="slides/slide5.xml"/><Relationship Id="rId32" Type="http://schemas.openxmlformats.org/officeDocument/2006/relationships/font" Target="fonts/Karla-italic.fntdata"/><Relationship Id="rId13" Type="http://schemas.openxmlformats.org/officeDocument/2006/relationships/slide" Target="slides/slide8.xml"/><Relationship Id="rId35" Type="http://schemas.openxmlformats.org/officeDocument/2006/relationships/font" Target="fonts/OpenSans-bold.fntdata"/><Relationship Id="rId12" Type="http://schemas.openxmlformats.org/officeDocument/2006/relationships/slide" Target="slides/slide7.xml"/><Relationship Id="rId34" Type="http://schemas.openxmlformats.org/officeDocument/2006/relationships/font" Target="fonts/OpenSans-regular.fntdata"/><Relationship Id="rId15" Type="http://schemas.openxmlformats.org/officeDocument/2006/relationships/font" Target="fonts/FiraSansMedium-bold.fntdata"/><Relationship Id="rId37" Type="http://schemas.openxmlformats.org/officeDocument/2006/relationships/font" Target="fonts/OpenSans-boldItalic.fntdata"/><Relationship Id="rId14" Type="http://schemas.openxmlformats.org/officeDocument/2006/relationships/font" Target="fonts/FiraSansMedium-regular.fntdata"/><Relationship Id="rId36" Type="http://schemas.openxmlformats.org/officeDocument/2006/relationships/font" Target="fonts/OpenSans-italic.fntdata"/><Relationship Id="rId17" Type="http://schemas.openxmlformats.org/officeDocument/2006/relationships/font" Target="fonts/FiraSansMedium-boldItalic.fntdata"/><Relationship Id="rId16" Type="http://schemas.openxmlformats.org/officeDocument/2006/relationships/font" Target="fonts/FiraSansMedium-italic.fntdata"/><Relationship Id="rId19" Type="http://schemas.openxmlformats.org/officeDocument/2006/relationships/font" Target="fonts/FiraSansExtraBold-boldItalic.fntdata"/><Relationship Id="rId18" Type="http://schemas.openxmlformats.org/officeDocument/2006/relationships/font" Target="fonts/FiraSansExtra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125df9ed6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g1125df9ed6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b1e44ee660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b1e44ee660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125df9ed63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1125df9ed63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125df9ed63_0_1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g1125df9ed63_0_1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b1e44ee660_0_1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1b1e44ee660_0_1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b1e44ee660_0_4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1b1e44ee660_0_4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a02eed6def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a02eed6def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b1e44ee660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b1e44ee660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407194" y="178941"/>
            <a:ext cx="7886700" cy="6549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3200"/>
              <a:buNone/>
              <a:defRPr sz="3000">
                <a:solidFill>
                  <a:srgbClr val="002060"/>
                </a:solidFill>
                <a:latin typeface="Karla"/>
                <a:ea typeface="Karla"/>
                <a:cs typeface="Karla"/>
                <a:sym typeface="Karla"/>
              </a:defRPr>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52" name="Google Shape;52;p13"/>
          <p:cNvSpPr txBox="1"/>
          <p:nvPr>
            <p:ph idx="1" type="body"/>
          </p:nvPr>
        </p:nvSpPr>
        <p:spPr>
          <a:xfrm>
            <a:off x="400050" y="10263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sz="1200">
                <a:latin typeface="Karla"/>
                <a:ea typeface="Karla"/>
                <a:cs typeface="Karla"/>
                <a:sym typeface="Karla"/>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atin typeface="Karla"/>
                <a:ea typeface="Karla"/>
                <a:cs typeface="Karla"/>
                <a:sym typeface="Karla"/>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atin typeface="Karla"/>
                <a:ea typeface="Karla"/>
                <a:cs typeface="Karla"/>
                <a:sym typeface="Karla"/>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5" name="Google Shape;55;p13"/>
          <p:cNvSpPr txBox="1"/>
          <p:nvPr>
            <p:ph idx="12" type="sldNum"/>
          </p:nvPr>
        </p:nvSpPr>
        <p:spPr>
          <a:xfrm>
            <a:off x="8688150" y="4767275"/>
            <a:ext cx="360600" cy="273900"/>
          </a:xfrm>
          <a:prstGeom prst="rect">
            <a:avLst/>
          </a:prstGeom>
          <a:noFill/>
          <a:ln>
            <a:noFill/>
          </a:ln>
        </p:spPr>
        <p:txBody>
          <a:bodyPr anchorCtr="0" anchor="ctr" bIns="34275" lIns="68575" spcFirstLastPara="1" rIns="68575" wrap="square" tIns="34275">
            <a:normAutofit/>
          </a:bodyPr>
          <a:lstStyle>
            <a:lvl1pPr indent="0" lvl="0"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1pPr>
            <a:lvl2pPr indent="0" lvl="1"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2pPr>
            <a:lvl3pPr indent="0" lvl="2"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3pPr>
            <a:lvl4pPr indent="0" lvl="3"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4pPr>
            <a:lvl5pPr indent="0" lvl="4"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5pPr>
            <a:lvl6pPr indent="0" lvl="5"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6pPr>
            <a:lvl7pPr indent="0" lvl="6"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7pPr>
            <a:lvl8pPr indent="0" lvl="7"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8pPr>
            <a:lvl9pPr indent="0" lvl="8" marL="0" rtl="0" algn="r">
              <a:lnSpc>
                <a:spcPct val="100000"/>
              </a:lnSpc>
              <a:spcBef>
                <a:spcPts val="0"/>
              </a:spcBef>
              <a:spcAft>
                <a:spcPts val="0"/>
              </a:spcAft>
              <a:buSzPts val="900"/>
              <a:buNone/>
              <a:defRPr b="0" i="0" sz="900" u="none" cap="none" strike="noStrike">
                <a:solidFill>
                  <a:srgbClr val="888888"/>
                </a:solidFill>
                <a:latin typeface="Karla"/>
                <a:ea typeface="Karla"/>
                <a:cs typeface="Karla"/>
                <a:sym typeface="Karl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59"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b="-10" l="0" r="0" t="0"/>
          <a:stretch/>
        </p:blipFill>
        <p:spPr>
          <a:xfrm>
            <a:off x="450734" y="4615050"/>
            <a:ext cx="2094225" cy="222000"/>
          </a:xfrm>
          <a:prstGeom prst="rect">
            <a:avLst/>
          </a:prstGeom>
          <a:noFill/>
          <a:ln>
            <a:noFill/>
          </a:ln>
        </p:spPr>
      </p:pic>
      <p:sp>
        <p:nvSpPr>
          <p:cNvPr id="61" name="Google Shape;61;p14"/>
          <p:cNvSpPr txBox="1"/>
          <p:nvPr/>
        </p:nvSpPr>
        <p:spPr>
          <a:xfrm>
            <a:off x="378075" y="745500"/>
            <a:ext cx="7299300" cy="82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5800">
                <a:solidFill>
                  <a:srgbClr val="1B2630"/>
                </a:solidFill>
                <a:latin typeface="Fira Sans ExtraBold"/>
                <a:ea typeface="Fira Sans ExtraBold"/>
                <a:cs typeface="Fira Sans ExtraBold"/>
                <a:sym typeface="Fira Sans ExtraBold"/>
              </a:rPr>
              <a:t>The Data Engineering Lifecycle</a:t>
            </a:r>
            <a:endParaRPr sz="3400">
              <a:solidFill>
                <a:srgbClr val="1B2630"/>
              </a:solidFill>
              <a:latin typeface="Fira Sans ExtraBold"/>
              <a:ea typeface="Fira Sans ExtraBold"/>
              <a:cs typeface="Fira Sans ExtraBold"/>
              <a:sym typeface="Fira Sans ExtraBold"/>
            </a:endParaRPr>
          </a:p>
          <a:p>
            <a:pPr indent="0" lvl="0" marL="0" marR="0" rtl="0" algn="l">
              <a:lnSpc>
                <a:spcPct val="100000"/>
              </a:lnSpc>
              <a:spcBef>
                <a:spcPts val="0"/>
              </a:spcBef>
              <a:spcAft>
                <a:spcPts val="0"/>
              </a:spcAft>
              <a:buClr>
                <a:srgbClr val="000000"/>
              </a:buClr>
              <a:buSzPts val="2400"/>
              <a:buFont typeface="Arial"/>
              <a:buNone/>
            </a:pPr>
            <a:r>
              <a:t/>
            </a:r>
            <a:endParaRPr sz="4600">
              <a:solidFill>
                <a:srgbClr val="1B2630"/>
              </a:solidFill>
              <a:latin typeface="Fira Sans ExtraBold"/>
              <a:ea typeface="Fira Sans ExtraBold"/>
              <a:cs typeface="Fira Sans ExtraBold"/>
              <a:sym typeface="Fira Sans ExtraBold"/>
            </a:endParaRPr>
          </a:p>
        </p:txBody>
      </p:sp>
      <p:pic>
        <p:nvPicPr>
          <p:cNvPr id="62" name="Google Shape;62;p14"/>
          <p:cNvPicPr preferRelativeResize="0"/>
          <p:nvPr/>
        </p:nvPicPr>
        <p:blipFill>
          <a:blip r:embed="rId4">
            <a:alphaModFix/>
          </a:blip>
          <a:stretch>
            <a:fillRect/>
          </a:stretch>
        </p:blipFill>
        <p:spPr>
          <a:xfrm>
            <a:off x="4919639" y="8"/>
            <a:ext cx="4224356"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630"/>
        </a:solidFill>
      </p:bgPr>
    </p:bg>
    <p:spTree>
      <p:nvGrpSpPr>
        <p:cNvPr id="66"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b="0" l="15561" r="15554" t="0"/>
          <a:stretch/>
        </p:blipFill>
        <p:spPr>
          <a:xfrm>
            <a:off x="0" y="0"/>
            <a:ext cx="3543000" cy="5143500"/>
          </a:xfrm>
          <a:prstGeom prst="roundRect">
            <a:avLst>
              <a:gd fmla="val 0" name="adj"/>
            </a:avLst>
          </a:prstGeom>
          <a:noFill/>
          <a:ln>
            <a:noFill/>
          </a:ln>
        </p:spPr>
      </p:pic>
      <p:sp>
        <p:nvSpPr>
          <p:cNvPr id="68" name="Google Shape;68;p15"/>
          <p:cNvSpPr txBox="1"/>
          <p:nvPr>
            <p:ph type="ctrTitle"/>
          </p:nvPr>
        </p:nvSpPr>
        <p:spPr>
          <a:xfrm>
            <a:off x="4384750" y="1284075"/>
            <a:ext cx="2877600" cy="70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3600">
                <a:solidFill>
                  <a:schemeClr val="lt1"/>
                </a:solidFill>
                <a:latin typeface="Fira Sans"/>
                <a:ea typeface="Fira Sans"/>
                <a:cs typeface="Fira Sans"/>
                <a:sym typeface="Fira Sans"/>
              </a:rPr>
              <a:t>Agenda</a:t>
            </a:r>
            <a:endParaRPr b="1" sz="3600">
              <a:solidFill>
                <a:schemeClr val="lt1"/>
              </a:solidFill>
              <a:latin typeface="Fira Sans"/>
              <a:ea typeface="Fira Sans"/>
              <a:cs typeface="Fira Sans"/>
              <a:sym typeface="Fira Sans"/>
            </a:endParaRPr>
          </a:p>
          <a:p>
            <a:pPr indent="0" lvl="0" marL="0" rtl="0" algn="l">
              <a:lnSpc>
                <a:spcPct val="100000"/>
              </a:lnSpc>
              <a:spcBef>
                <a:spcPts val="0"/>
              </a:spcBef>
              <a:spcAft>
                <a:spcPts val="0"/>
              </a:spcAft>
              <a:buSzPts val="2400"/>
              <a:buNone/>
            </a:pPr>
            <a:r>
              <a:t/>
            </a:r>
            <a:endParaRPr b="1" sz="2900">
              <a:solidFill>
                <a:srgbClr val="1B2630"/>
              </a:solidFill>
              <a:latin typeface="Fira Sans"/>
              <a:ea typeface="Fira Sans"/>
              <a:cs typeface="Fira Sans"/>
              <a:sym typeface="Fira Sans"/>
            </a:endParaRPr>
          </a:p>
          <a:p>
            <a:pPr indent="0" lvl="0" marL="0" rtl="0" algn="l">
              <a:lnSpc>
                <a:spcPct val="100000"/>
              </a:lnSpc>
              <a:spcBef>
                <a:spcPts val="0"/>
              </a:spcBef>
              <a:spcAft>
                <a:spcPts val="0"/>
              </a:spcAft>
              <a:buSzPts val="2800"/>
              <a:buNone/>
            </a:pPr>
            <a:r>
              <a:t/>
            </a:r>
            <a:endParaRPr sz="2900">
              <a:solidFill>
                <a:srgbClr val="1B2630"/>
              </a:solidFill>
              <a:latin typeface="Fira Sans ExtraBold"/>
              <a:ea typeface="Fira Sans ExtraBold"/>
              <a:cs typeface="Fira Sans ExtraBold"/>
              <a:sym typeface="Fira Sans ExtraBold"/>
            </a:endParaRPr>
          </a:p>
          <a:p>
            <a:pPr indent="0" lvl="0" marL="0" rtl="0" algn="l">
              <a:lnSpc>
                <a:spcPct val="100000"/>
              </a:lnSpc>
              <a:spcBef>
                <a:spcPts val="0"/>
              </a:spcBef>
              <a:spcAft>
                <a:spcPts val="0"/>
              </a:spcAft>
              <a:buClr>
                <a:schemeClr val="dk1"/>
              </a:buClr>
              <a:buSzPts val="1100"/>
              <a:buFont typeface="Arial"/>
              <a:buNone/>
            </a:pPr>
            <a:r>
              <a:t/>
            </a:r>
            <a:endParaRPr sz="2900">
              <a:solidFill>
                <a:srgbClr val="1B2630"/>
              </a:solidFill>
              <a:latin typeface="DM Serif Display"/>
              <a:ea typeface="DM Serif Display"/>
              <a:cs typeface="DM Serif Display"/>
              <a:sym typeface="DM Serif Display"/>
            </a:endParaRPr>
          </a:p>
          <a:p>
            <a:pPr indent="0" lvl="0" marL="0" rtl="0" algn="l">
              <a:lnSpc>
                <a:spcPct val="100000"/>
              </a:lnSpc>
              <a:spcBef>
                <a:spcPts val="0"/>
              </a:spcBef>
              <a:spcAft>
                <a:spcPts val="0"/>
              </a:spcAft>
              <a:buSzPts val="1100"/>
              <a:buNone/>
            </a:pPr>
            <a:r>
              <a:t/>
            </a:r>
            <a:endParaRPr sz="2900">
              <a:solidFill>
                <a:srgbClr val="1B2630"/>
              </a:solidFill>
              <a:latin typeface="DM Serif Display"/>
              <a:ea typeface="DM Serif Display"/>
              <a:cs typeface="DM Serif Display"/>
              <a:sym typeface="DM Serif Display"/>
            </a:endParaRPr>
          </a:p>
        </p:txBody>
      </p:sp>
      <p:sp>
        <p:nvSpPr>
          <p:cNvPr id="69" name="Google Shape;69;p15"/>
          <p:cNvSpPr txBox="1"/>
          <p:nvPr/>
        </p:nvSpPr>
        <p:spPr>
          <a:xfrm>
            <a:off x="4248325" y="2071550"/>
            <a:ext cx="4672200" cy="2188200"/>
          </a:xfrm>
          <a:prstGeom prst="rect">
            <a:avLst/>
          </a:prstGeom>
          <a:noFill/>
          <a:ln>
            <a:noFill/>
          </a:ln>
        </p:spPr>
        <p:txBody>
          <a:bodyPr anchorCtr="0" anchor="ctr" bIns="91425" lIns="91425" spcFirstLastPara="1" rIns="91425" wrap="square" tIns="91425">
            <a:noAutofit/>
          </a:bodyPr>
          <a:lstStyle/>
          <a:p>
            <a:pPr indent="-317500" lvl="0" marL="457200" rtl="0" algn="l">
              <a:lnSpc>
                <a:spcPct val="150000"/>
              </a:lnSpc>
              <a:spcBef>
                <a:spcPts val="0"/>
              </a:spcBef>
              <a:spcAft>
                <a:spcPts val="0"/>
              </a:spcAft>
              <a:buClr>
                <a:schemeClr val="lt1"/>
              </a:buClr>
              <a:buSzPts val="1400"/>
              <a:buFont typeface="Open Sans Medium"/>
              <a:buChar char="●"/>
            </a:pPr>
            <a:r>
              <a:rPr lang="en">
                <a:solidFill>
                  <a:schemeClr val="lt1"/>
                </a:solidFill>
                <a:latin typeface="Open Sans Medium"/>
                <a:ea typeface="Open Sans Medium"/>
                <a:cs typeface="Open Sans Medium"/>
                <a:sym typeface="Open Sans Medium"/>
              </a:rPr>
              <a:t>Data Engineering</a:t>
            </a:r>
            <a:endParaRPr>
              <a:solidFill>
                <a:schemeClr val="lt1"/>
              </a:solidFill>
              <a:latin typeface="Open Sans Medium"/>
              <a:ea typeface="Open Sans Medium"/>
              <a:cs typeface="Open Sans Medium"/>
              <a:sym typeface="Open Sans Medium"/>
            </a:endParaRPr>
          </a:p>
          <a:p>
            <a:pPr indent="-317500" lvl="0" marL="457200" rtl="0" algn="l">
              <a:lnSpc>
                <a:spcPct val="150000"/>
              </a:lnSpc>
              <a:spcBef>
                <a:spcPts val="0"/>
              </a:spcBef>
              <a:spcAft>
                <a:spcPts val="0"/>
              </a:spcAft>
              <a:buClr>
                <a:schemeClr val="lt1"/>
              </a:buClr>
              <a:buSzPts val="1400"/>
              <a:buFont typeface="Open Sans Medium"/>
              <a:buChar char="●"/>
            </a:pPr>
            <a:r>
              <a:rPr lang="en">
                <a:solidFill>
                  <a:schemeClr val="lt1"/>
                </a:solidFill>
                <a:latin typeface="Open Sans Medium"/>
                <a:ea typeface="Open Sans Medium"/>
                <a:cs typeface="Open Sans Medium"/>
                <a:sym typeface="Open Sans Medium"/>
              </a:rPr>
              <a:t>Examples</a:t>
            </a:r>
            <a:endParaRPr>
              <a:solidFill>
                <a:schemeClr val="lt1"/>
              </a:solidFill>
              <a:latin typeface="Open Sans Medium"/>
              <a:ea typeface="Open Sans Medium"/>
              <a:cs typeface="Open Sans Medium"/>
              <a:sym typeface="Open Sans Medium"/>
            </a:endParaRPr>
          </a:p>
          <a:p>
            <a:pPr indent="-317500" lvl="0" marL="457200" rtl="0" algn="l">
              <a:lnSpc>
                <a:spcPct val="150000"/>
              </a:lnSpc>
              <a:spcBef>
                <a:spcPts val="0"/>
              </a:spcBef>
              <a:spcAft>
                <a:spcPts val="0"/>
              </a:spcAft>
              <a:buClr>
                <a:schemeClr val="lt1"/>
              </a:buClr>
              <a:buSzPts val="1400"/>
              <a:buFont typeface="Open Sans Medium"/>
              <a:buChar char="●"/>
            </a:pPr>
            <a:r>
              <a:rPr lang="en">
                <a:solidFill>
                  <a:schemeClr val="lt1"/>
                </a:solidFill>
                <a:latin typeface="Open Sans Medium"/>
                <a:ea typeface="Open Sans Medium"/>
                <a:cs typeface="Open Sans Medium"/>
                <a:sym typeface="Open Sans Medium"/>
              </a:rPr>
              <a:t>Lifecycle</a:t>
            </a:r>
            <a:endParaRPr>
              <a:solidFill>
                <a:schemeClr val="lt1"/>
              </a:solidFill>
              <a:latin typeface="Open Sans Medium"/>
              <a:ea typeface="Open Sans Medium"/>
              <a:cs typeface="Open Sans Medium"/>
              <a:sym typeface="Open Sans Medium"/>
            </a:endParaRPr>
          </a:p>
          <a:p>
            <a:pPr indent="-317500" lvl="0" marL="457200" rtl="0" algn="l">
              <a:lnSpc>
                <a:spcPct val="150000"/>
              </a:lnSpc>
              <a:spcBef>
                <a:spcPts val="0"/>
              </a:spcBef>
              <a:spcAft>
                <a:spcPts val="0"/>
              </a:spcAft>
              <a:buClr>
                <a:schemeClr val="lt1"/>
              </a:buClr>
              <a:buSzPts val="1400"/>
              <a:buFont typeface="Open Sans Medium"/>
              <a:buChar char="●"/>
            </a:pPr>
            <a:r>
              <a:rPr lang="en">
                <a:solidFill>
                  <a:schemeClr val="lt1"/>
                </a:solidFill>
                <a:latin typeface="Open Sans Medium"/>
                <a:ea typeface="Open Sans Medium"/>
                <a:cs typeface="Open Sans Medium"/>
                <a:sym typeface="Open Sans Medium"/>
              </a:rPr>
              <a:t>Best Practices</a:t>
            </a:r>
            <a:endParaRPr>
              <a:solidFill>
                <a:schemeClr val="lt1"/>
              </a:solidFill>
              <a:latin typeface="Open Sans Medium"/>
              <a:ea typeface="Open Sans Medium"/>
              <a:cs typeface="Open Sans Medium"/>
              <a:sym typeface="Open Sans Medium"/>
            </a:endParaRPr>
          </a:p>
        </p:txBody>
      </p:sp>
      <p:pic>
        <p:nvPicPr>
          <p:cNvPr id="70" name="Google Shape;70;p15"/>
          <p:cNvPicPr preferRelativeResize="0"/>
          <p:nvPr/>
        </p:nvPicPr>
        <p:blipFill rotWithShape="1">
          <a:blip r:embed="rId4">
            <a:alphaModFix/>
          </a:blip>
          <a:srcRect b="0" l="0" r="63341" t="0"/>
          <a:stretch/>
        </p:blipFill>
        <p:spPr>
          <a:xfrm>
            <a:off x="8058067" y="1536650"/>
            <a:ext cx="1085924" cy="36068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p:nvPr/>
        </p:nvSpPr>
        <p:spPr>
          <a:xfrm>
            <a:off x="5" y="907675"/>
            <a:ext cx="4581900" cy="4235700"/>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txBox="1"/>
          <p:nvPr/>
        </p:nvSpPr>
        <p:spPr>
          <a:xfrm>
            <a:off x="3287375" y="4828298"/>
            <a:ext cx="5640000" cy="184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100"/>
              <a:buFont typeface="Arial"/>
              <a:buNone/>
            </a:pPr>
            <a:r>
              <a:rPr i="1" lang="en" sz="600">
                <a:solidFill>
                  <a:srgbClr val="999999"/>
                </a:solidFill>
                <a:latin typeface="Fira Sans"/>
                <a:ea typeface="Fira Sans"/>
                <a:cs typeface="Fira Sans"/>
                <a:sym typeface="Fira Sans"/>
              </a:rPr>
              <a:t>*Can be completed from home, with the option to come to campus as locations reopen (if available).</a:t>
            </a:r>
            <a:endParaRPr i="1" sz="600">
              <a:solidFill>
                <a:srgbClr val="999999"/>
              </a:solidFill>
              <a:latin typeface="Fira Sans"/>
              <a:ea typeface="Fira Sans"/>
              <a:cs typeface="Fira Sans"/>
              <a:sym typeface="Fira Sans"/>
            </a:endParaRPr>
          </a:p>
        </p:txBody>
      </p:sp>
      <p:sp>
        <p:nvSpPr>
          <p:cNvPr id="77" name="Google Shape;77;p16"/>
          <p:cNvSpPr/>
          <p:nvPr/>
        </p:nvSpPr>
        <p:spPr>
          <a:xfrm>
            <a:off x="4581900" y="907675"/>
            <a:ext cx="4581900" cy="4235700"/>
          </a:xfrm>
          <a:prstGeom prst="rect">
            <a:avLst/>
          </a:prstGeom>
          <a:solidFill>
            <a:srgbClr val="1B26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6"/>
          <p:cNvSpPr txBox="1"/>
          <p:nvPr/>
        </p:nvSpPr>
        <p:spPr>
          <a:xfrm>
            <a:off x="441132" y="1240646"/>
            <a:ext cx="2802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222222"/>
                </a:solidFill>
                <a:latin typeface="Fira Sans"/>
                <a:ea typeface="Fira Sans"/>
                <a:cs typeface="Fira Sans"/>
                <a:sym typeface="Fira Sans"/>
              </a:rPr>
              <a:t>Managing Data</a:t>
            </a:r>
            <a:endParaRPr b="1" sz="1700">
              <a:solidFill>
                <a:srgbClr val="222222"/>
              </a:solidFill>
              <a:latin typeface="Fira Sans"/>
              <a:ea typeface="Fira Sans"/>
              <a:cs typeface="Fira Sans"/>
              <a:sym typeface="Fira Sans"/>
            </a:endParaRPr>
          </a:p>
        </p:txBody>
      </p:sp>
      <p:sp>
        <p:nvSpPr>
          <p:cNvPr id="79" name="Google Shape;79;p16"/>
          <p:cNvSpPr/>
          <p:nvPr/>
        </p:nvSpPr>
        <p:spPr>
          <a:xfrm>
            <a:off x="445799" y="1750964"/>
            <a:ext cx="3550200" cy="763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900">
                <a:solidFill>
                  <a:srgbClr val="1B2630"/>
                </a:solidFill>
                <a:latin typeface="Open Sans"/>
                <a:ea typeface="Open Sans"/>
                <a:cs typeface="Open Sans"/>
                <a:sym typeface="Open Sans"/>
              </a:rPr>
              <a:t>Responsible for handling all aspects of data ingestion, handling, </a:t>
            </a:r>
            <a:r>
              <a:rPr lang="en" sz="900">
                <a:solidFill>
                  <a:srgbClr val="1B2630"/>
                </a:solidFill>
                <a:latin typeface="Open Sans"/>
                <a:ea typeface="Open Sans"/>
                <a:cs typeface="Open Sans"/>
                <a:sym typeface="Open Sans"/>
              </a:rPr>
              <a:t>storage, and sometimes access. Determine what happens to data when it is collected by an organization.</a:t>
            </a:r>
            <a:endParaRPr sz="900">
              <a:solidFill>
                <a:srgbClr val="1B2630"/>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sz="900">
              <a:solidFill>
                <a:srgbClr val="1B2630"/>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sz="900">
              <a:solidFill>
                <a:srgbClr val="1B2630"/>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sz="900">
              <a:solidFill>
                <a:srgbClr val="1B2630"/>
              </a:solidFill>
              <a:latin typeface="Open Sans"/>
              <a:ea typeface="Open Sans"/>
              <a:cs typeface="Open Sans"/>
              <a:sym typeface="Open Sans"/>
            </a:endParaRPr>
          </a:p>
        </p:txBody>
      </p:sp>
      <p:sp>
        <p:nvSpPr>
          <p:cNvPr id="80" name="Google Shape;80;p16"/>
          <p:cNvSpPr/>
          <p:nvPr/>
        </p:nvSpPr>
        <p:spPr>
          <a:xfrm>
            <a:off x="290474" y="2541467"/>
            <a:ext cx="3550200" cy="1714500"/>
          </a:xfrm>
          <a:prstGeom prst="rect">
            <a:avLst/>
          </a:prstGeom>
          <a:noFill/>
          <a:ln>
            <a:noFill/>
          </a:ln>
        </p:spPr>
        <p:txBody>
          <a:bodyPr anchorCtr="0" anchor="t" bIns="91425" lIns="91425" spcFirstLastPara="1" rIns="91425" wrap="square" tIns="91425">
            <a:noAutofit/>
          </a:bodyPr>
          <a:lstStyle/>
          <a:p>
            <a:pPr indent="-285750" lvl="0" marL="457200" rtl="0" algn="l">
              <a:lnSpc>
                <a:spcPct val="150000"/>
              </a:lnSpc>
              <a:spcBef>
                <a:spcPts val="0"/>
              </a:spcBef>
              <a:spcAft>
                <a:spcPts val="0"/>
              </a:spcAft>
              <a:buClr>
                <a:srgbClr val="1B2630"/>
              </a:buClr>
              <a:buSzPts val="900"/>
              <a:buFont typeface="Open Sans"/>
              <a:buChar char="●"/>
            </a:pPr>
            <a:r>
              <a:rPr lang="en" sz="900">
                <a:solidFill>
                  <a:srgbClr val="1B2630"/>
                </a:solidFill>
                <a:latin typeface="Open Sans"/>
                <a:ea typeface="Open Sans"/>
                <a:cs typeface="Open Sans"/>
                <a:sym typeface="Open Sans"/>
              </a:rPr>
              <a:t>Critical component of any organization</a:t>
            </a:r>
            <a:endParaRPr sz="900">
              <a:solidFill>
                <a:srgbClr val="1B2630"/>
              </a:solidFill>
              <a:latin typeface="Open Sans"/>
              <a:ea typeface="Open Sans"/>
              <a:cs typeface="Open Sans"/>
              <a:sym typeface="Open Sans"/>
            </a:endParaRPr>
          </a:p>
          <a:p>
            <a:pPr indent="-285750" lvl="0" marL="457200" rtl="0" algn="l">
              <a:lnSpc>
                <a:spcPct val="150000"/>
              </a:lnSpc>
              <a:spcBef>
                <a:spcPts val="0"/>
              </a:spcBef>
              <a:spcAft>
                <a:spcPts val="0"/>
              </a:spcAft>
              <a:buClr>
                <a:srgbClr val="1B2630"/>
              </a:buClr>
              <a:buSzPts val="900"/>
              <a:buFont typeface="Open Sans"/>
              <a:buChar char="●"/>
            </a:pPr>
            <a:r>
              <a:rPr lang="en" sz="900">
                <a:solidFill>
                  <a:srgbClr val="1B2630"/>
                </a:solidFill>
                <a:latin typeface="Open Sans"/>
                <a:ea typeface="Open Sans"/>
                <a:cs typeface="Open Sans"/>
                <a:sym typeface="Open Sans"/>
              </a:rPr>
              <a:t>Data pipeline and preprocessing</a:t>
            </a:r>
            <a:endParaRPr sz="900">
              <a:solidFill>
                <a:srgbClr val="1B2630"/>
              </a:solidFill>
              <a:latin typeface="Open Sans"/>
              <a:ea typeface="Open Sans"/>
              <a:cs typeface="Open Sans"/>
              <a:sym typeface="Open Sans"/>
            </a:endParaRPr>
          </a:p>
          <a:p>
            <a:pPr indent="-285750" lvl="0" marL="457200" rtl="0" algn="l">
              <a:lnSpc>
                <a:spcPct val="150000"/>
              </a:lnSpc>
              <a:spcBef>
                <a:spcPts val="0"/>
              </a:spcBef>
              <a:spcAft>
                <a:spcPts val="0"/>
              </a:spcAft>
              <a:buClr>
                <a:srgbClr val="1B2630"/>
              </a:buClr>
              <a:buSzPts val="900"/>
              <a:buFont typeface="Open Sans"/>
              <a:buChar char="●"/>
            </a:pPr>
            <a:r>
              <a:rPr lang="en" sz="900">
                <a:solidFill>
                  <a:srgbClr val="1B2630"/>
                </a:solidFill>
                <a:latin typeface="Open Sans"/>
                <a:ea typeface="Open Sans"/>
                <a:cs typeface="Open Sans"/>
                <a:sym typeface="Open Sans"/>
              </a:rPr>
              <a:t>QA/QC of new data</a:t>
            </a:r>
            <a:endParaRPr sz="900">
              <a:solidFill>
                <a:srgbClr val="1B2630"/>
              </a:solidFill>
              <a:latin typeface="Open Sans"/>
              <a:ea typeface="Open Sans"/>
              <a:cs typeface="Open Sans"/>
              <a:sym typeface="Open Sans"/>
            </a:endParaRPr>
          </a:p>
          <a:p>
            <a:pPr indent="-285750" lvl="0" marL="457200" rtl="0" algn="l">
              <a:lnSpc>
                <a:spcPct val="150000"/>
              </a:lnSpc>
              <a:spcBef>
                <a:spcPts val="0"/>
              </a:spcBef>
              <a:spcAft>
                <a:spcPts val="0"/>
              </a:spcAft>
              <a:buClr>
                <a:srgbClr val="1B2630"/>
              </a:buClr>
              <a:buSzPts val="900"/>
              <a:buFont typeface="Open Sans"/>
              <a:buChar char="●"/>
            </a:pPr>
            <a:r>
              <a:rPr lang="en" sz="900">
                <a:solidFill>
                  <a:srgbClr val="1B2630"/>
                </a:solidFill>
                <a:latin typeface="Open Sans"/>
                <a:ea typeface="Open Sans"/>
                <a:cs typeface="Open Sans"/>
                <a:sym typeface="Open Sans"/>
              </a:rPr>
              <a:t>Cross team collaboration</a:t>
            </a:r>
            <a:endParaRPr sz="900">
              <a:solidFill>
                <a:srgbClr val="1B2630"/>
              </a:solidFill>
              <a:latin typeface="Open Sans"/>
              <a:ea typeface="Open Sans"/>
              <a:cs typeface="Open Sans"/>
              <a:sym typeface="Open Sans"/>
            </a:endParaRPr>
          </a:p>
          <a:p>
            <a:pPr indent="-285750" lvl="0" marL="457200" rtl="0" algn="l">
              <a:lnSpc>
                <a:spcPct val="150000"/>
              </a:lnSpc>
              <a:spcBef>
                <a:spcPts val="0"/>
              </a:spcBef>
              <a:spcAft>
                <a:spcPts val="0"/>
              </a:spcAft>
              <a:buClr>
                <a:srgbClr val="1B2630"/>
              </a:buClr>
              <a:buSzPts val="900"/>
              <a:buFont typeface="Open Sans"/>
              <a:buChar char="●"/>
            </a:pPr>
            <a:r>
              <a:rPr lang="en" sz="900">
                <a:solidFill>
                  <a:srgbClr val="1B2630"/>
                </a:solidFill>
                <a:latin typeface="Open Sans"/>
                <a:ea typeface="Open Sans"/>
                <a:cs typeface="Open Sans"/>
                <a:sym typeface="Open Sans"/>
              </a:rPr>
              <a:t>Building of databases and platforms</a:t>
            </a:r>
            <a:endParaRPr sz="900">
              <a:solidFill>
                <a:srgbClr val="1B2630"/>
              </a:solidFill>
              <a:latin typeface="Open Sans"/>
              <a:ea typeface="Open Sans"/>
              <a:cs typeface="Open Sans"/>
              <a:sym typeface="Open Sans"/>
            </a:endParaRPr>
          </a:p>
          <a:p>
            <a:pPr indent="0" lvl="0" marL="457200" rtl="0" algn="l">
              <a:lnSpc>
                <a:spcPct val="150000"/>
              </a:lnSpc>
              <a:spcBef>
                <a:spcPts val="0"/>
              </a:spcBef>
              <a:spcAft>
                <a:spcPts val="0"/>
              </a:spcAft>
              <a:buNone/>
            </a:pPr>
            <a:r>
              <a:t/>
            </a:r>
            <a:endParaRPr sz="900">
              <a:solidFill>
                <a:srgbClr val="1B2630"/>
              </a:solidFill>
              <a:latin typeface="Open Sans"/>
              <a:ea typeface="Open Sans"/>
              <a:cs typeface="Open Sans"/>
              <a:sym typeface="Open Sans"/>
            </a:endParaRPr>
          </a:p>
        </p:txBody>
      </p:sp>
      <p:sp>
        <p:nvSpPr>
          <p:cNvPr id="81" name="Google Shape;81;p16"/>
          <p:cNvSpPr txBox="1"/>
          <p:nvPr/>
        </p:nvSpPr>
        <p:spPr>
          <a:xfrm>
            <a:off x="5097455" y="1240651"/>
            <a:ext cx="28029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Fira Sans"/>
                <a:ea typeface="Fira Sans"/>
                <a:cs typeface="Fira Sans"/>
                <a:sym typeface="Fira Sans"/>
              </a:rPr>
              <a:t>Data Science Adjacent</a:t>
            </a:r>
            <a:endParaRPr b="1" sz="1700">
              <a:solidFill>
                <a:srgbClr val="FFFFFF"/>
              </a:solidFill>
              <a:latin typeface="Fira Sans"/>
              <a:ea typeface="Fira Sans"/>
              <a:cs typeface="Fira Sans"/>
              <a:sym typeface="Fira Sans"/>
            </a:endParaRPr>
          </a:p>
          <a:p>
            <a:pPr indent="0" lvl="0" marL="0" rtl="0" algn="l">
              <a:spcBef>
                <a:spcPts val="0"/>
              </a:spcBef>
              <a:spcAft>
                <a:spcPts val="0"/>
              </a:spcAft>
              <a:buNone/>
            </a:pPr>
            <a:r>
              <a:t/>
            </a:r>
            <a:endParaRPr b="1" sz="1700">
              <a:solidFill>
                <a:schemeClr val="lt1"/>
              </a:solidFill>
              <a:latin typeface="Fira Sans"/>
              <a:ea typeface="Fira Sans"/>
              <a:cs typeface="Fira Sans"/>
              <a:sym typeface="Fira Sans"/>
            </a:endParaRPr>
          </a:p>
          <a:p>
            <a:pPr indent="0" lvl="0" marL="0" rtl="0" algn="l">
              <a:spcBef>
                <a:spcPts val="0"/>
              </a:spcBef>
              <a:spcAft>
                <a:spcPts val="0"/>
              </a:spcAft>
              <a:buNone/>
            </a:pPr>
            <a:r>
              <a:t/>
            </a:r>
            <a:endParaRPr b="1" sz="1700">
              <a:solidFill>
                <a:schemeClr val="lt1"/>
              </a:solidFill>
              <a:latin typeface="Fira Sans"/>
              <a:ea typeface="Fira Sans"/>
              <a:cs typeface="Fira Sans"/>
              <a:sym typeface="Fira Sans"/>
            </a:endParaRPr>
          </a:p>
        </p:txBody>
      </p:sp>
      <p:sp>
        <p:nvSpPr>
          <p:cNvPr id="82" name="Google Shape;82;p16"/>
          <p:cNvSpPr/>
          <p:nvPr/>
        </p:nvSpPr>
        <p:spPr>
          <a:xfrm>
            <a:off x="5102132" y="1750964"/>
            <a:ext cx="3550200" cy="763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900">
                <a:solidFill>
                  <a:schemeClr val="lt1"/>
                </a:solidFill>
                <a:latin typeface="Open Sans"/>
                <a:ea typeface="Open Sans"/>
                <a:cs typeface="Open Sans"/>
                <a:sym typeface="Open Sans"/>
              </a:rPr>
              <a:t>Hand in hand with the field of data science but not the same. As an analyst of scientist you might work closely with engineering team to determine needs and usage.</a:t>
            </a:r>
            <a:endParaRPr sz="900">
              <a:solidFill>
                <a:schemeClr val="lt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sz="900">
              <a:solidFill>
                <a:schemeClr val="lt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sz="900">
              <a:solidFill>
                <a:schemeClr val="lt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sz="900">
              <a:solidFill>
                <a:schemeClr val="lt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sz="900">
              <a:solidFill>
                <a:schemeClr val="lt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sz="900">
              <a:solidFill>
                <a:schemeClr val="lt1"/>
              </a:solidFill>
              <a:latin typeface="Open Sans"/>
              <a:ea typeface="Open Sans"/>
              <a:cs typeface="Open Sans"/>
              <a:sym typeface="Open Sans"/>
            </a:endParaRPr>
          </a:p>
        </p:txBody>
      </p:sp>
      <p:sp>
        <p:nvSpPr>
          <p:cNvPr id="83" name="Google Shape;83;p16"/>
          <p:cNvSpPr/>
          <p:nvPr/>
        </p:nvSpPr>
        <p:spPr>
          <a:xfrm>
            <a:off x="4946807" y="2541467"/>
            <a:ext cx="3550200" cy="1714500"/>
          </a:xfrm>
          <a:prstGeom prst="rect">
            <a:avLst/>
          </a:prstGeom>
          <a:noFill/>
          <a:ln>
            <a:noFill/>
          </a:ln>
        </p:spPr>
        <p:txBody>
          <a:bodyPr anchorCtr="0" anchor="t" bIns="91425" lIns="91425" spcFirstLastPara="1" rIns="91425" wrap="square" tIns="91425">
            <a:noAutofit/>
          </a:bodyPr>
          <a:lstStyle/>
          <a:p>
            <a:pPr indent="-285750" lvl="0" marL="457200" rtl="0" algn="l">
              <a:lnSpc>
                <a:spcPct val="150000"/>
              </a:lnSpc>
              <a:spcBef>
                <a:spcPts val="0"/>
              </a:spcBef>
              <a:spcAft>
                <a:spcPts val="0"/>
              </a:spcAft>
              <a:buClr>
                <a:schemeClr val="lt1"/>
              </a:buClr>
              <a:buSzPts val="900"/>
              <a:buFont typeface="Open Sans"/>
              <a:buChar char="●"/>
            </a:pPr>
            <a:r>
              <a:rPr lang="en" sz="900">
                <a:solidFill>
                  <a:schemeClr val="lt1"/>
                </a:solidFill>
                <a:latin typeface="Open Sans"/>
                <a:ea typeface="Open Sans"/>
                <a:cs typeface="Open Sans"/>
                <a:sym typeface="Open Sans"/>
              </a:rPr>
              <a:t>Facilitates efficient data analyses and report creation</a:t>
            </a:r>
            <a:endParaRPr sz="900">
              <a:solidFill>
                <a:schemeClr val="lt1"/>
              </a:solidFill>
              <a:latin typeface="Open Sans"/>
              <a:ea typeface="Open Sans"/>
              <a:cs typeface="Open Sans"/>
              <a:sym typeface="Open Sans"/>
            </a:endParaRPr>
          </a:p>
          <a:p>
            <a:pPr indent="-285750" lvl="0" marL="457200" rtl="0" algn="l">
              <a:lnSpc>
                <a:spcPct val="150000"/>
              </a:lnSpc>
              <a:spcBef>
                <a:spcPts val="0"/>
              </a:spcBef>
              <a:spcAft>
                <a:spcPts val="0"/>
              </a:spcAft>
              <a:buClr>
                <a:schemeClr val="lt1"/>
              </a:buClr>
              <a:buSzPts val="900"/>
              <a:buFont typeface="Open Sans"/>
              <a:buChar char="●"/>
            </a:pPr>
            <a:r>
              <a:rPr lang="en" sz="900">
                <a:solidFill>
                  <a:schemeClr val="lt1"/>
                </a:solidFill>
                <a:latin typeface="Open Sans"/>
                <a:ea typeface="Open Sans"/>
                <a:cs typeface="Open Sans"/>
                <a:sym typeface="Open Sans"/>
              </a:rPr>
              <a:t>Can support live systems like recommendations</a:t>
            </a:r>
            <a:endParaRPr sz="900">
              <a:solidFill>
                <a:schemeClr val="lt1"/>
              </a:solidFill>
              <a:latin typeface="Open Sans"/>
              <a:ea typeface="Open Sans"/>
              <a:cs typeface="Open Sans"/>
              <a:sym typeface="Open Sans"/>
            </a:endParaRPr>
          </a:p>
          <a:p>
            <a:pPr indent="-285750" lvl="0" marL="457200" rtl="0" algn="l">
              <a:lnSpc>
                <a:spcPct val="150000"/>
              </a:lnSpc>
              <a:spcBef>
                <a:spcPts val="0"/>
              </a:spcBef>
              <a:spcAft>
                <a:spcPts val="0"/>
              </a:spcAft>
              <a:buClr>
                <a:schemeClr val="lt1"/>
              </a:buClr>
              <a:buSzPts val="900"/>
              <a:buFont typeface="Open Sans"/>
              <a:buChar char="●"/>
            </a:pPr>
            <a:r>
              <a:rPr lang="en" sz="900">
                <a:solidFill>
                  <a:schemeClr val="lt1"/>
                </a:solidFill>
                <a:latin typeface="Open Sans"/>
                <a:ea typeface="Open Sans"/>
                <a:cs typeface="Open Sans"/>
                <a:sym typeface="Open Sans"/>
              </a:rPr>
              <a:t>Helps to standardize and/or normalize data values</a:t>
            </a:r>
            <a:endParaRPr sz="900">
              <a:solidFill>
                <a:schemeClr val="lt1"/>
              </a:solidFill>
              <a:latin typeface="Open Sans"/>
              <a:ea typeface="Open Sans"/>
              <a:cs typeface="Open Sans"/>
              <a:sym typeface="Open Sans"/>
            </a:endParaRPr>
          </a:p>
          <a:p>
            <a:pPr indent="-285750" lvl="0" marL="457200" rtl="0" algn="l">
              <a:lnSpc>
                <a:spcPct val="150000"/>
              </a:lnSpc>
              <a:spcBef>
                <a:spcPts val="0"/>
              </a:spcBef>
              <a:spcAft>
                <a:spcPts val="0"/>
              </a:spcAft>
              <a:buClr>
                <a:schemeClr val="lt1"/>
              </a:buClr>
              <a:buSzPts val="900"/>
              <a:buFont typeface="Open Sans"/>
              <a:buChar char="●"/>
            </a:pPr>
            <a:r>
              <a:rPr lang="en" sz="900">
                <a:solidFill>
                  <a:schemeClr val="lt1"/>
                </a:solidFill>
                <a:latin typeface="Open Sans"/>
                <a:ea typeface="Open Sans"/>
                <a:cs typeface="Open Sans"/>
                <a:sym typeface="Open Sans"/>
              </a:rPr>
              <a:t>Overlap between teams and jobs between SWE, DS, and Cyber</a:t>
            </a:r>
            <a:endParaRPr sz="900">
              <a:solidFill>
                <a:schemeClr val="lt1"/>
              </a:solidFill>
              <a:latin typeface="Open Sans"/>
              <a:ea typeface="Open Sans"/>
              <a:cs typeface="Open Sans"/>
              <a:sym typeface="Open Sans"/>
            </a:endParaRPr>
          </a:p>
          <a:p>
            <a:pPr indent="0" lvl="0" marL="914400" rtl="0" algn="l">
              <a:lnSpc>
                <a:spcPct val="150000"/>
              </a:lnSpc>
              <a:spcBef>
                <a:spcPts val="0"/>
              </a:spcBef>
              <a:spcAft>
                <a:spcPts val="0"/>
              </a:spcAft>
              <a:buNone/>
            </a:pPr>
            <a:r>
              <a:t/>
            </a:r>
            <a:endParaRPr sz="900">
              <a:solidFill>
                <a:schemeClr val="lt1"/>
              </a:solidFill>
              <a:latin typeface="Open Sans"/>
              <a:ea typeface="Open Sans"/>
              <a:cs typeface="Open Sans"/>
              <a:sym typeface="Open Sans"/>
            </a:endParaRPr>
          </a:p>
        </p:txBody>
      </p:sp>
      <p:sp>
        <p:nvSpPr>
          <p:cNvPr id="84" name="Google Shape;84;p16"/>
          <p:cNvSpPr txBox="1"/>
          <p:nvPr>
            <p:ph type="title"/>
          </p:nvPr>
        </p:nvSpPr>
        <p:spPr>
          <a:xfrm>
            <a:off x="427172" y="189100"/>
            <a:ext cx="8069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200">
                <a:latin typeface="Fira Sans"/>
                <a:ea typeface="Fira Sans"/>
                <a:cs typeface="Fira Sans"/>
                <a:sym typeface="Fira Sans"/>
              </a:rPr>
              <a:t>Data Engineering</a:t>
            </a:r>
            <a:endParaRPr b="1" sz="2200">
              <a:latin typeface="Fira Sans"/>
              <a:ea typeface="Fira Sans"/>
              <a:cs typeface="Fira Sans"/>
              <a:sym typeface="Fira Sans"/>
            </a:endParaRPr>
          </a:p>
          <a:p>
            <a:pPr indent="0" lvl="0" marL="0" rtl="0" algn="l">
              <a:lnSpc>
                <a:spcPct val="100000"/>
              </a:lnSpc>
              <a:spcBef>
                <a:spcPts val="0"/>
              </a:spcBef>
              <a:spcAft>
                <a:spcPts val="0"/>
              </a:spcAft>
              <a:buSzPts val="1100"/>
              <a:buNone/>
            </a:pPr>
            <a:r>
              <a:t/>
            </a:r>
            <a:endParaRPr b="1" sz="2200">
              <a:latin typeface="Fira Sans"/>
              <a:ea typeface="Fira Sans"/>
              <a:cs typeface="Fira Sans"/>
              <a:sym typeface="Fir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p:nvPr/>
        </p:nvSpPr>
        <p:spPr>
          <a:xfrm>
            <a:off x="0" y="0"/>
            <a:ext cx="9144000" cy="1575900"/>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 name="Google Shape;90;p17"/>
          <p:cNvPicPr preferRelativeResize="0"/>
          <p:nvPr/>
        </p:nvPicPr>
        <p:blipFill rotWithShape="1">
          <a:blip r:embed="rId3">
            <a:alphaModFix/>
          </a:blip>
          <a:srcRect b="1448" l="15098" r="8647" t="29922"/>
          <a:stretch/>
        </p:blipFill>
        <p:spPr>
          <a:xfrm>
            <a:off x="3288225" y="1329833"/>
            <a:ext cx="2254200" cy="1365300"/>
          </a:xfrm>
          <a:prstGeom prst="roundRect">
            <a:avLst>
              <a:gd fmla="val 0" name="adj"/>
            </a:avLst>
          </a:prstGeom>
          <a:noFill/>
          <a:ln>
            <a:noFill/>
          </a:ln>
        </p:spPr>
      </p:pic>
      <p:sp>
        <p:nvSpPr>
          <p:cNvPr id="91" name="Google Shape;91;p17"/>
          <p:cNvSpPr/>
          <p:nvPr/>
        </p:nvSpPr>
        <p:spPr>
          <a:xfrm>
            <a:off x="3288225" y="1329825"/>
            <a:ext cx="2258400" cy="1365300"/>
          </a:xfrm>
          <a:prstGeom prst="roundRect">
            <a:avLst>
              <a:gd fmla="val 0" name="adj"/>
            </a:avLst>
          </a:prstGeom>
          <a:solidFill>
            <a:srgbClr val="01ADE2">
              <a:alpha val="68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7"/>
          <p:cNvSpPr txBox="1"/>
          <p:nvPr/>
        </p:nvSpPr>
        <p:spPr>
          <a:xfrm>
            <a:off x="3183475" y="2844850"/>
            <a:ext cx="2565900" cy="1428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900">
                <a:solidFill>
                  <a:srgbClr val="1A1A1A"/>
                </a:solidFill>
                <a:latin typeface="Open Sans"/>
                <a:ea typeface="Open Sans"/>
                <a:cs typeface="Open Sans"/>
                <a:sym typeface="Open Sans"/>
              </a:rPr>
              <a:t>Real-time market data, credit monitoring data, fraud </a:t>
            </a:r>
            <a:r>
              <a:rPr lang="en" sz="900">
                <a:solidFill>
                  <a:srgbClr val="1A1A1A"/>
                </a:solidFill>
                <a:latin typeface="Open Sans"/>
                <a:ea typeface="Open Sans"/>
                <a:cs typeface="Open Sans"/>
                <a:sym typeface="Open Sans"/>
              </a:rPr>
              <a:t>detection</a:t>
            </a:r>
            <a:r>
              <a:rPr lang="en" sz="900">
                <a:solidFill>
                  <a:srgbClr val="1A1A1A"/>
                </a:solidFill>
                <a:latin typeface="Open Sans"/>
                <a:ea typeface="Open Sans"/>
                <a:cs typeface="Open Sans"/>
                <a:sym typeface="Open Sans"/>
              </a:rPr>
              <a:t> models, and investing platforms. Data is </a:t>
            </a:r>
            <a:r>
              <a:rPr lang="en" sz="900">
                <a:solidFill>
                  <a:srgbClr val="1A1A1A"/>
                </a:solidFill>
                <a:latin typeface="Open Sans"/>
                <a:ea typeface="Open Sans"/>
                <a:cs typeface="Open Sans"/>
                <a:sym typeface="Open Sans"/>
              </a:rPr>
              <a:t>leverage</a:t>
            </a:r>
            <a:r>
              <a:rPr lang="en" sz="900">
                <a:solidFill>
                  <a:srgbClr val="1A1A1A"/>
                </a:solidFill>
                <a:latin typeface="Open Sans"/>
                <a:ea typeface="Open Sans"/>
                <a:cs typeface="Open Sans"/>
                <a:sym typeface="Open Sans"/>
              </a:rPr>
              <a:t> to produce and optimize stock trading and even detect fraudulent transactions.</a:t>
            </a:r>
            <a:endParaRPr sz="900">
              <a:solidFill>
                <a:srgbClr val="1A1A1A"/>
              </a:solidFill>
              <a:latin typeface="Open Sans"/>
              <a:ea typeface="Open Sans"/>
              <a:cs typeface="Open Sans"/>
              <a:sym typeface="Open Sans"/>
            </a:endParaRPr>
          </a:p>
          <a:p>
            <a:pPr indent="0" lvl="0" marL="0" rtl="0" algn="l">
              <a:lnSpc>
                <a:spcPct val="150000"/>
              </a:lnSpc>
              <a:spcBef>
                <a:spcPts val="0"/>
              </a:spcBef>
              <a:spcAft>
                <a:spcPts val="0"/>
              </a:spcAft>
              <a:buClr>
                <a:srgbClr val="000000"/>
              </a:buClr>
              <a:buSzPts val="1100"/>
              <a:buFont typeface="Arial"/>
              <a:buNone/>
            </a:pPr>
            <a:r>
              <a:t/>
            </a:r>
            <a:endParaRPr sz="900">
              <a:solidFill>
                <a:srgbClr val="1A1A1A"/>
              </a:solidFill>
              <a:latin typeface="Open Sans"/>
              <a:ea typeface="Open Sans"/>
              <a:cs typeface="Open Sans"/>
              <a:sym typeface="Open Sans"/>
            </a:endParaRPr>
          </a:p>
        </p:txBody>
      </p:sp>
      <p:sp>
        <p:nvSpPr>
          <p:cNvPr id="93" name="Google Shape;93;p17"/>
          <p:cNvSpPr txBox="1"/>
          <p:nvPr/>
        </p:nvSpPr>
        <p:spPr>
          <a:xfrm>
            <a:off x="6045275" y="2844800"/>
            <a:ext cx="2461200" cy="1542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900">
                <a:solidFill>
                  <a:srgbClr val="1A1A1A"/>
                </a:solidFill>
                <a:latin typeface="Open Sans"/>
                <a:ea typeface="Open Sans"/>
                <a:cs typeface="Open Sans"/>
                <a:sym typeface="Open Sans"/>
              </a:rPr>
              <a:t>In the moment real-time data processing during rides and pickups. Connect customer to drivers. Store driver ratings and reviews. Leverage historical data to adjust market prices and surge timings. System for users to interact with and review drivers improves retention.</a:t>
            </a:r>
            <a:endParaRPr sz="900">
              <a:solidFill>
                <a:srgbClr val="1A1A1A"/>
              </a:solidFill>
              <a:latin typeface="Open Sans"/>
              <a:ea typeface="Open Sans"/>
              <a:cs typeface="Open Sans"/>
              <a:sym typeface="Open Sans"/>
            </a:endParaRPr>
          </a:p>
          <a:p>
            <a:pPr indent="0" lvl="0" marL="0" rtl="0" algn="l">
              <a:lnSpc>
                <a:spcPct val="150000"/>
              </a:lnSpc>
              <a:spcBef>
                <a:spcPts val="0"/>
              </a:spcBef>
              <a:spcAft>
                <a:spcPts val="0"/>
              </a:spcAft>
              <a:buClr>
                <a:srgbClr val="000000"/>
              </a:buClr>
              <a:buSzPts val="1100"/>
              <a:buFont typeface="Arial"/>
              <a:buNone/>
            </a:pPr>
            <a:r>
              <a:t/>
            </a:r>
            <a:endParaRPr sz="900">
              <a:solidFill>
                <a:srgbClr val="1A1A1A"/>
              </a:solidFill>
              <a:latin typeface="Open Sans"/>
              <a:ea typeface="Open Sans"/>
              <a:cs typeface="Open Sans"/>
              <a:sym typeface="Open Sans"/>
            </a:endParaRPr>
          </a:p>
        </p:txBody>
      </p:sp>
      <p:sp>
        <p:nvSpPr>
          <p:cNvPr id="94" name="Google Shape;94;p17"/>
          <p:cNvSpPr txBox="1"/>
          <p:nvPr/>
        </p:nvSpPr>
        <p:spPr>
          <a:xfrm>
            <a:off x="353000" y="2844800"/>
            <a:ext cx="2461200" cy="1519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rgbClr val="000000"/>
              </a:buClr>
              <a:buSzPts val="1100"/>
              <a:buFont typeface="Arial"/>
              <a:buNone/>
            </a:pPr>
            <a:r>
              <a:rPr lang="en" sz="900">
                <a:solidFill>
                  <a:srgbClr val="1A1A1A"/>
                </a:solidFill>
                <a:latin typeface="Open Sans"/>
                <a:ea typeface="Open Sans"/>
                <a:cs typeface="Open Sans"/>
                <a:sym typeface="Open Sans"/>
              </a:rPr>
              <a:t>Customer account data, real-time </a:t>
            </a:r>
            <a:r>
              <a:rPr lang="en" sz="900">
                <a:solidFill>
                  <a:srgbClr val="1A1A1A"/>
                </a:solidFill>
                <a:latin typeface="Open Sans"/>
                <a:ea typeface="Open Sans"/>
                <a:cs typeface="Open Sans"/>
                <a:sym typeface="Open Sans"/>
              </a:rPr>
              <a:t>website</a:t>
            </a:r>
            <a:r>
              <a:rPr lang="en" sz="900">
                <a:solidFill>
                  <a:srgbClr val="1A1A1A"/>
                </a:solidFill>
                <a:latin typeface="Open Sans"/>
                <a:ea typeface="Open Sans"/>
                <a:cs typeface="Open Sans"/>
                <a:sym typeface="Open Sans"/>
              </a:rPr>
              <a:t> traffic and interaction data, product sales data, user behavior and purchasing patterns, and many others all need to be handled differently. Leverage data to optimize logistics, leverage data to produce quality recommendations.</a:t>
            </a:r>
            <a:endParaRPr sz="900">
              <a:solidFill>
                <a:srgbClr val="1A1A1A"/>
              </a:solidFill>
              <a:latin typeface="Open Sans"/>
              <a:ea typeface="Open Sans"/>
              <a:cs typeface="Open Sans"/>
              <a:sym typeface="Open Sans"/>
            </a:endParaRPr>
          </a:p>
        </p:txBody>
      </p:sp>
      <p:pic>
        <p:nvPicPr>
          <p:cNvPr id="95" name="Google Shape;95;p17"/>
          <p:cNvPicPr preferRelativeResize="0"/>
          <p:nvPr/>
        </p:nvPicPr>
        <p:blipFill rotWithShape="1">
          <a:blip r:embed="rId4">
            <a:alphaModFix/>
          </a:blip>
          <a:srcRect b="6899" l="14215" r="14207" t="28742"/>
          <a:stretch/>
        </p:blipFill>
        <p:spPr>
          <a:xfrm>
            <a:off x="6138125" y="1329833"/>
            <a:ext cx="2254200" cy="1365300"/>
          </a:xfrm>
          <a:prstGeom prst="roundRect">
            <a:avLst>
              <a:gd fmla="val 0" name="adj"/>
            </a:avLst>
          </a:prstGeom>
          <a:noFill/>
          <a:ln>
            <a:noFill/>
          </a:ln>
        </p:spPr>
      </p:pic>
      <p:sp>
        <p:nvSpPr>
          <p:cNvPr id="96" name="Google Shape;96;p17"/>
          <p:cNvSpPr/>
          <p:nvPr/>
        </p:nvSpPr>
        <p:spPr>
          <a:xfrm>
            <a:off x="6138150" y="1329834"/>
            <a:ext cx="2254200" cy="1365300"/>
          </a:xfrm>
          <a:prstGeom prst="roundRect">
            <a:avLst>
              <a:gd fmla="val 0" name="adj"/>
            </a:avLst>
          </a:prstGeom>
          <a:solidFill>
            <a:srgbClr val="01ADE2">
              <a:alpha val="68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7"/>
          <p:cNvSpPr txBox="1"/>
          <p:nvPr/>
        </p:nvSpPr>
        <p:spPr>
          <a:xfrm>
            <a:off x="6175173" y="1867721"/>
            <a:ext cx="2217000" cy="23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700">
                <a:solidFill>
                  <a:srgbClr val="FFFFFF"/>
                </a:solidFill>
                <a:latin typeface="Fira Sans Medium"/>
                <a:ea typeface="Fira Sans Medium"/>
                <a:cs typeface="Fira Sans Medium"/>
                <a:sym typeface="Fira Sans Medium"/>
              </a:rPr>
              <a:t>Uber:</a:t>
            </a:r>
            <a:endParaRPr sz="1700">
              <a:solidFill>
                <a:srgbClr val="FFFFFF"/>
              </a:solidFill>
              <a:latin typeface="Fira Sans Medium"/>
              <a:ea typeface="Fira Sans Medium"/>
              <a:cs typeface="Fira Sans Medium"/>
              <a:sym typeface="Fira Sans Medium"/>
            </a:endParaRPr>
          </a:p>
          <a:p>
            <a:pPr indent="0" lvl="0" marL="0" rtl="0" algn="ctr">
              <a:spcBef>
                <a:spcPts val="0"/>
              </a:spcBef>
              <a:spcAft>
                <a:spcPts val="0"/>
              </a:spcAft>
              <a:buClr>
                <a:srgbClr val="000000"/>
              </a:buClr>
              <a:buSzPts val="1100"/>
              <a:buFont typeface="Arial"/>
              <a:buNone/>
            </a:pPr>
            <a:r>
              <a:rPr lang="en" sz="1700">
                <a:solidFill>
                  <a:srgbClr val="FFFFFF"/>
                </a:solidFill>
                <a:latin typeface="Fira Sans Medium"/>
                <a:ea typeface="Fira Sans Medium"/>
                <a:cs typeface="Fira Sans Medium"/>
                <a:sym typeface="Fira Sans Medium"/>
              </a:rPr>
              <a:t>Logistics</a:t>
            </a:r>
            <a:endParaRPr sz="1700">
              <a:solidFill>
                <a:srgbClr val="FFFFFF"/>
              </a:solidFill>
              <a:latin typeface="Fira Sans Medium"/>
              <a:ea typeface="Fira Sans Medium"/>
              <a:cs typeface="Fira Sans Medium"/>
              <a:sym typeface="Fira Sans Medium"/>
            </a:endParaRPr>
          </a:p>
        </p:txBody>
      </p:sp>
      <p:sp>
        <p:nvSpPr>
          <p:cNvPr id="98" name="Google Shape;98;p17"/>
          <p:cNvSpPr txBox="1"/>
          <p:nvPr/>
        </p:nvSpPr>
        <p:spPr>
          <a:xfrm>
            <a:off x="3292541" y="1867721"/>
            <a:ext cx="2254200" cy="23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700">
                <a:solidFill>
                  <a:srgbClr val="FFFFFF"/>
                </a:solidFill>
                <a:latin typeface="Fira Sans Medium"/>
                <a:ea typeface="Fira Sans Medium"/>
                <a:cs typeface="Fira Sans Medium"/>
                <a:sym typeface="Fira Sans Medium"/>
              </a:rPr>
              <a:t>Finance:</a:t>
            </a:r>
            <a:endParaRPr sz="1700">
              <a:solidFill>
                <a:srgbClr val="FFFFFF"/>
              </a:solidFill>
              <a:latin typeface="Fira Sans Medium"/>
              <a:ea typeface="Fira Sans Medium"/>
              <a:cs typeface="Fira Sans Medium"/>
              <a:sym typeface="Fira Sans Medium"/>
            </a:endParaRPr>
          </a:p>
          <a:p>
            <a:pPr indent="0" lvl="0" marL="0" rtl="0" algn="ctr">
              <a:spcBef>
                <a:spcPts val="0"/>
              </a:spcBef>
              <a:spcAft>
                <a:spcPts val="0"/>
              </a:spcAft>
              <a:buClr>
                <a:srgbClr val="000000"/>
              </a:buClr>
              <a:buSzPts val="1100"/>
              <a:buFont typeface="Arial"/>
              <a:buNone/>
            </a:pPr>
            <a:r>
              <a:rPr lang="en" sz="1700">
                <a:solidFill>
                  <a:srgbClr val="FFFFFF"/>
                </a:solidFill>
                <a:latin typeface="Fira Sans Medium"/>
                <a:ea typeface="Fira Sans Medium"/>
                <a:cs typeface="Fira Sans Medium"/>
                <a:sym typeface="Fira Sans Medium"/>
              </a:rPr>
              <a:t>Etrade</a:t>
            </a:r>
            <a:endParaRPr sz="1700">
              <a:solidFill>
                <a:srgbClr val="FFFFFF"/>
              </a:solidFill>
              <a:latin typeface="Fira Sans Medium"/>
              <a:ea typeface="Fira Sans Medium"/>
              <a:cs typeface="Fira Sans Medium"/>
              <a:sym typeface="Fira Sans Medium"/>
            </a:endParaRPr>
          </a:p>
        </p:txBody>
      </p:sp>
      <p:pic>
        <p:nvPicPr>
          <p:cNvPr id="99" name="Google Shape;99;p17"/>
          <p:cNvPicPr preferRelativeResize="0"/>
          <p:nvPr/>
        </p:nvPicPr>
        <p:blipFill rotWithShape="1">
          <a:blip r:embed="rId5">
            <a:alphaModFix/>
          </a:blip>
          <a:srcRect b="-10" l="0" r="0" t="0"/>
          <a:stretch/>
        </p:blipFill>
        <p:spPr>
          <a:xfrm>
            <a:off x="370700" y="4817918"/>
            <a:ext cx="1205250" cy="127750"/>
          </a:xfrm>
          <a:prstGeom prst="rect">
            <a:avLst/>
          </a:prstGeom>
          <a:noFill/>
          <a:ln>
            <a:noFill/>
          </a:ln>
        </p:spPr>
      </p:pic>
      <p:pic>
        <p:nvPicPr>
          <p:cNvPr id="100" name="Google Shape;100;p17"/>
          <p:cNvPicPr preferRelativeResize="0"/>
          <p:nvPr/>
        </p:nvPicPr>
        <p:blipFill rotWithShape="1">
          <a:blip r:embed="rId6">
            <a:alphaModFix/>
          </a:blip>
          <a:srcRect b="10957" l="0" r="-100" t="-187"/>
          <a:stretch/>
        </p:blipFill>
        <p:spPr>
          <a:xfrm>
            <a:off x="438325" y="1329834"/>
            <a:ext cx="2254200" cy="1365300"/>
          </a:xfrm>
          <a:prstGeom prst="roundRect">
            <a:avLst>
              <a:gd fmla="val 0" name="adj"/>
            </a:avLst>
          </a:prstGeom>
          <a:noFill/>
          <a:ln>
            <a:noFill/>
          </a:ln>
        </p:spPr>
      </p:pic>
      <p:sp>
        <p:nvSpPr>
          <p:cNvPr id="101" name="Google Shape;101;p17"/>
          <p:cNvSpPr/>
          <p:nvPr/>
        </p:nvSpPr>
        <p:spPr>
          <a:xfrm>
            <a:off x="438325" y="1329834"/>
            <a:ext cx="2254200" cy="1365300"/>
          </a:xfrm>
          <a:prstGeom prst="roundRect">
            <a:avLst>
              <a:gd fmla="val 0" name="adj"/>
            </a:avLst>
          </a:prstGeom>
          <a:solidFill>
            <a:srgbClr val="01ADE2">
              <a:alpha val="686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7"/>
          <p:cNvSpPr txBox="1"/>
          <p:nvPr/>
        </p:nvSpPr>
        <p:spPr>
          <a:xfrm>
            <a:off x="446950" y="1867721"/>
            <a:ext cx="2254200" cy="23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700">
                <a:solidFill>
                  <a:srgbClr val="FFFFFF"/>
                </a:solidFill>
                <a:latin typeface="Fira Sans Medium"/>
                <a:ea typeface="Fira Sans Medium"/>
                <a:cs typeface="Fira Sans Medium"/>
                <a:sym typeface="Fira Sans Medium"/>
              </a:rPr>
              <a:t>E-Commerce: Amazon</a:t>
            </a:r>
            <a:endParaRPr sz="1700">
              <a:solidFill>
                <a:srgbClr val="FFFFFF"/>
              </a:solidFill>
              <a:latin typeface="Fira Sans Medium"/>
              <a:ea typeface="Fira Sans Medium"/>
              <a:cs typeface="Fira Sans Medium"/>
              <a:sym typeface="Fira Sans Medium"/>
            </a:endParaRPr>
          </a:p>
        </p:txBody>
      </p:sp>
      <p:sp>
        <p:nvSpPr>
          <p:cNvPr id="103" name="Google Shape;103;p17"/>
          <p:cNvSpPr txBox="1"/>
          <p:nvPr>
            <p:ph type="title"/>
          </p:nvPr>
        </p:nvSpPr>
        <p:spPr>
          <a:xfrm>
            <a:off x="280855" y="445325"/>
            <a:ext cx="8513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rgbClr val="101820"/>
                </a:solidFill>
                <a:latin typeface="Fira Sans ExtraBold"/>
                <a:ea typeface="Fira Sans ExtraBold"/>
                <a:cs typeface="Fira Sans ExtraBold"/>
                <a:sym typeface="Fira Sans ExtraBold"/>
              </a:rPr>
              <a:t>Industry Examples</a:t>
            </a:r>
            <a:endParaRPr>
              <a:solidFill>
                <a:srgbClr val="101820"/>
              </a:solidFill>
              <a:latin typeface="Fira Sans ExtraBold"/>
              <a:ea typeface="Fira Sans ExtraBold"/>
              <a:cs typeface="Fira Sans ExtraBold"/>
              <a:sym typeface="Fira Sans Ex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18"/>
          <p:cNvSpPr/>
          <p:nvPr/>
        </p:nvSpPr>
        <p:spPr>
          <a:xfrm>
            <a:off x="3398625" y="0"/>
            <a:ext cx="5745300" cy="5143500"/>
          </a:xfrm>
          <a:prstGeom prst="rect">
            <a:avLst/>
          </a:prstGeom>
          <a:solidFill>
            <a:srgbClr val="1B26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09" name="Google Shape;109;p18"/>
          <p:cNvSpPr txBox="1"/>
          <p:nvPr/>
        </p:nvSpPr>
        <p:spPr>
          <a:xfrm>
            <a:off x="4082175" y="150751"/>
            <a:ext cx="4378200" cy="4698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a:solidFill>
                  <a:schemeClr val="lt1"/>
                </a:solidFill>
                <a:latin typeface="Fira Sans"/>
                <a:ea typeface="Fira Sans"/>
                <a:cs typeface="Fira Sans"/>
                <a:sym typeface="Fira Sans"/>
              </a:rPr>
              <a:t>Generation</a:t>
            </a:r>
            <a:endParaRPr b="1">
              <a:solidFill>
                <a:schemeClr val="lt1"/>
              </a:solidFill>
              <a:latin typeface="Fira Sans"/>
              <a:ea typeface="Fira Sans"/>
              <a:cs typeface="Fira Sans"/>
              <a:sym typeface="Fira Sans"/>
            </a:endParaRPr>
          </a:p>
          <a:p>
            <a:pPr indent="0" lvl="0" marL="0" rtl="0" algn="l">
              <a:lnSpc>
                <a:spcPct val="150000"/>
              </a:lnSpc>
              <a:spcBef>
                <a:spcPts val="300"/>
              </a:spcBef>
              <a:spcAft>
                <a:spcPts val="0"/>
              </a:spcAft>
              <a:buClr>
                <a:schemeClr val="dk1"/>
              </a:buClr>
              <a:buSzPts val="1100"/>
              <a:buFont typeface="Arial"/>
              <a:buNone/>
            </a:pPr>
            <a:r>
              <a:rPr lang="en" sz="900">
                <a:solidFill>
                  <a:schemeClr val="lt1"/>
                </a:solidFill>
                <a:latin typeface="Open Sans"/>
                <a:ea typeface="Open Sans"/>
                <a:cs typeface="Open Sans"/>
                <a:sym typeface="Open Sans"/>
              </a:rPr>
              <a:t>Capturing and collecting ‘raw’ data from any number of sources be it website interactions or user inputted information.</a:t>
            </a:r>
            <a:br>
              <a:rPr lang="en" sz="900">
                <a:solidFill>
                  <a:schemeClr val="lt1"/>
                </a:solidFill>
                <a:latin typeface="Open Sans Medium"/>
                <a:ea typeface="Open Sans Medium"/>
                <a:cs typeface="Open Sans Medium"/>
                <a:sym typeface="Open Sans Medium"/>
              </a:rPr>
            </a:br>
            <a:br>
              <a:rPr lang="en" sz="900">
                <a:solidFill>
                  <a:schemeClr val="lt1"/>
                </a:solidFill>
                <a:latin typeface="Open Sans Medium"/>
                <a:ea typeface="Open Sans Medium"/>
                <a:cs typeface="Open Sans Medium"/>
                <a:sym typeface="Open Sans Medium"/>
              </a:rPr>
            </a:br>
            <a:r>
              <a:rPr b="1" lang="en">
                <a:solidFill>
                  <a:schemeClr val="lt1"/>
                </a:solidFill>
                <a:latin typeface="Fira Sans"/>
                <a:ea typeface="Fira Sans"/>
                <a:cs typeface="Fira Sans"/>
                <a:sym typeface="Fira Sans"/>
              </a:rPr>
              <a:t>Storage</a:t>
            </a:r>
            <a:endParaRPr b="1">
              <a:solidFill>
                <a:schemeClr val="lt1"/>
              </a:solidFill>
              <a:latin typeface="Fira Sans"/>
              <a:ea typeface="Fira Sans"/>
              <a:cs typeface="Fira Sans"/>
              <a:sym typeface="Fira Sans"/>
            </a:endParaRPr>
          </a:p>
          <a:p>
            <a:pPr indent="0" lvl="0" marL="0" rtl="0" algn="l">
              <a:lnSpc>
                <a:spcPct val="150000"/>
              </a:lnSpc>
              <a:spcBef>
                <a:spcPts val="300"/>
              </a:spcBef>
              <a:spcAft>
                <a:spcPts val="0"/>
              </a:spcAft>
              <a:buClr>
                <a:schemeClr val="dk1"/>
              </a:buClr>
              <a:buSzPts val="1100"/>
              <a:buFont typeface="Arial"/>
              <a:buNone/>
            </a:pPr>
            <a:r>
              <a:rPr lang="en" sz="900">
                <a:solidFill>
                  <a:schemeClr val="lt1"/>
                </a:solidFill>
                <a:latin typeface="Open Sans"/>
                <a:ea typeface="Open Sans"/>
                <a:cs typeface="Open Sans"/>
                <a:sym typeface="Open Sans"/>
              </a:rPr>
              <a:t>How and where does the data get stored after generation including databases, data warehouses, data lakes and other forms of storage.</a:t>
            </a:r>
            <a:br>
              <a:rPr lang="en" sz="900">
                <a:solidFill>
                  <a:schemeClr val="lt1"/>
                </a:solidFill>
                <a:latin typeface="Open Sans"/>
                <a:ea typeface="Open Sans"/>
                <a:cs typeface="Open Sans"/>
                <a:sym typeface="Open Sans"/>
              </a:rPr>
            </a:br>
            <a:br>
              <a:rPr lang="en" sz="900">
                <a:solidFill>
                  <a:schemeClr val="lt1"/>
                </a:solidFill>
                <a:latin typeface="Open Sans"/>
                <a:ea typeface="Open Sans"/>
                <a:cs typeface="Open Sans"/>
                <a:sym typeface="Open Sans"/>
              </a:rPr>
            </a:br>
            <a:r>
              <a:rPr b="1" lang="en">
                <a:solidFill>
                  <a:schemeClr val="lt1"/>
                </a:solidFill>
                <a:latin typeface="Fira Sans"/>
                <a:ea typeface="Fira Sans"/>
                <a:cs typeface="Fira Sans"/>
                <a:sym typeface="Fira Sans"/>
              </a:rPr>
              <a:t>Ingestion</a:t>
            </a:r>
            <a:endParaRPr b="1">
              <a:solidFill>
                <a:schemeClr val="lt1"/>
              </a:solidFill>
              <a:latin typeface="Fira Sans"/>
              <a:ea typeface="Fira Sans"/>
              <a:cs typeface="Fira Sans"/>
              <a:sym typeface="Fira Sans"/>
            </a:endParaRPr>
          </a:p>
          <a:p>
            <a:pPr indent="0" lvl="0" marL="0" rtl="0" algn="l">
              <a:lnSpc>
                <a:spcPct val="150000"/>
              </a:lnSpc>
              <a:spcBef>
                <a:spcPts val="300"/>
              </a:spcBef>
              <a:spcAft>
                <a:spcPts val="0"/>
              </a:spcAft>
              <a:buClr>
                <a:schemeClr val="dk1"/>
              </a:buClr>
              <a:buSzPts val="1100"/>
              <a:buFont typeface="Arial"/>
              <a:buNone/>
            </a:pPr>
            <a:r>
              <a:rPr lang="en" sz="900">
                <a:solidFill>
                  <a:schemeClr val="lt1"/>
                </a:solidFill>
                <a:latin typeface="Open Sans"/>
                <a:ea typeface="Open Sans"/>
                <a:cs typeface="Open Sans"/>
                <a:sym typeface="Open Sans"/>
              </a:rPr>
              <a:t>Extraction of data from source or storage into pipeline for processing and transformation. Can occur between generation and storage.</a:t>
            </a:r>
            <a:endParaRPr sz="900">
              <a:solidFill>
                <a:schemeClr val="lt1"/>
              </a:solidFill>
              <a:latin typeface="Open Sans Medium"/>
              <a:ea typeface="Open Sans Medium"/>
              <a:cs typeface="Open Sans Medium"/>
              <a:sym typeface="Open Sans Medium"/>
            </a:endParaRPr>
          </a:p>
          <a:p>
            <a:pPr indent="0" lvl="0" marL="0" rtl="0" algn="l">
              <a:lnSpc>
                <a:spcPct val="150000"/>
              </a:lnSpc>
              <a:spcBef>
                <a:spcPts val="300"/>
              </a:spcBef>
              <a:spcAft>
                <a:spcPts val="0"/>
              </a:spcAft>
              <a:buClr>
                <a:schemeClr val="dk1"/>
              </a:buClr>
              <a:buSzPts val="1100"/>
              <a:buFont typeface="Arial"/>
              <a:buNone/>
            </a:pPr>
            <a:r>
              <a:rPr b="1" lang="en">
                <a:solidFill>
                  <a:schemeClr val="lt1"/>
                </a:solidFill>
                <a:latin typeface="Fira Sans"/>
                <a:ea typeface="Fira Sans"/>
                <a:cs typeface="Fira Sans"/>
                <a:sym typeface="Fira Sans"/>
              </a:rPr>
              <a:t>Transformation</a:t>
            </a:r>
            <a:endParaRPr b="1">
              <a:solidFill>
                <a:schemeClr val="lt1"/>
              </a:solidFill>
              <a:latin typeface="Fira Sans"/>
              <a:ea typeface="Fira Sans"/>
              <a:cs typeface="Fira Sans"/>
              <a:sym typeface="Fira Sans"/>
            </a:endParaRPr>
          </a:p>
          <a:p>
            <a:pPr indent="0" lvl="0" marL="0" rtl="0" algn="l">
              <a:lnSpc>
                <a:spcPct val="150000"/>
              </a:lnSpc>
              <a:spcBef>
                <a:spcPts val="300"/>
              </a:spcBef>
              <a:spcAft>
                <a:spcPts val="0"/>
              </a:spcAft>
              <a:buClr>
                <a:schemeClr val="dk1"/>
              </a:buClr>
              <a:buSzPts val="1100"/>
              <a:buFont typeface="Arial"/>
              <a:buNone/>
            </a:pPr>
            <a:r>
              <a:rPr lang="en" sz="900">
                <a:solidFill>
                  <a:schemeClr val="lt1"/>
                </a:solidFill>
                <a:latin typeface="Open Sans"/>
                <a:ea typeface="Open Sans"/>
                <a:cs typeface="Open Sans"/>
                <a:sym typeface="Open Sans"/>
              </a:rPr>
              <a:t>Any processing of the data including normalizing, filtering, reformatting, and aggregating that makes the data for suitable for use.</a:t>
            </a:r>
            <a:endParaRPr sz="900">
              <a:solidFill>
                <a:schemeClr val="lt1"/>
              </a:solidFill>
              <a:latin typeface="Open Sans"/>
              <a:ea typeface="Open Sans"/>
              <a:cs typeface="Open Sans"/>
              <a:sym typeface="Open Sans"/>
            </a:endParaRPr>
          </a:p>
          <a:p>
            <a:pPr indent="0" lvl="0" marL="0" rtl="0" algn="l">
              <a:lnSpc>
                <a:spcPct val="150000"/>
              </a:lnSpc>
              <a:spcBef>
                <a:spcPts val="300"/>
              </a:spcBef>
              <a:spcAft>
                <a:spcPts val="0"/>
              </a:spcAft>
              <a:buClr>
                <a:schemeClr val="dk1"/>
              </a:buClr>
              <a:buSzPts val="1100"/>
              <a:buFont typeface="Arial"/>
              <a:buNone/>
            </a:pPr>
            <a:r>
              <a:rPr b="1" lang="en">
                <a:solidFill>
                  <a:schemeClr val="lt1"/>
                </a:solidFill>
                <a:latin typeface="Fira Sans"/>
                <a:ea typeface="Fira Sans"/>
                <a:cs typeface="Fira Sans"/>
                <a:sym typeface="Fira Sans"/>
              </a:rPr>
              <a:t>Serving</a:t>
            </a:r>
            <a:endParaRPr b="1">
              <a:solidFill>
                <a:schemeClr val="lt1"/>
              </a:solidFill>
              <a:latin typeface="Fira Sans"/>
              <a:ea typeface="Fira Sans"/>
              <a:cs typeface="Fira Sans"/>
              <a:sym typeface="Fira Sans"/>
            </a:endParaRPr>
          </a:p>
          <a:p>
            <a:pPr indent="0" lvl="0" marL="0" rtl="0" algn="l">
              <a:lnSpc>
                <a:spcPct val="150000"/>
              </a:lnSpc>
              <a:spcBef>
                <a:spcPts val="300"/>
              </a:spcBef>
              <a:spcAft>
                <a:spcPts val="300"/>
              </a:spcAft>
              <a:buClr>
                <a:schemeClr val="dk1"/>
              </a:buClr>
              <a:buSzPts val="1100"/>
              <a:buFont typeface="Arial"/>
              <a:buNone/>
            </a:pPr>
            <a:r>
              <a:rPr lang="en" sz="900">
                <a:solidFill>
                  <a:schemeClr val="lt1"/>
                </a:solidFill>
                <a:latin typeface="Open Sans"/>
                <a:ea typeface="Open Sans"/>
                <a:cs typeface="Open Sans"/>
                <a:sym typeface="Open Sans"/>
              </a:rPr>
              <a:t>Making processed data available to end-users, applications, or necessary systems like payment processing.</a:t>
            </a:r>
            <a:endParaRPr sz="900">
              <a:solidFill>
                <a:schemeClr val="lt1"/>
              </a:solidFill>
              <a:latin typeface="Open Sans"/>
              <a:ea typeface="Open Sans"/>
              <a:cs typeface="Open Sans"/>
              <a:sym typeface="Open Sans"/>
            </a:endParaRPr>
          </a:p>
        </p:txBody>
      </p:sp>
      <p:sp>
        <p:nvSpPr>
          <p:cNvPr id="110" name="Google Shape;110;p18"/>
          <p:cNvSpPr txBox="1"/>
          <p:nvPr>
            <p:ph idx="4294967295" type="ctrTitle"/>
          </p:nvPr>
        </p:nvSpPr>
        <p:spPr>
          <a:xfrm>
            <a:off x="351375" y="623500"/>
            <a:ext cx="2877600" cy="1404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sz="3600">
                <a:solidFill>
                  <a:srgbClr val="1B2630"/>
                </a:solidFill>
                <a:latin typeface="Fira Sans"/>
                <a:ea typeface="Fira Sans"/>
                <a:cs typeface="Fira Sans"/>
                <a:sym typeface="Fira Sans"/>
              </a:rPr>
              <a:t>Lifecycle</a:t>
            </a:r>
            <a:endParaRPr b="1" sz="3600">
              <a:solidFill>
                <a:srgbClr val="1B2630"/>
              </a:solidFill>
              <a:latin typeface="Fira Sans"/>
              <a:ea typeface="Fira Sans"/>
              <a:cs typeface="Fira Sans"/>
              <a:sym typeface="Fira Sans"/>
            </a:endParaRPr>
          </a:p>
          <a:p>
            <a:pPr indent="0" lvl="0" marL="0" rtl="0" algn="l">
              <a:lnSpc>
                <a:spcPct val="100000"/>
              </a:lnSpc>
              <a:spcBef>
                <a:spcPts val="0"/>
              </a:spcBef>
              <a:spcAft>
                <a:spcPts val="0"/>
              </a:spcAft>
              <a:buSzPts val="1100"/>
              <a:buNone/>
            </a:pPr>
            <a:r>
              <a:t/>
            </a:r>
            <a:endParaRPr b="1" sz="3600">
              <a:solidFill>
                <a:srgbClr val="1B2630"/>
              </a:solidFill>
              <a:latin typeface="Fira Sans"/>
              <a:ea typeface="Fira Sans"/>
              <a:cs typeface="Fira Sans"/>
              <a:sym typeface="Fira Sans"/>
            </a:endParaRPr>
          </a:p>
          <a:p>
            <a:pPr indent="0" lvl="0" marL="0" rtl="0" algn="l">
              <a:lnSpc>
                <a:spcPct val="100000"/>
              </a:lnSpc>
              <a:spcBef>
                <a:spcPts val="0"/>
              </a:spcBef>
              <a:spcAft>
                <a:spcPts val="0"/>
              </a:spcAft>
              <a:buSzPts val="1100"/>
              <a:buNone/>
            </a:pPr>
            <a:r>
              <a:t/>
            </a:r>
            <a:endParaRPr b="1" sz="3600">
              <a:solidFill>
                <a:srgbClr val="1B2630"/>
              </a:solidFill>
              <a:latin typeface="Fira Sans"/>
              <a:ea typeface="Fira Sans"/>
              <a:cs typeface="Fira Sans"/>
              <a:sym typeface="Fira Sans"/>
            </a:endParaRPr>
          </a:p>
        </p:txBody>
      </p:sp>
      <p:pic>
        <p:nvPicPr>
          <p:cNvPr id="111" name="Google Shape;111;p18"/>
          <p:cNvPicPr preferRelativeResize="0"/>
          <p:nvPr/>
        </p:nvPicPr>
        <p:blipFill>
          <a:blip r:embed="rId3">
            <a:alphaModFix/>
          </a:blip>
          <a:stretch>
            <a:fillRect/>
          </a:stretch>
        </p:blipFill>
        <p:spPr>
          <a:xfrm>
            <a:off x="0" y="1820750"/>
            <a:ext cx="3354801" cy="1965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115" name="Shape 115"/>
        <p:cNvGrpSpPr/>
        <p:nvPr/>
      </p:nvGrpSpPr>
      <p:grpSpPr>
        <a:xfrm>
          <a:off x="0" y="0"/>
          <a:ext cx="0" cy="0"/>
          <a:chOff x="0" y="0"/>
          <a:chExt cx="0" cy="0"/>
        </a:xfrm>
      </p:grpSpPr>
      <p:pic>
        <p:nvPicPr>
          <p:cNvPr id="116" name="Google Shape;116;p19"/>
          <p:cNvPicPr preferRelativeResize="0"/>
          <p:nvPr/>
        </p:nvPicPr>
        <p:blipFill rotWithShape="1">
          <a:blip r:embed="rId3">
            <a:alphaModFix/>
          </a:blip>
          <a:srcRect b="-10" l="0" r="0" t="0"/>
          <a:stretch/>
        </p:blipFill>
        <p:spPr>
          <a:xfrm>
            <a:off x="370700" y="4817918"/>
            <a:ext cx="1205250" cy="127750"/>
          </a:xfrm>
          <a:prstGeom prst="rect">
            <a:avLst/>
          </a:prstGeom>
          <a:noFill/>
          <a:ln>
            <a:noFill/>
          </a:ln>
        </p:spPr>
      </p:pic>
      <p:sp>
        <p:nvSpPr>
          <p:cNvPr id="117" name="Google Shape;117;p19"/>
          <p:cNvSpPr/>
          <p:nvPr/>
        </p:nvSpPr>
        <p:spPr>
          <a:xfrm>
            <a:off x="3412300" y="0"/>
            <a:ext cx="5731800" cy="5143500"/>
          </a:xfrm>
          <a:prstGeom prst="rect">
            <a:avLst/>
          </a:prstGeom>
          <a:solidFill>
            <a:srgbClr val="1B26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18" name="Google Shape;118;p19"/>
          <p:cNvSpPr txBox="1"/>
          <p:nvPr/>
        </p:nvSpPr>
        <p:spPr>
          <a:xfrm>
            <a:off x="3922950" y="732875"/>
            <a:ext cx="2315100" cy="4030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a:solidFill>
                  <a:schemeClr val="lt1"/>
                </a:solidFill>
                <a:latin typeface="Fira Sans"/>
                <a:ea typeface="Fira Sans"/>
                <a:cs typeface="Fira Sans"/>
                <a:sym typeface="Fira Sans"/>
              </a:rPr>
              <a:t>Three Key Aspects</a:t>
            </a:r>
            <a:endParaRPr b="1">
              <a:solidFill>
                <a:schemeClr val="lt1"/>
              </a:solidFill>
              <a:latin typeface="Fira Sans"/>
              <a:ea typeface="Fira Sans"/>
              <a:cs typeface="Fira Sans"/>
              <a:sym typeface="Fira Sans"/>
            </a:endParaRPr>
          </a:p>
          <a:p>
            <a:pPr indent="-285750" lvl="0" marL="457200" rtl="0" algn="l">
              <a:lnSpc>
                <a:spcPct val="150000"/>
              </a:lnSpc>
              <a:spcBef>
                <a:spcPts val="300"/>
              </a:spcBef>
              <a:spcAft>
                <a:spcPts val="0"/>
              </a:spcAft>
              <a:buClr>
                <a:schemeClr val="lt1"/>
              </a:buClr>
              <a:buSzPts val="900"/>
              <a:buAutoNum type="arabicPeriod"/>
            </a:pPr>
            <a:r>
              <a:rPr lang="en" sz="900">
                <a:solidFill>
                  <a:schemeClr val="lt1"/>
                </a:solidFill>
                <a:latin typeface="Open Sans Medium"/>
                <a:ea typeface="Open Sans Medium"/>
                <a:cs typeface="Open Sans Medium"/>
                <a:sym typeface="Open Sans Medium"/>
              </a:rPr>
              <a:t>Confidentiality</a:t>
            </a:r>
            <a:endParaRPr sz="900">
              <a:solidFill>
                <a:schemeClr val="lt1"/>
              </a:solidFill>
              <a:latin typeface="Open Sans Medium"/>
              <a:ea typeface="Open Sans Medium"/>
              <a:cs typeface="Open Sans Medium"/>
              <a:sym typeface="Open Sans Medium"/>
            </a:endParaRPr>
          </a:p>
          <a:p>
            <a:pPr indent="-285750" lvl="0" marL="457200" rtl="0" algn="l">
              <a:lnSpc>
                <a:spcPct val="150000"/>
              </a:lnSpc>
              <a:spcBef>
                <a:spcPts val="0"/>
              </a:spcBef>
              <a:spcAft>
                <a:spcPts val="0"/>
              </a:spcAft>
              <a:buClr>
                <a:schemeClr val="lt1"/>
              </a:buClr>
              <a:buSzPts val="900"/>
              <a:buAutoNum type="arabicPeriod"/>
            </a:pPr>
            <a:r>
              <a:rPr lang="en" sz="900">
                <a:solidFill>
                  <a:schemeClr val="lt1"/>
                </a:solidFill>
                <a:latin typeface="Open Sans Medium"/>
                <a:ea typeface="Open Sans Medium"/>
                <a:cs typeface="Open Sans Medium"/>
                <a:sym typeface="Open Sans Medium"/>
              </a:rPr>
              <a:t>Integrity</a:t>
            </a:r>
            <a:endParaRPr sz="900">
              <a:solidFill>
                <a:schemeClr val="lt1"/>
              </a:solidFill>
              <a:latin typeface="Open Sans Medium"/>
              <a:ea typeface="Open Sans Medium"/>
              <a:cs typeface="Open Sans Medium"/>
              <a:sym typeface="Open Sans Medium"/>
            </a:endParaRPr>
          </a:p>
          <a:p>
            <a:pPr indent="-285750" lvl="0" marL="457200" rtl="0" algn="l">
              <a:lnSpc>
                <a:spcPct val="150000"/>
              </a:lnSpc>
              <a:spcBef>
                <a:spcPts val="0"/>
              </a:spcBef>
              <a:spcAft>
                <a:spcPts val="0"/>
              </a:spcAft>
              <a:buClr>
                <a:schemeClr val="lt1"/>
              </a:buClr>
              <a:buSzPts val="900"/>
              <a:buAutoNum type="arabicPeriod"/>
            </a:pPr>
            <a:r>
              <a:rPr lang="en" sz="900">
                <a:solidFill>
                  <a:schemeClr val="lt1"/>
                </a:solidFill>
                <a:latin typeface="Open Sans Medium"/>
                <a:ea typeface="Open Sans Medium"/>
                <a:cs typeface="Open Sans Medium"/>
                <a:sym typeface="Open Sans Medium"/>
              </a:rPr>
              <a:t>Availability</a:t>
            </a:r>
            <a:endParaRPr sz="900">
              <a:solidFill>
                <a:schemeClr val="lt1"/>
              </a:solidFill>
              <a:latin typeface="Open Sans Medium"/>
              <a:ea typeface="Open Sans Medium"/>
              <a:cs typeface="Open Sans Medium"/>
              <a:sym typeface="Open Sans Medium"/>
            </a:endParaRPr>
          </a:p>
          <a:p>
            <a:pPr indent="0" lvl="0" marL="0" rtl="0" algn="l">
              <a:lnSpc>
                <a:spcPct val="150000"/>
              </a:lnSpc>
              <a:spcBef>
                <a:spcPts val="300"/>
              </a:spcBef>
              <a:spcAft>
                <a:spcPts val="0"/>
              </a:spcAft>
              <a:buNone/>
            </a:pPr>
            <a:r>
              <a:rPr lang="en" sz="900">
                <a:solidFill>
                  <a:schemeClr val="lt1"/>
                </a:solidFill>
                <a:latin typeface="Open Sans Medium"/>
                <a:ea typeface="Open Sans Medium"/>
                <a:cs typeface="Open Sans Medium"/>
                <a:sym typeface="Open Sans Medium"/>
              </a:rPr>
              <a:t>Protecting data from unwanted access, misuse, or modification via engineering controls.</a:t>
            </a:r>
            <a:endParaRPr sz="900">
              <a:solidFill>
                <a:schemeClr val="lt1"/>
              </a:solidFill>
              <a:latin typeface="Open Sans Medium"/>
              <a:ea typeface="Open Sans Medium"/>
              <a:cs typeface="Open Sans Medium"/>
              <a:sym typeface="Open Sans Medium"/>
            </a:endParaRPr>
          </a:p>
          <a:p>
            <a:pPr indent="0" lvl="0" marL="0" rtl="0" algn="l">
              <a:lnSpc>
                <a:spcPct val="150000"/>
              </a:lnSpc>
              <a:spcBef>
                <a:spcPts val="300"/>
              </a:spcBef>
              <a:spcAft>
                <a:spcPts val="0"/>
              </a:spcAft>
              <a:buNone/>
            </a:pPr>
            <a:br>
              <a:rPr lang="en" sz="900">
                <a:solidFill>
                  <a:schemeClr val="lt1"/>
                </a:solidFill>
                <a:latin typeface="Open Sans Medium"/>
                <a:ea typeface="Open Sans Medium"/>
                <a:cs typeface="Open Sans Medium"/>
                <a:sym typeface="Open Sans Medium"/>
              </a:rPr>
            </a:br>
            <a:r>
              <a:rPr b="1" lang="en">
                <a:solidFill>
                  <a:schemeClr val="lt1"/>
                </a:solidFill>
                <a:latin typeface="Fira Sans"/>
                <a:ea typeface="Fira Sans"/>
                <a:cs typeface="Fira Sans"/>
                <a:sym typeface="Fira Sans"/>
              </a:rPr>
              <a:t>Engineering Controls</a:t>
            </a:r>
            <a:endParaRPr b="1">
              <a:solidFill>
                <a:schemeClr val="lt1"/>
              </a:solidFill>
              <a:latin typeface="Fira Sans"/>
              <a:ea typeface="Fira Sans"/>
              <a:cs typeface="Fira Sans"/>
              <a:sym typeface="Fira Sans"/>
            </a:endParaRPr>
          </a:p>
          <a:p>
            <a:pPr indent="0" lvl="0" marL="0" rtl="0" algn="l">
              <a:lnSpc>
                <a:spcPct val="150000"/>
              </a:lnSpc>
              <a:spcBef>
                <a:spcPts val="300"/>
              </a:spcBef>
              <a:spcAft>
                <a:spcPts val="300"/>
              </a:spcAft>
              <a:buClr>
                <a:schemeClr val="dk1"/>
              </a:buClr>
              <a:buSzPts val="1100"/>
              <a:buFont typeface="Arial"/>
              <a:buNone/>
            </a:pPr>
            <a:r>
              <a:rPr lang="en" sz="900">
                <a:solidFill>
                  <a:schemeClr val="lt1"/>
                </a:solidFill>
                <a:latin typeface="Open Sans"/>
                <a:ea typeface="Open Sans"/>
                <a:cs typeface="Open Sans"/>
                <a:sym typeface="Open Sans"/>
              </a:rPr>
              <a:t>Access control via token or key requirements can prevent unwanted usage. Data encryption is also used to ‘hide’ sensitive information. Password authentication and 2FA logins make systems as a whole more robust. </a:t>
            </a:r>
            <a:endParaRPr sz="900">
              <a:solidFill>
                <a:schemeClr val="lt1"/>
              </a:solidFill>
              <a:latin typeface="Open Sans"/>
              <a:ea typeface="Open Sans"/>
              <a:cs typeface="Open Sans"/>
              <a:sym typeface="Open Sans"/>
            </a:endParaRPr>
          </a:p>
        </p:txBody>
      </p:sp>
      <p:sp>
        <p:nvSpPr>
          <p:cNvPr id="119" name="Google Shape;119;p19"/>
          <p:cNvSpPr/>
          <p:nvPr/>
        </p:nvSpPr>
        <p:spPr>
          <a:xfrm>
            <a:off x="3922940" y="391418"/>
            <a:ext cx="2731200" cy="37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sz="1000">
                <a:solidFill>
                  <a:srgbClr val="01ADE2"/>
                </a:solidFill>
                <a:latin typeface="Fira Sans Medium"/>
                <a:ea typeface="Fira Sans Medium"/>
                <a:cs typeface="Fira Sans Medium"/>
                <a:sym typeface="Fira Sans Medium"/>
              </a:rPr>
              <a:t>Data Security</a:t>
            </a:r>
            <a:endParaRPr i="0" sz="1000" u="none" cap="none" strike="noStrike">
              <a:solidFill>
                <a:srgbClr val="01ADE2"/>
              </a:solidFill>
              <a:latin typeface="Fira Sans Medium"/>
              <a:ea typeface="Fira Sans Medium"/>
              <a:cs typeface="Fira Sans Medium"/>
              <a:sym typeface="Fira Sans Medium"/>
            </a:endParaRPr>
          </a:p>
        </p:txBody>
      </p:sp>
      <p:sp>
        <p:nvSpPr>
          <p:cNvPr id="120" name="Google Shape;120;p19"/>
          <p:cNvSpPr txBox="1"/>
          <p:nvPr/>
        </p:nvSpPr>
        <p:spPr>
          <a:xfrm>
            <a:off x="6524050" y="732875"/>
            <a:ext cx="2315100" cy="4030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a:solidFill>
                  <a:schemeClr val="lt1"/>
                </a:solidFill>
                <a:latin typeface="Fira Sans"/>
                <a:ea typeface="Fira Sans"/>
                <a:cs typeface="Fira Sans"/>
                <a:sym typeface="Fira Sans"/>
              </a:rPr>
              <a:t>Adherence to Law</a:t>
            </a:r>
            <a:endParaRPr b="1">
              <a:solidFill>
                <a:schemeClr val="lt1"/>
              </a:solidFill>
              <a:latin typeface="Fira Sans"/>
              <a:ea typeface="Fira Sans"/>
              <a:cs typeface="Fira Sans"/>
              <a:sym typeface="Fira Sans"/>
            </a:endParaRPr>
          </a:p>
          <a:p>
            <a:pPr indent="0" lvl="0" marL="0" rtl="0" algn="l">
              <a:lnSpc>
                <a:spcPct val="150000"/>
              </a:lnSpc>
              <a:spcBef>
                <a:spcPts val="300"/>
              </a:spcBef>
              <a:spcAft>
                <a:spcPts val="0"/>
              </a:spcAft>
              <a:buClr>
                <a:schemeClr val="dk1"/>
              </a:buClr>
              <a:buSzPts val="1100"/>
              <a:buFont typeface="Arial"/>
              <a:buNone/>
            </a:pPr>
            <a:r>
              <a:rPr lang="en" sz="900">
                <a:solidFill>
                  <a:schemeClr val="lt1"/>
                </a:solidFill>
                <a:latin typeface="Open Sans"/>
                <a:ea typeface="Open Sans"/>
                <a:cs typeface="Open Sans"/>
                <a:sym typeface="Open Sans"/>
              </a:rPr>
              <a:t>The responsible handling and protection of personal and/or sensitive information in accordance with local governance laws and regulations. Violating data privacy laws can lead to hefty legal penalties and bad PR.</a:t>
            </a:r>
            <a:endParaRPr sz="900">
              <a:solidFill>
                <a:schemeClr val="lt1"/>
              </a:solidFill>
              <a:latin typeface="Open Sans"/>
              <a:ea typeface="Open Sans"/>
              <a:cs typeface="Open Sans"/>
              <a:sym typeface="Open Sans"/>
            </a:endParaRPr>
          </a:p>
          <a:p>
            <a:pPr indent="0" lvl="0" marL="0" rtl="0" algn="l">
              <a:lnSpc>
                <a:spcPct val="150000"/>
              </a:lnSpc>
              <a:spcBef>
                <a:spcPts val="300"/>
              </a:spcBef>
              <a:spcAft>
                <a:spcPts val="0"/>
              </a:spcAft>
              <a:buClr>
                <a:schemeClr val="dk1"/>
              </a:buClr>
              <a:buSzPts val="1100"/>
              <a:buFont typeface="Arial"/>
              <a:buNone/>
            </a:pPr>
            <a:br>
              <a:rPr lang="en" sz="900">
                <a:solidFill>
                  <a:schemeClr val="lt1"/>
                </a:solidFill>
                <a:latin typeface="Open Sans Medium"/>
                <a:ea typeface="Open Sans Medium"/>
                <a:cs typeface="Open Sans Medium"/>
                <a:sym typeface="Open Sans Medium"/>
              </a:rPr>
            </a:br>
            <a:r>
              <a:rPr b="1" lang="en">
                <a:solidFill>
                  <a:schemeClr val="lt1"/>
                </a:solidFill>
                <a:latin typeface="Fira Sans"/>
                <a:ea typeface="Fira Sans"/>
                <a:cs typeface="Fira Sans"/>
                <a:sym typeface="Fira Sans"/>
              </a:rPr>
              <a:t>What and How</a:t>
            </a:r>
            <a:endParaRPr b="1">
              <a:solidFill>
                <a:schemeClr val="lt1"/>
              </a:solidFill>
              <a:latin typeface="Fira Sans"/>
              <a:ea typeface="Fira Sans"/>
              <a:cs typeface="Fira Sans"/>
              <a:sym typeface="Fira Sans"/>
            </a:endParaRPr>
          </a:p>
          <a:p>
            <a:pPr indent="0" lvl="0" marL="0" rtl="0" algn="l">
              <a:lnSpc>
                <a:spcPct val="150000"/>
              </a:lnSpc>
              <a:spcBef>
                <a:spcPts val="300"/>
              </a:spcBef>
              <a:spcAft>
                <a:spcPts val="300"/>
              </a:spcAft>
              <a:buClr>
                <a:schemeClr val="dk1"/>
              </a:buClr>
              <a:buSzPts val="1100"/>
              <a:buFont typeface="Arial"/>
              <a:buNone/>
            </a:pPr>
            <a:r>
              <a:rPr lang="en" sz="900">
                <a:solidFill>
                  <a:schemeClr val="lt1"/>
                </a:solidFill>
                <a:latin typeface="Open Sans"/>
                <a:ea typeface="Open Sans"/>
                <a:cs typeface="Open Sans"/>
                <a:sym typeface="Open Sans"/>
              </a:rPr>
              <a:t>It involves the policies, procedures, and practices that govern how data is collected, processed, shared, and disposed of in accordance with legal and ethical requirements. Varies greatly based on location and country.</a:t>
            </a:r>
            <a:endParaRPr sz="900">
              <a:solidFill>
                <a:schemeClr val="lt1"/>
              </a:solidFill>
              <a:latin typeface="Open Sans"/>
              <a:ea typeface="Open Sans"/>
              <a:cs typeface="Open Sans"/>
              <a:sym typeface="Open Sans"/>
            </a:endParaRPr>
          </a:p>
        </p:txBody>
      </p:sp>
      <p:sp>
        <p:nvSpPr>
          <p:cNvPr id="121" name="Google Shape;121;p19"/>
          <p:cNvSpPr/>
          <p:nvPr/>
        </p:nvSpPr>
        <p:spPr>
          <a:xfrm>
            <a:off x="6524040" y="391418"/>
            <a:ext cx="2731200" cy="37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sz="1000">
                <a:solidFill>
                  <a:srgbClr val="01ADE2"/>
                </a:solidFill>
                <a:latin typeface="Fira Sans Medium"/>
                <a:ea typeface="Fira Sans Medium"/>
                <a:cs typeface="Fira Sans Medium"/>
                <a:sym typeface="Fira Sans Medium"/>
              </a:rPr>
              <a:t>Data Privacy</a:t>
            </a:r>
            <a:endParaRPr i="0" sz="1000" u="none" cap="none" strike="noStrike">
              <a:solidFill>
                <a:srgbClr val="01ADE2"/>
              </a:solidFill>
              <a:latin typeface="Fira Sans Medium"/>
              <a:ea typeface="Fira Sans Medium"/>
              <a:cs typeface="Fira Sans Medium"/>
              <a:sym typeface="Fira Sans Medium"/>
            </a:endParaRPr>
          </a:p>
        </p:txBody>
      </p:sp>
      <p:sp>
        <p:nvSpPr>
          <p:cNvPr id="122" name="Google Shape;122;p19"/>
          <p:cNvSpPr txBox="1"/>
          <p:nvPr>
            <p:ph idx="4294967295" type="ctrTitle"/>
          </p:nvPr>
        </p:nvSpPr>
        <p:spPr>
          <a:xfrm>
            <a:off x="134300" y="490950"/>
            <a:ext cx="3115500" cy="303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sz="3600">
                <a:solidFill>
                  <a:srgbClr val="1B2630"/>
                </a:solidFill>
                <a:latin typeface="Fira Sans"/>
                <a:ea typeface="Fira Sans"/>
                <a:cs typeface="Fira Sans"/>
                <a:sym typeface="Fira Sans"/>
              </a:rPr>
              <a:t>Data Engineering Best Practices</a:t>
            </a:r>
            <a:endParaRPr sz="3600">
              <a:solidFill>
                <a:srgbClr val="101820"/>
              </a:solidFill>
              <a:latin typeface="DM Serif Display"/>
              <a:ea typeface="DM Serif Display"/>
              <a:cs typeface="DM Serif Display"/>
              <a:sym typeface="DM Serif Displ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20"/>
          <p:cNvSpPr/>
          <p:nvPr/>
        </p:nvSpPr>
        <p:spPr>
          <a:xfrm>
            <a:off x="7543500" y="907775"/>
            <a:ext cx="1600500" cy="42357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0"/>
          <p:cNvSpPr/>
          <p:nvPr/>
        </p:nvSpPr>
        <p:spPr>
          <a:xfrm>
            <a:off x="6034800" y="907775"/>
            <a:ext cx="1508700" cy="4235700"/>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0"/>
          <p:cNvSpPr/>
          <p:nvPr/>
        </p:nvSpPr>
        <p:spPr>
          <a:xfrm>
            <a:off x="4526100" y="907775"/>
            <a:ext cx="1508700" cy="42357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0"/>
          <p:cNvSpPr/>
          <p:nvPr/>
        </p:nvSpPr>
        <p:spPr>
          <a:xfrm>
            <a:off x="3017400" y="907775"/>
            <a:ext cx="1508700" cy="4235700"/>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0"/>
          <p:cNvSpPr/>
          <p:nvPr/>
        </p:nvSpPr>
        <p:spPr>
          <a:xfrm>
            <a:off x="1508700" y="907775"/>
            <a:ext cx="1508700" cy="42357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0"/>
          <p:cNvSpPr/>
          <p:nvPr/>
        </p:nvSpPr>
        <p:spPr>
          <a:xfrm>
            <a:off x="0" y="907775"/>
            <a:ext cx="1508700" cy="4235700"/>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0"/>
          <p:cNvSpPr/>
          <p:nvPr/>
        </p:nvSpPr>
        <p:spPr>
          <a:xfrm>
            <a:off x="11311" y="1023001"/>
            <a:ext cx="1508700" cy="37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 sz="1200">
                <a:solidFill>
                  <a:srgbClr val="1B2630"/>
                </a:solidFill>
                <a:latin typeface="Fira Sans"/>
                <a:ea typeface="Fira Sans"/>
                <a:cs typeface="Fira Sans"/>
                <a:sym typeface="Fira Sans"/>
              </a:rPr>
              <a:t>Data Generation</a:t>
            </a:r>
            <a:endParaRPr b="1" sz="1200">
              <a:solidFill>
                <a:srgbClr val="1B2630"/>
              </a:solidFill>
              <a:latin typeface="Fira Sans"/>
              <a:ea typeface="Fira Sans"/>
              <a:cs typeface="Fira Sans"/>
              <a:sym typeface="Fira Sans"/>
            </a:endParaRPr>
          </a:p>
        </p:txBody>
      </p:sp>
      <p:pic>
        <p:nvPicPr>
          <p:cNvPr id="134" name="Google Shape;134;p20"/>
          <p:cNvPicPr preferRelativeResize="0"/>
          <p:nvPr/>
        </p:nvPicPr>
        <p:blipFill rotWithShape="1">
          <a:blip r:embed="rId3">
            <a:alphaModFix/>
          </a:blip>
          <a:srcRect b="-10" l="0" r="0" t="0"/>
          <a:stretch/>
        </p:blipFill>
        <p:spPr>
          <a:xfrm>
            <a:off x="370700" y="4817918"/>
            <a:ext cx="1205250" cy="127750"/>
          </a:xfrm>
          <a:prstGeom prst="rect">
            <a:avLst/>
          </a:prstGeom>
          <a:noFill/>
          <a:ln>
            <a:noFill/>
          </a:ln>
        </p:spPr>
      </p:pic>
      <p:sp>
        <p:nvSpPr>
          <p:cNvPr id="135" name="Google Shape;135;p20"/>
          <p:cNvSpPr txBox="1"/>
          <p:nvPr/>
        </p:nvSpPr>
        <p:spPr>
          <a:xfrm>
            <a:off x="2025" y="1540875"/>
            <a:ext cx="1508700" cy="2434800"/>
          </a:xfrm>
          <a:prstGeom prst="rect">
            <a:avLst/>
          </a:prstGeom>
          <a:noFill/>
          <a:ln>
            <a:noFill/>
          </a:ln>
        </p:spPr>
        <p:txBody>
          <a:bodyPr anchorCtr="0" anchor="t" bIns="91425" lIns="91425" spcFirstLastPara="1" rIns="91425" wrap="square" tIns="91425">
            <a:spAutoFit/>
          </a:bodyPr>
          <a:lstStyle/>
          <a:p>
            <a:pPr indent="-121158" lvl="0" marL="64008" rtl="0" algn="ctr">
              <a:lnSpc>
                <a:spcPct val="115000"/>
              </a:lnSpc>
              <a:spcBef>
                <a:spcPts val="0"/>
              </a:spcBef>
              <a:spcAft>
                <a:spcPts val="0"/>
              </a:spcAft>
              <a:buClr>
                <a:srgbClr val="1B2630"/>
              </a:buClr>
              <a:buSzPts val="900"/>
              <a:buFont typeface="Open Sans"/>
              <a:buChar char="●"/>
            </a:pPr>
            <a:r>
              <a:rPr lang="en" sz="900">
                <a:solidFill>
                  <a:srgbClr val="222222"/>
                </a:solidFill>
                <a:latin typeface="Open Sans"/>
                <a:ea typeface="Open Sans"/>
                <a:cs typeface="Open Sans"/>
                <a:sym typeface="Open Sans"/>
              </a:rPr>
              <a:t>Necessary data only</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Obtain user consent</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Use encrypted forms</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Secure your API</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Validate user input</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Clean/sanitize user inputted data</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Trying to prevent malicious code from being injected into your system or database</a:t>
            </a:r>
            <a:endParaRPr sz="900">
              <a:solidFill>
                <a:srgbClr val="222222"/>
              </a:solidFill>
              <a:latin typeface="Open Sans"/>
              <a:ea typeface="Open Sans"/>
              <a:cs typeface="Open Sans"/>
              <a:sym typeface="Open Sans"/>
            </a:endParaRPr>
          </a:p>
          <a:p>
            <a:pPr indent="0" lvl="0" marL="0" rtl="0" algn="l">
              <a:lnSpc>
                <a:spcPct val="115000"/>
              </a:lnSpc>
              <a:spcBef>
                <a:spcPts val="400"/>
              </a:spcBef>
              <a:spcAft>
                <a:spcPts val="400"/>
              </a:spcAft>
              <a:buNone/>
            </a:pPr>
            <a:r>
              <a:t/>
            </a:r>
            <a:endParaRPr sz="900">
              <a:solidFill>
                <a:srgbClr val="222222"/>
              </a:solidFill>
              <a:latin typeface="Open Sans"/>
              <a:ea typeface="Open Sans"/>
              <a:cs typeface="Open Sans"/>
              <a:sym typeface="Open Sans"/>
            </a:endParaRPr>
          </a:p>
        </p:txBody>
      </p:sp>
      <p:sp>
        <p:nvSpPr>
          <p:cNvPr id="136" name="Google Shape;136;p20"/>
          <p:cNvSpPr txBox="1"/>
          <p:nvPr>
            <p:ph type="title"/>
          </p:nvPr>
        </p:nvSpPr>
        <p:spPr>
          <a:xfrm>
            <a:off x="427178" y="189100"/>
            <a:ext cx="4187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sz="2200">
                <a:latin typeface="Fira Sans"/>
                <a:ea typeface="Fira Sans"/>
                <a:cs typeface="Fira Sans"/>
                <a:sym typeface="Fira Sans"/>
              </a:rPr>
              <a:t>Best Practices Cont.</a:t>
            </a:r>
            <a:endParaRPr b="1" sz="2200">
              <a:latin typeface="Fira Sans"/>
              <a:ea typeface="Fira Sans"/>
              <a:cs typeface="Fira Sans"/>
              <a:sym typeface="Fira Sans"/>
            </a:endParaRPr>
          </a:p>
        </p:txBody>
      </p:sp>
      <p:sp>
        <p:nvSpPr>
          <p:cNvPr id="137" name="Google Shape;137;p20"/>
          <p:cNvSpPr/>
          <p:nvPr/>
        </p:nvSpPr>
        <p:spPr>
          <a:xfrm>
            <a:off x="1508711" y="1023001"/>
            <a:ext cx="1508700" cy="37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 sz="1200">
                <a:solidFill>
                  <a:srgbClr val="1B2630"/>
                </a:solidFill>
                <a:latin typeface="Fira Sans"/>
                <a:ea typeface="Fira Sans"/>
                <a:cs typeface="Fira Sans"/>
                <a:sym typeface="Fira Sans"/>
              </a:rPr>
              <a:t>Data Storage</a:t>
            </a:r>
            <a:endParaRPr b="1" sz="1200">
              <a:solidFill>
                <a:srgbClr val="1B2630"/>
              </a:solidFill>
              <a:latin typeface="Fira Sans"/>
              <a:ea typeface="Fira Sans"/>
              <a:cs typeface="Fira Sans"/>
              <a:sym typeface="Fira Sans"/>
            </a:endParaRPr>
          </a:p>
        </p:txBody>
      </p:sp>
      <p:sp>
        <p:nvSpPr>
          <p:cNvPr id="138" name="Google Shape;138;p20"/>
          <p:cNvSpPr txBox="1"/>
          <p:nvPr/>
        </p:nvSpPr>
        <p:spPr>
          <a:xfrm>
            <a:off x="1526025" y="1540875"/>
            <a:ext cx="1508700" cy="2810100"/>
          </a:xfrm>
          <a:prstGeom prst="rect">
            <a:avLst/>
          </a:prstGeom>
          <a:noFill/>
          <a:ln>
            <a:noFill/>
          </a:ln>
        </p:spPr>
        <p:txBody>
          <a:bodyPr anchorCtr="0" anchor="t" bIns="91425" lIns="91425" spcFirstLastPara="1" rIns="91425" wrap="square" tIns="91425">
            <a:spAutoFit/>
          </a:bodyPr>
          <a:lstStyle/>
          <a:p>
            <a:pPr indent="-121158" lvl="0" marL="64008" rtl="0" algn="ctr">
              <a:lnSpc>
                <a:spcPct val="115000"/>
              </a:lnSpc>
              <a:spcBef>
                <a:spcPts val="0"/>
              </a:spcBef>
              <a:spcAft>
                <a:spcPts val="0"/>
              </a:spcAft>
              <a:buClr>
                <a:srgbClr val="1B2630"/>
              </a:buClr>
              <a:buSzPts val="900"/>
              <a:buFont typeface="Open Sans"/>
              <a:buChar char="●"/>
            </a:pPr>
            <a:r>
              <a:rPr lang="en" sz="900">
                <a:solidFill>
                  <a:srgbClr val="222222"/>
                </a:solidFill>
                <a:latin typeface="Open Sans"/>
                <a:ea typeface="Open Sans"/>
                <a:cs typeface="Open Sans"/>
                <a:sym typeface="Open Sans"/>
              </a:rPr>
              <a:t>Encrypt sensitive data</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Implement access control tool/system</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Run regular security audits on systems</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Implement robust data backup and recovery processes</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Sensitive customer information like credit card data and personal identification should </a:t>
            </a:r>
            <a:r>
              <a:rPr lang="en" sz="900">
                <a:solidFill>
                  <a:srgbClr val="222222"/>
                </a:solidFill>
                <a:latin typeface="Open Sans"/>
                <a:ea typeface="Open Sans"/>
                <a:cs typeface="Open Sans"/>
                <a:sym typeface="Open Sans"/>
              </a:rPr>
              <a:t>receive</a:t>
            </a:r>
            <a:r>
              <a:rPr lang="en" sz="900">
                <a:solidFill>
                  <a:srgbClr val="222222"/>
                </a:solidFill>
                <a:latin typeface="Open Sans"/>
                <a:ea typeface="Open Sans"/>
                <a:cs typeface="Open Sans"/>
                <a:sym typeface="Open Sans"/>
              </a:rPr>
              <a:t> special consideration.</a:t>
            </a:r>
            <a:endParaRPr sz="900">
              <a:solidFill>
                <a:srgbClr val="222222"/>
              </a:solidFill>
              <a:latin typeface="Open Sans"/>
              <a:ea typeface="Open Sans"/>
              <a:cs typeface="Open Sans"/>
              <a:sym typeface="Open Sans"/>
            </a:endParaRPr>
          </a:p>
          <a:p>
            <a:pPr indent="0" lvl="0" marL="0" rtl="0" algn="l">
              <a:lnSpc>
                <a:spcPct val="115000"/>
              </a:lnSpc>
              <a:spcBef>
                <a:spcPts val="400"/>
              </a:spcBef>
              <a:spcAft>
                <a:spcPts val="400"/>
              </a:spcAft>
              <a:buNone/>
            </a:pPr>
            <a:r>
              <a:t/>
            </a:r>
            <a:endParaRPr sz="900">
              <a:solidFill>
                <a:srgbClr val="222222"/>
              </a:solidFill>
              <a:latin typeface="Open Sans"/>
              <a:ea typeface="Open Sans"/>
              <a:cs typeface="Open Sans"/>
              <a:sym typeface="Open Sans"/>
            </a:endParaRPr>
          </a:p>
        </p:txBody>
      </p:sp>
      <p:sp>
        <p:nvSpPr>
          <p:cNvPr id="139" name="Google Shape;139;p20"/>
          <p:cNvSpPr txBox="1"/>
          <p:nvPr/>
        </p:nvSpPr>
        <p:spPr>
          <a:xfrm>
            <a:off x="3021738" y="1515275"/>
            <a:ext cx="1508700" cy="2758800"/>
          </a:xfrm>
          <a:prstGeom prst="rect">
            <a:avLst/>
          </a:prstGeom>
          <a:noFill/>
          <a:ln>
            <a:noFill/>
          </a:ln>
        </p:spPr>
        <p:txBody>
          <a:bodyPr anchorCtr="0" anchor="t" bIns="91425" lIns="91425" spcFirstLastPara="1" rIns="91425" wrap="square" tIns="91425">
            <a:spAutoFit/>
          </a:bodyPr>
          <a:lstStyle/>
          <a:p>
            <a:pPr indent="-121158" lvl="0" marL="64008" rtl="0" algn="ctr">
              <a:lnSpc>
                <a:spcPct val="115000"/>
              </a:lnSpc>
              <a:spcBef>
                <a:spcPts val="0"/>
              </a:spcBef>
              <a:spcAft>
                <a:spcPts val="0"/>
              </a:spcAft>
              <a:buClr>
                <a:srgbClr val="1B2630"/>
              </a:buClr>
              <a:buSzPts val="900"/>
              <a:buFont typeface="Open Sans"/>
              <a:buChar char="●"/>
            </a:pPr>
            <a:r>
              <a:rPr lang="en" sz="900">
                <a:solidFill>
                  <a:srgbClr val="222222"/>
                </a:solidFill>
                <a:latin typeface="Open Sans"/>
                <a:ea typeface="Open Sans"/>
                <a:cs typeface="Open Sans"/>
                <a:sym typeface="Open Sans"/>
              </a:rPr>
              <a:t>Secure </a:t>
            </a:r>
            <a:r>
              <a:rPr lang="en" sz="900">
                <a:solidFill>
                  <a:srgbClr val="222222"/>
                </a:solidFill>
                <a:latin typeface="Open Sans"/>
                <a:ea typeface="Open Sans"/>
                <a:cs typeface="Open Sans"/>
                <a:sym typeface="Open Sans"/>
              </a:rPr>
              <a:t>internal</a:t>
            </a:r>
            <a:r>
              <a:rPr lang="en" sz="900">
                <a:solidFill>
                  <a:srgbClr val="222222"/>
                </a:solidFill>
                <a:latin typeface="Open Sans"/>
                <a:ea typeface="Open Sans"/>
                <a:cs typeface="Open Sans"/>
                <a:sym typeface="Open Sans"/>
              </a:rPr>
              <a:t> data transfer channels</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Utilize authentication for login and data access</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Implement robust data validation to handle anomalies in data</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Whether it is ‘new’ data being ingested or existing data, validation can help control against unwanted information</a:t>
            </a:r>
            <a:endParaRPr sz="900">
              <a:solidFill>
                <a:srgbClr val="222222"/>
              </a:solidFill>
              <a:latin typeface="Open Sans"/>
              <a:ea typeface="Open Sans"/>
              <a:cs typeface="Open Sans"/>
              <a:sym typeface="Open Sans"/>
            </a:endParaRPr>
          </a:p>
          <a:p>
            <a:pPr indent="0" lvl="0" marL="0" rtl="0" algn="l">
              <a:lnSpc>
                <a:spcPct val="115000"/>
              </a:lnSpc>
              <a:spcBef>
                <a:spcPts val="400"/>
              </a:spcBef>
              <a:spcAft>
                <a:spcPts val="400"/>
              </a:spcAft>
              <a:buNone/>
            </a:pPr>
            <a:r>
              <a:t/>
            </a:r>
            <a:endParaRPr sz="900">
              <a:solidFill>
                <a:srgbClr val="222222"/>
              </a:solidFill>
              <a:latin typeface="Open Sans"/>
              <a:ea typeface="Open Sans"/>
              <a:cs typeface="Open Sans"/>
              <a:sym typeface="Open Sans"/>
            </a:endParaRPr>
          </a:p>
        </p:txBody>
      </p:sp>
      <p:sp>
        <p:nvSpPr>
          <p:cNvPr id="140" name="Google Shape;140;p20"/>
          <p:cNvSpPr txBox="1"/>
          <p:nvPr/>
        </p:nvSpPr>
        <p:spPr>
          <a:xfrm>
            <a:off x="4534763" y="1515275"/>
            <a:ext cx="1508700" cy="2758800"/>
          </a:xfrm>
          <a:prstGeom prst="rect">
            <a:avLst/>
          </a:prstGeom>
          <a:noFill/>
          <a:ln>
            <a:noFill/>
          </a:ln>
        </p:spPr>
        <p:txBody>
          <a:bodyPr anchorCtr="0" anchor="t" bIns="91425" lIns="91425" spcFirstLastPara="1" rIns="91425" wrap="square" tIns="91425">
            <a:spAutoFit/>
          </a:bodyPr>
          <a:lstStyle/>
          <a:p>
            <a:pPr indent="-121158" lvl="0" marL="64008" rtl="0" algn="ctr">
              <a:lnSpc>
                <a:spcPct val="115000"/>
              </a:lnSpc>
              <a:spcBef>
                <a:spcPts val="0"/>
              </a:spcBef>
              <a:spcAft>
                <a:spcPts val="0"/>
              </a:spcAft>
              <a:buClr>
                <a:srgbClr val="1B2630"/>
              </a:buClr>
              <a:buSzPts val="900"/>
              <a:buFont typeface="Open Sans"/>
              <a:buChar char="●"/>
            </a:pPr>
            <a:r>
              <a:rPr lang="en" sz="900">
                <a:solidFill>
                  <a:srgbClr val="222222"/>
                </a:solidFill>
                <a:latin typeface="Open Sans"/>
                <a:ea typeface="Open Sans"/>
                <a:cs typeface="Open Sans"/>
                <a:sym typeface="Open Sans"/>
              </a:rPr>
              <a:t>Apply masking or tokenization/encoding to protect highly sensitive information</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Use secure coding environments</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Implement access controls and logs to monitor and adapt</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Regular reviews of access logs via a program or human can act to identify unwanted actors</a:t>
            </a:r>
            <a:endParaRPr sz="900">
              <a:solidFill>
                <a:srgbClr val="222222"/>
              </a:solidFill>
              <a:latin typeface="Open Sans"/>
              <a:ea typeface="Open Sans"/>
              <a:cs typeface="Open Sans"/>
              <a:sym typeface="Open Sans"/>
            </a:endParaRPr>
          </a:p>
          <a:p>
            <a:pPr indent="0" lvl="0" marL="0" rtl="0" algn="l">
              <a:lnSpc>
                <a:spcPct val="115000"/>
              </a:lnSpc>
              <a:spcBef>
                <a:spcPts val="400"/>
              </a:spcBef>
              <a:spcAft>
                <a:spcPts val="400"/>
              </a:spcAft>
              <a:buNone/>
            </a:pPr>
            <a:r>
              <a:t/>
            </a:r>
            <a:endParaRPr sz="900">
              <a:solidFill>
                <a:srgbClr val="222222"/>
              </a:solidFill>
              <a:latin typeface="Open Sans"/>
              <a:ea typeface="Open Sans"/>
              <a:cs typeface="Open Sans"/>
              <a:sym typeface="Open Sans"/>
            </a:endParaRPr>
          </a:p>
        </p:txBody>
      </p:sp>
      <p:sp>
        <p:nvSpPr>
          <p:cNvPr id="141" name="Google Shape;141;p20"/>
          <p:cNvSpPr txBox="1"/>
          <p:nvPr/>
        </p:nvSpPr>
        <p:spPr>
          <a:xfrm>
            <a:off x="6041463" y="1515275"/>
            <a:ext cx="1508700" cy="2918100"/>
          </a:xfrm>
          <a:prstGeom prst="rect">
            <a:avLst/>
          </a:prstGeom>
          <a:noFill/>
          <a:ln>
            <a:noFill/>
          </a:ln>
        </p:spPr>
        <p:txBody>
          <a:bodyPr anchorCtr="0" anchor="t" bIns="91425" lIns="91425" spcFirstLastPara="1" rIns="91425" wrap="square" tIns="91425">
            <a:spAutoFit/>
          </a:bodyPr>
          <a:lstStyle/>
          <a:p>
            <a:pPr indent="-121158" lvl="0" marL="64008" rtl="0" algn="ctr">
              <a:lnSpc>
                <a:spcPct val="115000"/>
              </a:lnSpc>
              <a:spcBef>
                <a:spcPts val="0"/>
              </a:spcBef>
              <a:spcAft>
                <a:spcPts val="0"/>
              </a:spcAft>
              <a:buClr>
                <a:srgbClr val="1B2630"/>
              </a:buClr>
              <a:buSzPts val="900"/>
              <a:buFont typeface="Open Sans"/>
              <a:buChar char="●"/>
            </a:pPr>
            <a:r>
              <a:rPr lang="en" sz="900">
                <a:solidFill>
                  <a:srgbClr val="222222"/>
                </a:solidFill>
                <a:latin typeface="Open Sans"/>
                <a:ea typeface="Open Sans"/>
                <a:cs typeface="Open Sans"/>
                <a:sym typeface="Open Sans"/>
              </a:rPr>
              <a:t>Implement secure API and </a:t>
            </a:r>
            <a:r>
              <a:rPr lang="en" sz="900">
                <a:solidFill>
                  <a:srgbClr val="222222"/>
                </a:solidFill>
                <a:latin typeface="Open Sans"/>
                <a:ea typeface="Open Sans"/>
                <a:cs typeface="Open Sans"/>
                <a:sym typeface="Open Sans"/>
              </a:rPr>
              <a:t>authentication</a:t>
            </a:r>
            <a:r>
              <a:rPr lang="en" sz="900">
                <a:solidFill>
                  <a:srgbClr val="222222"/>
                </a:solidFill>
                <a:latin typeface="Open Sans"/>
                <a:ea typeface="Open Sans"/>
                <a:cs typeface="Open Sans"/>
                <a:sym typeface="Open Sans"/>
              </a:rPr>
              <a:t> method for access</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Can utilize data filtering to limit exposure of sensitive information</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Rate limit and/or throttle API access to prevent DOS and brute force attacks</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By utilize data </a:t>
            </a:r>
            <a:r>
              <a:rPr lang="en" sz="900">
                <a:solidFill>
                  <a:srgbClr val="222222"/>
                </a:solidFill>
                <a:latin typeface="Open Sans"/>
                <a:ea typeface="Open Sans"/>
                <a:cs typeface="Open Sans"/>
                <a:sym typeface="Open Sans"/>
              </a:rPr>
              <a:t>aggregation</a:t>
            </a:r>
            <a:r>
              <a:rPr lang="en" sz="900">
                <a:solidFill>
                  <a:srgbClr val="222222"/>
                </a:solidFill>
                <a:latin typeface="Open Sans"/>
                <a:ea typeface="Open Sans"/>
                <a:cs typeface="Open Sans"/>
                <a:sym typeface="Open Sans"/>
              </a:rPr>
              <a:t> and filtering you can prevent raw data from being accessible</a:t>
            </a:r>
            <a:endParaRPr sz="900">
              <a:solidFill>
                <a:srgbClr val="222222"/>
              </a:solidFill>
              <a:latin typeface="Open Sans"/>
              <a:ea typeface="Open Sans"/>
              <a:cs typeface="Open Sans"/>
              <a:sym typeface="Open Sans"/>
            </a:endParaRPr>
          </a:p>
          <a:p>
            <a:pPr indent="0" lvl="0" marL="0" rtl="0" algn="l">
              <a:lnSpc>
                <a:spcPct val="115000"/>
              </a:lnSpc>
              <a:spcBef>
                <a:spcPts val="400"/>
              </a:spcBef>
              <a:spcAft>
                <a:spcPts val="400"/>
              </a:spcAft>
              <a:buNone/>
            </a:pPr>
            <a:r>
              <a:t/>
            </a:r>
            <a:endParaRPr sz="900">
              <a:solidFill>
                <a:srgbClr val="222222"/>
              </a:solidFill>
              <a:latin typeface="Open Sans"/>
              <a:ea typeface="Open Sans"/>
              <a:cs typeface="Open Sans"/>
              <a:sym typeface="Open Sans"/>
            </a:endParaRPr>
          </a:p>
        </p:txBody>
      </p:sp>
      <p:sp>
        <p:nvSpPr>
          <p:cNvPr id="142" name="Google Shape;142;p20"/>
          <p:cNvSpPr txBox="1"/>
          <p:nvPr/>
        </p:nvSpPr>
        <p:spPr>
          <a:xfrm>
            <a:off x="7589388" y="1540875"/>
            <a:ext cx="1508700" cy="2810100"/>
          </a:xfrm>
          <a:prstGeom prst="rect">
            <a:avLst/>
          </a:prstGeom>
          <a:noFill/>
          <a:ln>
            <a:noFill/>
          </a:ln>
        </p:spPr>
        <p:txBody>
          <a:bodyPr anchorCtr="0" anchor="t" bIns="91425" lIns="91425" spcFirstLastPara="1" rIns="91425" wrap="square" tIns="91425">
            <a:spAutoFit/>
          </a:bodyPr>
          <a:lstStyle/>
          <a:p>
            <a:pPr indent="-121158" lvl="0" marL="64008" rtl="0" algn="ctr">
              <a:lnSpc>
                <a:spcPct val="115000"/>
              </a:lnSpc>
              <a:spcBef>
                <a:spcPts val="0"/>
              </a:spcBef>
              <a:spcAft>
                <a:spcPts val="0"/>
              </a:spcAft>
              <a:buClr>
                <a:srgbClr val="1B2630"/>
              </a:buClr>
              <a:buSzPts val="900"/>
              <a:buFont typeface="Open Sans"/>
              <a:buChar char="●"/>
            </a:pPr>
            <a:r>
              <a:rPr lang="en" sz="900">
                <a:solidFill>
                  <a:srgbClr val="222222"/>
                </a:solidFill>
                <a:latin typeface="Open Sans"/>
                <a:ea typeface="Open Sans"/>
                <a:cs typeface="Open Sans"/>
                <a:sym typeface="Open Sans"/>
              </a:rPr>
              <a:t>Regularly update, test, and patch systems</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Conduct security assessments and penetration testing</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Implement a ‘least privilege’ access control scheme</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Provide training on data privacy and </a:t>
            </a:r>
            <a:r>
              <a:rPr lang="en" sz="900">
                <a:solidFill>
                  <a:srgbClr val="222222"/>
                </a:solidFill>
                <a:latin typeface="Open Sans"/>
                <a:ea typeface="Open Sans"/>
                <a:cs typeface="Open Sans"/>
                <a:sym typeface="Open Sans"/>
              </a:rPr>
              <a:t>security</a:t>
            </a:r>
            <a:r>
              <a:rPr lang="en" sz="900">
                <a:solidFill>
                  <a:srgbClr val="222222"/>
                </a:solidFill>
                <a:latin typeface="Open Sans"/>
                <a:ea typeface="Open Sans"/>
                <a:cs typeface="Open Sans"/>
                <a:sym typeface="Open Sans"/>
              </a:rPr>
              <a:t> threats</a:t>
            </a:r>
            <a:endParaRPr sz="900">
              <a:solidFill>
                <a:srgbClr val="222222"/>
              </a:solidFill>
              <a:latin typeface="Open Sans"/>
              <a:ea typeface="Open Sans"/>
              <a:cs typeface="Open Sans"/>
              <a:sym typeface="Open Sans"/>
            </a:endParaRPr>
          </a:p>
          <a:p>
            <a:pPr indent="-121158" lvl="0" marL="64008" rtl="0" algn="ctr">
              <a:lnSpc>
                <a:spcPct val="115000"/>
              </a:lnSpc>
              <a:spcBef>
                <a:spcPts val="400"/>
              </a:spcBef>
              <a:spcAft>
                <a:spcPts val="0"/>
              </a:spcAft>
              <a:buClr>
                <a:srgbClr val="222222"/>
              </a:buClr>
              <a:buSzPts val="900"/>
              <a:buFont typeface="Open Sans"/>
              <a:buChar char="●"/>
            </a:pPr>
            <a:r>
              <a:rPr lang="en" sz="900">
                <a:solidFill>
                  <a:srgbClr val="222222"/>
                </a:solidFill>
                <a:latin typeface="Open Sans"/>
                <a:ea typeface="Open Sans"/>
                <a:cs typeface="Open Sans"/>
                <a:sym typeface="Open Sans"/>
              </a:rPr>
              <a:t>Ensure compliance with all data protection regulations and laws</a:t>
            </a:r>
            <a:endParaRPr sz="900">
              <a:solidFill>
                <a:srgbClr val="222222"/>
              </a:solidFill>
              <a:latin typeface="Open Sans"/>
              <a:ea typeface="Open Sans"/>
              <a:cs typeface="Open Sans"/>
              <a:sym typeface="Open Sans"/>
            </a:endParaRPr>
          </a:p>
          <a:p>
            <a:pPr indent="0" lvl="0" marL="0" rtl="0" algn="l">
              <a:lnSpc>
                <a:spcPct val="115000"/>
              </a:lnSpc>
              <a:spcBef>
                <a:spcPts val="400"/>
              </a:spcBef>
              <a:spcAft>
                <a:spcPts val="400"/>
              </a:spcAft>
              <a:buNone/>
            </a:pPr>
            <a:r>
              <a:t/>
            </a:r>
            <a:endParaRPr sz="900">
              <a:solidFill>
                <a:srgbClr val="222222"/>
              </a:solidFill>
              <a:latin typeface="Open Sans"/>
              <a:ea typeface="Open Sans"/>
              <a:cs typeface="Open Sans"/>
              <a:sym typeface="Open Sans"/>
            </a:endParaRPr>
          </a:p>
        </p:txBody>
      </p:sp>
      <p:sp>
        <p:nvSpPr>
          <p:cNvPr id="143" name="Google Shape;143;p20"/>
          <p:cNvSpPr/>
          <p:nvPr/>
        </p:nvSpPr>
        <p:spPr>
          <a:xfrm>
            <a:off x="3032711" y="1023001"/>
            <a:ext cx="1508700" cy="37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 sz="1200">
                <a:solidFill>
                  <a:srgbClr val="1B2630"/>
                </a:solidFill>
                <a:latin typeface="Fira Sans"/>
                <a:ea typeface="Fira Sans"/>
                <a:cs typeface="Fira Sans"/>
                <a:sym typeface="Fira Sans"/>
              </a:rPr>
              <a:t>Data Ingestion</a:t>
            </a:r>
            <a:endParaRPr b="1" sz="1200">
              <a:solidFill>
                <a:srgbClr val="1B2630"/>
              </a:solidFill>
              <a:latin typeface="Fira Sans"/>
              <a:ea typeface="Fira Sans"/>
              <a:cs typeface="Fira Sans"/>
              <a:sym typeface="Fira Sans"/>
            </a:endParaRPr>
          </a:p>
        </p:txBody>
      </p:sp>
      <p:sp>
        <p:nvSpPr>
          <p:cNvPr id="144" name="Google Shape;144;p20"/>
          <p:cNvSpPr/>
          <p:nvPr/>
        </p:nvSpPr>
        <p:spPr>
          <a:xfrm>
            <a:off x="4526111" y="946801"/>
            <a:ext cx="1508700" cy="37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 sz="1200">
                <a:solidFill>
                  <a:srgbClr val="1B2630"/>
                </a:solidFill>
                <a:latin typeface="Fira Sans"/>
                <a:ea typeface="Fira Sans"/>
                <a:cs typeface="Fira Sans"/>
                <a:sym typeface="Fira Sans"/>
              </a:rPr>
              <a:t>Data Transformation</a:t>
            </a:r>
            <a:endParaRPr b="1" sz="1200">
              <a:solidFill>
                <a:srgbClr val="1B2630"/>
              </a:solidFill>
              <a:latin typeface="Fira Sans"/>
              <a:ea typeface="Fira Sans"/>
              <a:cs typeface="Fira Sans"/>
              <a:sym typeface="Fira Sans"/>
            </a:endParaRPr>
          </a:p>
        </p:txBody>
      </p:sp>
      <p:sp>
        <p:nvSpPr>
          <p:cNvPr id="145" name="Google Shape;145;p20"/>
          <p:cNvSpPr/>
          <p:nvPr/>
        </p:nvSpPr>
        <p:spPr>
          <a:xfrm>
            <a:off x="6023511" y="1023001"/>
            <a:ext cx="1508700" cy="37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 sz="1200">
                <a:solidFill>
                  <a:srgbClr val="1B2630"/>
                </a:solidFill>
                <a:latin typeface="Fira Sans"/>
                <a:ea typeface="Fira Sans"/>
                <a:cs typeface="Fira Sans"/>
                <a:sym typeface="Fira Sans"/>
              </a:rPr>
              <a:t>Data Serving</a:t>
            </a:r>
            <a:endParaRPr b="1" sz="1200">
              <a:solidFill>
                <a:srgbClr val="1B2630"/>
              </a:solidFill>
              <a:latin typeface="Fira Sans"/>
              <a:ea typeface="Fira Sans"/>
              <a:cs typeface="Fira Sans"/>
              <a:sym typeface="Fira Sans"/>
            </a:endParaRPr>
          </a:p>
        </p:txBody>
      </p:sp>
      <p:sp>
        <p:nvSpPr>
          <p:cNvPr id="146" name="Google Shape;146;p20"/>
          <p:cNvSpPr/>
          <p:nvPr/>
        </p:nvSpPr>
        <p:spPr>
          <a:xfrm>
            <a:off x="7604711" y="1023001"/>
            <a:ext cx="1508700" cy="37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 sz="1200">
                <a:solidFill>
                  <a:srgbClr val="1B2630"/>
                </a:solidFill>
                <a:latin typeface="Fira Sans"/>
                <a:ea typeface="Fira Sans"/>
                <a:cs typeface="Fira Sans"/>
                <a:sym typeface="Fira Sans"/>
              </a:rPr>
              <a:t>In General</a:t>
            </a:r>
            <a:endParaRPr b="1" sz="1200">
              <a:solidFill>
                <a:srgbClr val="1B2630"/>
              </a:solidFill>
              <a:latin typeface="Fira Sans"/>
              <a:ea typeface="Fira Sans"/>
              <a:cs typeface="Fira Sans"/>
              <a:sym typeface="Fir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0" name="Shape 150"/>
        <p:cNvGrpSpPr/>
        <p:nvPr/>
      </p:nvGrpSpPr>
      <p:grpSpPr>
        <a:xfrm>
          <a:off x="0" y="0"/>
          <a:ext cx="0" cy="0"/>
          <a:chOff x="0" y="0"/>
          <a:chExt cx="0" cy="0"/>
        </a:xfrm>
      </p:grpSpPr>
      <p:sp>
        <p:nvSpPr>
          <p:cNvPr id="151" name="Google Shape;151;p21"/>
          <p:cNvSpPr/>
          <p:nvPr/>
        </p:nvSpPr>
        <p:spPr>
          <a:xfrm>
            <a:off x="6098400" y="907950"/>
            <a:ext cx="3048000" cy="42357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AD5C8"/>
              </a:solidFill>
            </a:endParaRPr>
          </a:p>
        </p:txBody>
      </p:sp>
      <p:sp>
        <p:nvSpPr>
          <p:cNvPr id="152" name="Google Shape;152;p21"/>
          <p:cNvSpPr/>
          <p:nvPr/>
        </p:nvSpPr>
        <p:spPr>
          <a:xfrm>
            <a:off x="3050400" y="907950"/>
            <a:ext cx="3048000" cy="4235700"/>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AD5C8"/>
              </a:solidFill>
            </a:endParaRPr>
          </a:p>
        </p:txBody>
      </p:sp>
      <p:sp>
        <p:nvSpPr>
          <p:cNvPr id="153" name="Google Shape;153;p21"/>
          <p:cNvSpPr/>
          <p:nvPr/>
        </p:nvSpPr>
        <p:spPr>
          <a:xfrm>
            <a:off x="2400" y="907950"/>
            <a:ext cx="3048000" cy="42357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AD5C8"/>
              </a:solidFill>
            </a:endParaRPr>
          </a:p>
        </p:txBody>
      </p:sp>
      <p:sp>
        <p:nvSpPr>
          <p:cNvPr id="154" name="Google Shape;154;p21"/>
          <p:cNvSpPr txBox="1"/>
          <p:nvPr>
            <p:ph type="title"/>
          </p:nvPr>
        </p:nvSpPr>
        <p:spPr>
          <a:xfrm>
            <a:off x="311099" y="189100"/>
            <a:ext cx="8521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1100"/>
              <a:buNone/>
            </a:pPr>
            <a:r>
              <a:rPr b="1" lang="en" sz="2200">
                <a:latin typeface="Fira Sans"/>
                <a:ea typeface="Fira Sans"/>
                <a:cs typeface="Fira Sans"/>
                <a:sym typeface="Fira Sans"/>
              </a:rPr>
              <a:t>Summary</a:t>
            </a:r>
            <a:endParaRPr b="1" sz="2200">
              <a:latin typeface="Fira Sans"/>
              <a:ea typeface="Fira Sans"/>
              <a:cs typeface="Fira Sans"/>
              <a:sym typeface="Fira Sans"/>
            </a:endParaRPr>
          </a:p>
          <a:p>
            <a:pPr indent="0" lvl="0" marL="0" rtl="0" algn="ctr">
              <a:lnSpc>
                <a:spcPct val="100000"/>
              </a:lnSpc>
              <a:spcBef>
                <a:spcPts val="0"/>
              </a:spcBef>
              <a:spcAft>
                <a:spcPts val="0"/>
              </a:spcAft>
              <a:buSzPts val="1100"/>
              <a:buNone/>
            </a:pPr>
            <a:r>
              <a:t/>
            </a:r>
            <a:endParaRPr b="1" sz="2200">
              <a:latin typeface="Fira Sans"/>
              <a:ea typeface="Fira Sans"/>
              <a:cs typeface="Fira Sans"/>
              <a:sym typeface="Fira Sans"/>
            </a:endParaRPr>
          </a:p>
        </p:txBody>
      </p:sp>
      <p:sp>
        <p:nvSpPr>
          <p:cNvPr id="155" name="Google Shape;155;p21"/>
          <p:cNvSpPr/>
          <p:nvPr/>
        </p:nvSpPr>
        <p:spPr>
          <a:xfrm>
            <a:off x="197100" y="3280475"/>
            <a:ext cx="2658600" cy="11172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chemeClr val="dk1"/>
              </a:buClr>
              <a:buSzPts val="1100"/>
              <a:buFont typeface="Arial"/>
              <a:buNone/>
            </a:pPr>
            <a:r>
              <a:rPr lang="en" sz="900">
                <a:solidFill>
                  <a:srgbClr val="101820"/>
                </a:solidFill>
                <a:latin typeface="Open Sans Medium"/>
                <a:ea typeface="Open Sans Medium"/>
                <a:cs typeface="Open Sans Medium"/>
                <a:sym typeface="Open Sans Medium"/>
              </a:rPr>
              <a:t>We talked about the importance of data engineering in determining not only what data is being collected but also how it is being stored and processed.</a:t>
            </a:r>
            <a:endParaRPr sz="900">
              <a:solidFill>
                <a:srgbClr val="101820"/>
              </a:solidFill>
              <a:latin typeface="Open Sans Medium"/>
              <a:ea typeface="Open Sans Medium"/>
              <a:cs typeface="Open Sans Medium"/>
              <a:sym typeface="Open Sans Medium"/>
            </a:endParaRPr>
          </a:p>
          <a:p>
            <a:pPr indent="0" lvl="0" marL="0" marR="0" rtl="0" algn="ctr">
              <a:lnSpc>
                <a:spcPct val="150000"/>
              </a:lnSpc>
              <a:spcBef>
                <a:spcPts val="0"/>
              </a:spcBef>
              <a:spcAft>
                <a:spcPts val="0"/>
              </a:spcAft>
              <a:buClr>
                <a:srgbClr val="000000"/>
              </a:buClr>
              <a:buSzPts val="1200"/>
              <a:buFont typeface="Arial"/>
              <a:buNone/>
            </a:pPr>
            <a:r>
              <a:t/>
            </a:r>
            <a:endParaRPr sz="900">
              <a:solidFill>
                <a:srgbClr val="101820"/>
              </a:solidFill>
              <a:latin typeface="Open Sans Medium"/>
              <a:ea typeface="Open Sans Medium"/>
              <a:cs typeface="Open Sans Medium"/>
              <a:sym typeface="Open Sans Medium"/>
            </a:endParaRPr>
          </a:p>
        </p:txBody>
      </p:sp>
      <p:sp>
        <p:nvSpPr>
          <p:cNvPr id="156" name="Google Shape;156;p21"/>
          <p:cNvSpPr/>
          <p:nvPr/>
        </p:nvSpPr>
        <p:spPr>
          <a:xfrm>
            <a:off x="304202" y="1816263"/>
            <a:ext cx="24444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lang="en" sz="3500">
                <a:solidFill>
                  <a:srgbClr val="01ADE2"/>
                </a:solidFill>
                <a:latin typeface="Fira Sans Medium"/>
                <a:ea typeface="Fira Sans Medium"/>
                <a:cs typeface="Fira Sans Medium"/>
                <a:sym typeface="Fira Sans Medium"/>
              </a:rPr>
              <a:t>Data Engineering</a:t>
            </a:r>
            <a:endParaRPr i="0" sz="3500" cap="none" strike="noStrike">
              <a:solidFill>
                <a:srgbClr val="01ADE2"/>
              </a:solidFill>
              <a:latin typeface="Fira Sans Medium"/>
              <a:ea typeface="Fira Sans Medium"/>
              <a:cs typeface="Fira Sans Medium"/>
              <a:sym typeface="Fira Sans Medium"/>
            </a:endParaRPr>
          </a:p>
        </p:txBody>
      </p:sp>
      <p:sp>
        <p:nvSpPr>
          <p:cNvPr id="157" name="Google Shape;157;p21"/>
          <p:cNvSpPr/>
          <p:nvPr/>
        </p:nvSpPr>
        <p:spPr>
          <a:xfrm>
            <a:off x="226050" y="2777200"/>
            <a:ext cx="2600700" cy="401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 sz="1700">
                <a:solidFill>
                  <a:srgbClr val="101820"/>
                </a:solidFill>
                <a:latin typeface="Fira Sans"/>
                <a:ea typeface="Fira Sans"/>
                <a:cs typeface="Fira Sans"/>
                <a:sym typeface="Fira Sans"/>
              </a:rPr>
              <a:t>What and How</a:t>
            </a:r>
            <a:endParaRPr b="1" i="0" sz="1700" cap="none" strike="noStrike">
              <a:solidFill>
                <a:srgbClr val="101820"/>
              </a:solidFill>
              <a:latin typeface="Fira Sans"/>
              <a:ea typeface="Fira Sans"/>
              <a:cs typeface="Fira Sans"/>
              <a:sym typeface="Fira Sans"/>
            </a:endParaRPr>
          </a:p>
        </p:txBody>
      </p:sp>
      <p:sp>
        <p:nvSpPr>
          <p:cNvPr id="158" name="Google Shape;158;p21"/>
          <p:cNvSpPr/>
          <p:nvPr/>
        </p:nvSpPr>
        <p:spPr>
          <a:xfrm>
            <a:off x="3245100" y="3280475"/>
            <a:ext cx="2658600" cy="11172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chemeClr val="dk1"/>
              </a:buClr>
              <a:buSzPts val="1100"/>
              <a:buFont typeface="Arial"/>
              <a:buNone/>
            </a:pPr>
            <a:r>
              <a:rPr lang="en" sz="900">
                <a:solidFill>
                  <a:srgbClr val="101820"/>
                </a:solidFill>
                <a:latin typeface="Open Sans Medium"/>
                <a:ea typeface="Open Sans Medium"/>
                <a:cs typeface="Open Sans Medium"/>
                <a:sym typeface="Open Sans Medium"/>
              </a:rPr>
              <a:t>We talked about the data engineering lifecycle, broken down into 5 stages related to processes being run on the data.</a:t>
            </a:r>
            <a:endParaRPr sz="900">
              <a:solidFill>
                <a:srgbClr val="101820"/>
              </a:solidFill>
              <a:latin typeface="Open Sans Medium"/>
              <a:ea typeface="Open Sans Medium"/>
              <a:cs typeface="Open Sans Medium"/>
              <a:sym typeface="Open Sans Medium"/>
            </a:endParaRPr>
          </a:p>
          <a:p>
            <a:pPr indent="0" lvl="0" marL="0" marR="0" rtl="0" algn="ctr">
              <a:lnSpc>
                <a:spcPct val="150000"/>
              </a:lnSpc>
              <a:spcBef>
                <a:spcPts val="0"/>
              </a:spcBef>
              <a:spcAft>
                <a:spcPts val="0"/>
              </a:spcAft>
              <a:buClr>
                <a:srgbClr val="000000"/>
              </a:buClr>
              <a:buSzPts val="1200"/>
              <a:buFont typeface="Arial"/>
              <a:buNone/>
            </a:pPr>
            <a:r>
              <a:t/>
            </a:r>
            <a:endParaRPr sz="900">
              <a:solidFill>
                <a:srgbClr val="101820"/>
              </a:solidFill>
              <a:latin typeface="Open Sans Medium"/>
              <a:ea typeface="Open Sans Medium"/>
              <a:cs typeface="Open Sans Medium"/>
              <a:sym typeface="Open Sans Medium"/>
            </a:endParaRPr>
          </a:p>
        </p:txBody>
      </p:sp>
      <p:sp>
        <p:nvSpPr>
          <p:cNvPr id="159" name="Google Shape;159;p21"/>
          <p:cNvSpPr/>
          <p:nvPr/>
        </p:nvSpPr>
        <p:spPr>
          <a:xfrm>
            <a:off x="3352202" y="1816263"/>
            <a:ext cx="24444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lang="en" sz="3500">
                <a:solidFill>
                  <a:srgbClr val="01ADE2"/>
                </a:solidFill>
                <a:latin typeface="Fira Sans Medium"/>
                <a:ea typeface="Fira Sans Medium"/>
                <a:cs typeface="Fira Sans Medium"/>
                <a:sym typeface="Fira Sans Medium"/>
              </a:rPr>
              <a:t>Lifecycle</a:t>
            </a:r>
            <a:endParaRPr i="0" sz="3500" cap="none" strike="noStrike">
              <a:solidFill>
                <a:srgbClr val="01ADE2"/>
              </a:solidFill>
              <a:latin typeface="Fira Sans Medium"/>
              <a:ea typeface="Fira Sans Medium"/>
              <a:cs typeface="Fira Sans Medium"/>
              <a:sym typeface="Fira Sans Medium"/>
            </a:endParaRPr>
          </a:p>
        </p:txBody>
      </p:sp>
      <p:sp>
        <p:nvSpPr>
          <p:cNvPr id="160" name="Google Shape;160;p21"/>
          <p:cNvSpPr/>
          <p:nvPr/>
        </p:nvSpPr>
        <p:spPr>
          <a:xfrm>
            <a:off x="3274050" y="2777200"/>
            <a:ext cx="2600700" cy="401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 sz="1700">
                <a:solidFill>
                  <a:srgbClr val="101820"/>
                </a:solidFill>
                <a:latin typeface="Fira Sans"/>
                <a:ea typeface="Fira Sans"/>
                <a:cs typeface="Fira Sans"/>
                <a:sym typeface="Fira Sans"/>
              </a:rPr>
              <a:t>Managing Data</a:t>
            </a:r>
            <a:endParaRPr b="1" i="0" sz="1700" cap="none" strike="noStrike">
              <a:solidFill>
                <a:srgbClr val="101820"/>
              </a:solidFill>
              <a:latin typeface="Fira Sans"/>
              <a:ea typeface="Fira Sans"/>
              <a:cs typeface="Fira Sans"/>
              <a:sym typeface="Fira Sans"/>
            </a:endParaRPr>
          </a:p>
        </p:txBody>
      </p:sp>
      <p:sp>
        <p:nvSpPr>
          <p:cNvPr id="161" name="Google Shape;161;p21"/>
          <p:cNvSpPr/>
          <p:nvPr/>
        </p:nvSpPr>
        <p:spPr>
          <a:xfrm>
            <a:off x="6293100" y="3280475"/>
            <a:ext cx="2658600" cy="11172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chemeClr val="dk1"/>
              </a:buClr>
              <a:buSzPts val="1100"/>
              <a:buFont typeface="Arial"/>
              <a:buNone/>
            </a:pPr>
            <a:r>
              <a:rPr lang="en" sz="900">
                <a:solidFill>
                  <a:srgbClr val="101820"/>
                </a:solidFill>
                <a:latin typeface="Open Sans Medium"/>
                <a:ea typeface="Open Sans Medium"/>
                <a:cs typeface="Open Sans Medium"/>
                <a:sym typeface="Open Sans Medium"/>
              </a:rPr>
              <a:t>We talked about some high level best practices and considerations when </a:t>
            </a:r>
            <a:r>
              <a:rPr lang="en" sz="900">
                <a:solidFill>
                  <a:srgbClr val="101820"/>
                </a:solidFill>
                <a:latin typeface="Open Sans Medium"/>
                <a:ea typeface="Open Sans Medium"/>
                <a:cs typeface="Open Sans Medium"/>
                <a:sym typeface="Open Sans Medium"/>
              </a:rPr>
              <a:t>involved</a:t>
            </a:r>
            <a:r>
              <a:rPr lang="en" sz="900">
                <a:solidFill>
                  <a:srgbClr val="101820"/>
                </a:solidFill>
                <a:latin typeface="Open Sans Medium"/>
                <a:ea typeface="Open Sans Medium"/>
                <a:cs typeface="Open Sans Medium"/>
                <a:sym typeface="Open Sans Medium"/>
              </a:rPr>
              <a:t> in the data engineering process with an </a:t>
            </a:r>
            <a:r>
              <a:rPr lang="en" sz="900">
                <a:solidFill>
                  <a:srgbClr val="101820"/>
                </a:solidFill>
                <a:latin typeface="Open Sans Medium"/>
                <a:ea typeface="Open Sans Medium"/>
                <a:cs typeface="Open Sans Medium"/>
                <a:sym typeface="Open Sans Medium"/>
              </a:rPr>
              <a:t>emphasis</a:t>
            </a:r>
            <a:r>
              <a:rPr lang="en" sz="900">
                <a:solidFill>
                  <a:srgbClr val="101820"/>
                </a:solidFill>
                <a:latin typeface="Open Sans Medium"/>
                <a:ea typeface="Open Sans Medium"/>
                <a:cs typeface="Open Sans Medium"/>
                <a:sym typeface="Open Sans Medium"/>
              </a:rPr>
              <a:t> on data security and privacy.</a:t>
            </a:r>
            <a:endParaRPr sz="900">
              <a:solidFill>
                <a:srgbClr val="101820"/>
              </a:solidFill>
              <a:latin typeface="Open Sans Medium"/>
              <a:ea typeface="Open Sans Medium"/>
              <a:cs typeface="Open Sans Medium"/>
              <a:sym typeface="Open Sans Medium"/>
            </a:endParaRPr>
          </a:p>
          <a:p>
            <a:pPr indent="0" lvl="0" marL="0" marR="0" rtl="0" algn="ctr">
              <a:lnSpc>
                <a:spcPct val="150000"/>
              </a:lnSpc>
              <a:spcBef>
                <a:spcPts val="0"/>
              </a:spcBef>
              <a:spcAft>
                <a:spcPts val="0"/>
              </a:spcAft>
              <a:buClr>
                <a:srgbClr val="000000"/>
              </a:buClr>
              <a:buSzPts val="1200"/>
              <a:buFont typeface="Arial"/>
              <a:buNone/>
            </a:pPr>
            <a:r>
              <a:t/>
            </a:r>
            <a:endParaRPr sz="900">
              <a:solidFill>
                <a:srgbClr val="101820"/>
              </a:solidFill>
              <a:latin typeface="Open Sans Medium"/>
              <a:ea typeface="Open Sans Medium"/>
              <a:cs typeface="Open Sans Medium"/>
              <a:sym typeface="Open Sans Medium"/>
            </a:endParaRPr>
          </a:p>
        </p:txBody>
      </p:sp>
      <p:sp>
        <p:nvSpPr>
          <p:cNvPr id="162" name="Google Shape;162;p21"/>
          <p:cNvSpPr/>
          <p:nvPr/>
        </p:nvSpPr>
        <p:spPr>
          <a:xfrm>
            <a:off x="6400202" y="1816263"/>
            <a:ext cx="24444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lang="en" sz="3500">
                <a:solidFill>
                  <a:srgbClr val="01ADE2"/>
                </a:solidFill>
                <a:latin typeface="Fira Sans Medium"/>
                <a:ea typeface="Fira Sans Medium"/>
                <a:cs typeface="Fira Sans Medium"/>
                <a:sym typeface="Fira Sans Medium"/>
              </a:rPr>
              <a:t>Best Practices</a:t>
            </a:r>
            <a:endParaRPr i="0" sz="3500" cap="none" strike="noStrike">
              <a:solidFill>
                <a:srgbClr val="01ADE2"/>
              </a:solidFill>
              <a:latin typeface="Fira Sans Medium"/>
              <a:ea typeface="Fira Sans Medium"/>
              <a:cs typeface="Fira Sans Medium"/>
              <a:sym typeface="Fira Sans Medium"/>
            </a:endParaRPr>
          </a:p>
        </p:txBody>
      </p:sp>
      <p:sp>
        <p:nvSpPr>
          <p:cNvPr id="163" name="Google Shape;163;p21"/>
          <p:cNvSpPr/>
          <p:nvPr/>
        </p:nvSpPr>
        <p:spPr>
          <a:xfrm>
            <a:off x="6322050" y="2777200"/>
            <a:ext cx="2600700" cy="401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 sz="1700">
                <a:solidFill>
                  <a:srgbClr val="101820"/>
                </a:solidFill>
                <a:latin typeface="Fira Sans"/>
                <a:ea typeface="Fira Sans"/>
                <a:cs typeface="Fira Sans"/>
                <a:sym typeface="Fira Sans"/>
              </a:rPr>
              <a:t>Across Stages</a:t>
            </a:r>
            <a:endParaRPr b="1" i="0" sz="1700" cap="none" strike="noStrike">
              <a:solidFill>
                <a:srgbClr val="101820"/>
              </a:solidFill>
              <a:latin typeface="Fira Sans"/>
              <a:ea typeface="Fira Sans"/>
              <a:cs typeface="Fira Sans"/>
              <a:sym typeface="Fira San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