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Fira Sans Medium"/>
      <p:regular r:id="rId12"/>
      <p:bold r:id="rId13"/>
      <p:italic r:id="rId14"/>
      <p:boldItalic r:id="rId15"/>
    </p:embeddedFont>
    <p:embeddedFont>
      <p:font typeface="Fira Sans ExtraBold"/>
      <p:bold r:id="rId16"/>
      <p:boldItalic r:id="rId17"/>
    </p:embeddedFont>
    <p:embeddedFont>
      <p:font typeface="Fira Sans SemiBold"/>
      <p:regular r:id="rId18"/>
      <p:bold r:id="rId19"/>
      <p:italic r:id="rId20"/>
      <p:boldItalic r:id="rId21"/>
    </p:embeddedFont>
    <p:embeddedFont>
      <p:font typeface="Fira Sans"/>
      <p:regular r:id="rId22"/>
      <p:bold r:id="rId23"/>
      <p:italic r:id="rId24"/>
      <p:boldItalic r:id="rId25"/>
    </p:embeddedFont>
    <p:embeddedFont>
      <p:font typeface="Open Sans Medium"/>
      <p:regular r:id="rId26"/>
      <p:bold r:id="rId27"/>
      <p:italic r:id="rId28"/>
      <p:boldItalic r:id="rId29"/>
    </p:embeddedFont>
    <p:embeddedFont>
      <p:font typeface="DM Serif Display"/>
      <p:regular r:id="rId30"/>
      <p:italic r:id="rId31"/>
    </p:embeddedFont>
    <p:embeddedFont>
      <p:font typeface="Karla"/>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os="657">
          <p15:clr>
            <a:srgbClr val="9AA0A6"/>
          </p15:clr>
        </p15:guide>
        <p15:guide id="4" pos="4649">
          <p15:clr>
            <a:srgbClr val="9AA0A6"/>
          </p15:clr>
        </p15:guide>
        <p15:guide id="5" pos="3497">
          <p15:clr>
            <a:srgbClr val="9AA0A6"/>
          </p15:clr>
        </p15:guide>
        <p15:guide id="6" pos="2350">
          <p15:clr>
            <a:srgbClr val="9AA0A6"/>
          </p15:clr>
        </p15:guide>
        <p15:guide id="7" pos="201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657" orient="horz"/>
        <p:guide pos="4649"/>
        <p:guide pos="3497"/>
        <p:guide pos="2350"/>
        <p:guide pos="201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raSansSemiBold-italic.fntdata"/><Relationship Id="rId22" Type="http://schemas.openxmlformats.org/officeDocument/2006/relationships/font" Target="fonts/FiraSans-regular.fntdata"/><Relationship Id="rId21" Type="http://schemas.openxmlformats.org/officeDocument/2006/relationships/font" Target="fonts/FiraSansSemiBold-boldItalic.fntdata"/><Relationship Id="rId24" Type="http://schemas.openxmlformats.org/officeDocument/2006/relationships/font" Target="fonts/FiraSans-italic.fntdata"/><Relationship Id="rId23" Type="http://schemas.openxmlformats.org/officeDocument/2006/relationships/font" Target="fonts/Fira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Medium-regular.fntdata"/><Relationship Id="rId25" Type="http://schemas.openxmlformats.org/officeDocument/2006/relationships/font" Target="fonts/FiraSans-boldItalic.fntdata"/><Relationship Id="rId28" Type="http://schemas.openxmlformats.org/officeDocument/2006/relationships/font" Target="fonts/OpenSansMedium-italic.fntdata"/><Relationship Id="rId27" Type="http://schemas.openxmlformats.org/officeDocument/2006/relationships/font" Target="fonts/OpenSans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erifDisplay-italic.fntdata"/><Relationship Id="rId30" Type="http://schemas.openxmlformats.org/officeDocument/2006/relationships/font" Target="fonts/DMSerifDisplay-regular.fntdata"/><Relationship Id="rId11" Type="http://schemas.openxmlformats.org/officeDocument/2006/relationships/slide" Target="slides/slide6.xml"/><Relationship Id="rId33" Type="http://schemas.openxmlformats.org/officeDocument/2006/relationships/font" Target="fonts/Karla-bold.fntdata"/><Relationship Id="rId10" Type="http://schemas.openxmlformats.org/officeDocument/2006/relationships/slide" Target="slides/slide5.xml"/><Relationship Id="rId32" Type="http://schemas.openxmlformats.org/officeDocument/2006/relationships/font" Target="fonts/Karla-regular.fntdata"/><Relationship Id="rId13" Type="http://schemas.openxmlformats.org/officeDocument/2006/relationships/font" Target="fonts/FiraSansMedium-bold.fntdata"/><Relationship Id="rId35" Type="http://schemas.openxmlformats.org/officeDocument/2006/relationships/font" Target="fonts/Karla-boldItalic.fntdata"/><Relationship Id="rId12" Type="http://schemas.openxmlformats.org/officeDocument/2006/relationships/font" Target="fonts/FiraSansMedium-regular.fntdata"/><Relationship Id="rId34" Type="http://schemas.openxmlformats.org/officeDocument/2006/relationships/font" Target="fonts/Karla-italic.fntdata"/><Relationship Id="rId15" Type="http://schemas.openxmlformats.org/officeDocument/2006/relationships/font" Target="fonts/FiraSansMedium-boldItalic.fntdata"/><Relationship Id="rId37" Type="http://schemas.openxmlformats.org/officeDocument/2006/relationships/font" Target="fonts/OpenSans-bold.fntdata"/><Relationship Id="rId14" Type="http://schemas.openxmlformats.org/officeDocument/2006/relationships/font" Target="fonts/FiraSansMedium-italic.fntdata"/><Relationship Id="rId36" Type="http://schemas.openxmlformats.org/officeDocument/2006/relationships/font" Target="fonts/OpenSans-regular.fntdata"/><Relationship Id="rId17" Type="http://schemas.openxmlformats.org/officeDocument/2006/relationships/font" Target="fonts/FiraSansExtraBold-boldItalic.fntdata"/><Relationship Id="rId39" Type="http://schemas.openxmlformats.org/officeDocument/2006/relationships/font" Target="fonts/OpenSans-boldItalic.fntdata"/><Relationship Id="rId16" Type="http://schemas.openxmlformats.org/officeDocument/2006/relationships/font" Target="fonts/FiraSansExtraBold-bold.fntdata"/><Relationship Id="rId38" Type="http://schemas.openxmlformats.org/officeDocument/2006/relationships/font" Target="fonts/OpenSans-italic.fntdata"/><Relationship Id="rId19" Type="http://schemas.openxmlformats.org/officeDocument/2006/relationships/font" Target="fonts/FiraSansSemiBold-bold.fntdata"/><Relationship Id="rId18" Type="http://schemas.openxmlformats.org/officeDocument/2006/relationships/font" Target="fonts/FiraSans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125df9ed6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g1125df9ed6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b1e44ee66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b1e44ee66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b1e44ee660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b1e44ee660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a02eed6def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a02eed6de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b1e44ee660_0_3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1b1e44ee660_0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b1e44ee660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b1e44ee660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07194" y="178941"/>
            <a:ext cx="7886700" cy="6549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3200"/>
              <a:buNone/>
              <a:defRPr sz="3000">
                <a:solidFill>
                  <a:srgbClr val="002060"/>
                </a:solidFill>
                <a:latin typeface="Karla"/>
                <a:ea typeface="Karla"/>
                <a:cs typeface="Karla"/>
                <a:sym typeface="Karla"/>
              </a:defRPr>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52" name="Google Shape;52;p13"/>
          <p:cNvSpPr txBox="1"/>
          <p:nvPr>
            <p:ph idx="1" type="body"/>
          </p:nvPr>
        </p:nvSpPr>
        <p:spPr>
          <a:xfrm>
            <a:off x="400050" y="10263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sz="1200">
                <a:latin typeface="Karla"/>
                <a:ea typeface="Karla"/>
                <a:cs typeface="Karla"/>
                <a:sym typeface="Karla"/>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atin typeface="Karla"/>
                <a:ea typeface="Karla"/>
                <a:cs typeface="Karla"/>
                <a:sym typeface="Karla"/>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atin typeface="Karla"/>
                <a:ea typeface="Karla"/>
                <a:cs typeface="Karla"/>
                <a:sym typeface="Karla"/>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5" name="Google Shape;55;p13"/>
          <p:cNvSpPr txBox="1"/>
          <p:nvPr>
            <p:ph idx="12" type="sldNum"/>
          </p:nvPr>
        </p:nvSpPr>
        <p:spPr>
          <a:xfrm>
            <a:off x="8688150" y="4767275"/>
            <a:ext cx="360600" cy="273900"/>
          </a:xfrm>
          <a:prstGeom prst="rect">
            <a:avLst/>
          </a:prstGeom>
          <a:noFill/>
          <a:ln>
            <a:noFill/>
          </a:ln>
        </p:spPr>
        <p:txBody>
          <a:bodyPr anchorCtr="0" anchor="ctr" bIns="34275" lIns="68575" spcFirstLastPara="1" rIns="68575" wrap="square" tIns="34275">
            <a:normAutofit/>
          </a:bodyPr>
          <a:lstStyle>
            <a:lvl1pPr indent="0" lvl="0"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1pPr>
            <a:lvl2pPr indent="0" lvl="1"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2pPr>
            <a:lvl3pPr indent="0" lvl="2"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3pPr>
            <a:lvl4pPr indent="0" lvl="3"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4pPr>
            <a:lvl5pPr indent="0" lvl="4"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5pPr>
            <a:lvl6pPr indent="0" lvl="5"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6pPr>
            <a:lvl7pPr indent="0" lvl="6"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7pPr>
            <a:lvl8pPr indent="0" lvl="7"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8pPr>
            <a:lvl9pPr indent="0" lvl="8"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59"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b="-10" l="0" r="0" t="0"/>
          <a:stretch/>
        </p:blipFill>
        <p:spPr>
          <a:xfrm>
            <a:off x="450734" y="4615050"/>
            <a:ext cx="2094225" cy="222000"/>
          </a:xfrm>
          <a:prstGeom prst="rect">
            <a:avLst/>
          </a:prstGeom>
          <a:noFill/>
          <a:ln>
            <a:noFill/>
          </a:ln>
        </p:spPr>
      </p:pic>
      <p:sp>
        <p:nvSpPr>
          <p:cNvPr id="61" name="Google Shape;61;p14"/>
          <p:cNvSpPr txBox="1"/>
          <p:nvPr/>
        </p:nvSpPr>
        <p:spPr>
          <a:xfrm>
            <a:off x="378075" y="745500"/>
            <a:ext cx="7299300" cy="82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5800">
                <a:solidFill>
                  <a:srgbClr val="1B2630"/>
                </a:solidFill>
                <a:latin typeface="Fira Sans ExtraBold"/>
                <a:ea typeface="Fira Sans ExtraBold"/>
                <a:cs typeface="Fira Sans ExtraBold"/>
                <a:sym typeface="Fira Sans ExtraBold"/>
              </a:rPr>
              <a:t>SQL </a:t>
            </a:r>
            <a:endParaRPr sz="5800">
              <a:solidFill>
                <a:srgbClr val="1B2630"/>
              </a:solidFill>
              <a:latin typeface="Fira Sans ExtraBold"/>
              <a:ea typeface="Fira Sans ExtraBold"/>
              <a:cs typeface="Fira Sans ExtraBold"/>
              <a:sym typeface="Fira Sans ExtraBold"/>
            </a:endParaRPr>
          </a:p>
          <a:p>
            <a:pPr indent="0" lvl="0" marL="0" marR="0" rtl="0" algn="l">
              <a:lnSpc>
                <a:spcPct val="100000"/>
              </a:lnSpc>
              <a:spcBef>
                <a:spcPts val="0"/>
              </a:spcBef>
              <a:spcAft>
                <a:spcPts val="0"/>
              </a:spcAft>
              <a:buClr>
                <a:schemeClr val="dk1"/>
              </a:buClr>
              <a:buSzPts val="1100"/>
              <a:buFont typeface="Arial"/>
              <a:buNone/>
            </a:pPr>
            <a:r>
              <a:rPr lang="en" sz="5800">
                <a:solidFill>
                  <a:srgbClr val="1B2630"/>
                </a:solidFill>
                <a:latin typeface="Fira Sans ExtraBold"/>
                <a:ea typeface="Fira Sans ExtraBold"/>
                <a:cs typeface="Fira Sans ExtraBold"/>
                <a:sym typeface="Fira Sans ExtraBold"/>
              </a:rPr>
              <a:t>Table Relations</a:t>
            </a:r>
            <a:endParaRPr sz="3400">
              <a:solidFill>
                <a:srgbClr val="1B2630"/>
              </a:solidFill>
              <a:latin typeface="Fira Sans ExtraBold"/>
              <a:ea typeface="Fira Sans ExtraBold"/>
              <a:cs typeface="Fira Sans ExtraBold"/>
              <a:sym typeface="Fira Sans ExtraBold"/>
            </a:endParaRPr>
          </a:p>
          <a:p>
            <a:pPr indent="0" lvl="0" marL="0" marR="0" rtl="0" algn="l">
              <a:lnSpc>
                <a:spcPct val="100000"/>
              </a:lnSpc>
              <a:spcBef>
                <a:spcPts val="0"/>
              </a:spcBef>
              <a:spcAft>
                <a:spcPts val="0"/>
              </a:spcAft>
              <a:buClr>
                <a:srgbClr val="000000"/>
              </a:buClr>
              <a:buSzPts val="2400"/>
              <a:buFont typeface="Arial"/>
              <a:buNone/>
            </a:pPr>
            <a:r>
              <a:t/>
            </a:r>
            <a:endParaRPr sz="4600">
              <a:solidFill>
                <a:srgbClr val="1B2630"/>
              </a:solidFill>
              <a:latin typeface="Fira Sans ExtraBold"/>
              <a:ea typeface="Fira Sans ExtraBold"/>
              <a:cs typeface="Fira Sans ExtraBold"/>
              <a:sym typeface="Fira Sans ExtraBold"/>
            </a:endParaRPr>
          </a:p>
        </p:txBody>
      </p:sp>
      <p:pic>
        <p:nvPicPr>
          <p:cNvPr id="62" name="Google Shape;62;p14"/>
          <p:cNvPicPr preferRelativeResize="0"/>
          <p:nvPr/>
        </p:nvPicPr>
        <p:blipFill>
          <a:blip r:embed="rId4">
            <a:alphaModFix/>
          </a:blip>
          <a:stretch>
            <a:fillRect/>
          </a:stretch>
        </p:blipFill>
        <p:spPr>
          <a:xfrm>
            <a:off x="4919639" y="8"/>
            <a:ext cx="4224356"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630"/>
        </a:solidFill>
      </p:bgPr>
    </p:bg>
    <p:spTree>
      <p:nvGrpSpPr>
        <p:cNvPr id="66"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b="0" l="15561" r="15554" t="0"/>
          <a:stretch/>
        </p:blipFill>
        <p:spPr>
          <a:xfrm>
            <a:off x="0" y="0"/>
            <a:ext cx="3543000" cy="5143500"/>
          </a:xfrm>
          <a:prstGeom prst="roundRect">
            <a:avLst>
              <a:gd fmla="val 0" name="adj"/>
            </a:avLst>
          </a:prstGeom>
          <a:noFill/>
          <a:ln>
            <a:noFill/>
          </a:ln>
        </p:spPr>
      </p:pic>
      <p:sp>
        <p:nvSpPr>
          <p:cNvPr id="68" name="Google Shape;68;p15"/>
          <p:cNvSpPr txBox="1"/>
          <p:nvPr>
            <p:ph type="ctrTitle"/>
          </p:nvPr>
        </p:nvSpPr>
        <p:spPr>
          <a:xfrm>
            <a:off x="4384750" y="1284075"/>
            <a:ext cx="2877600" cy="7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3600">
                <a:solidFill>
                  <a:schemeClr val="lt1"/>
                </a:solidFill>
                <a:latin typeface="Fira Sans"/>
                <a:ea typeface="Fira Sans"/>
                <a:cs typeface="Fira Sans"/>
                <a:sym typeface="Fira Sans"/>
              </a:rPr>
              <a:t>Agenda</a:t>
            </a:r>
            <a:endParaRPr b="1" sz="3600">
              <a:solidFill>
                <a:schemeClr val="lt1"/>
              </a:solidFill>
              <a:latin typeface="Fira Sans"/>
              <a:ea typeface="Fira Sans"/>
              <a:cs typeface="Fira Sans"/>
              <a:sym typeface="Fira Sans"/>
            </a:endParaRPr>
          </a:p>
          <a:p>
            <a:pPr indent="0" lvl="0" marL="0" rtl="0" algn="l">
              <a:lnSpc>
                <a:spcPct val="100000"/>
              </a:lnSpc>
              <a:spcBef>
                <a:spcPts val="0"/>
              </a:spcBef>
              <a:spcAft>
                <a:spcPts val="0"/>
              </a:spcAft>
              <a:buSzPts val="2400"/>
              <a:buNone/>
            </a:pPr>
            <a:r>
              <a:t/>
            </a:r>
            <a:endParaRPr b="1" sz="2900">
              <a:solidFill>
                <a:srgbClr val="1B2630"/>
              </a:solidFill>
              <a:latin typeface="Fira Sans"/>
              <a:ea typeface="Fira Sans"/>
              <a:cs typeface="Fira Sans"/>
              <a:sym typeface="Fira Sans"/>
            </a:endParaRPr>
          </a:p>
          <a:p>
            <a:pPr indent="0" lvl="0" marL="0" rtl="0" algn="l">
              <a:lnSpc>
                <a:spcPct val="100000"/>
              </a:lnSpc>
              <a:spcBef>
                <a:spcPts val="0"/>
              </a:spcBef>
              <a:spcAft>
                <a:spcPts val="0"/>
              </a:spcAft>
              <a:buSzPts val="2800"/>
              <a:buNone/>
            </a:pPr>
            <a:r>
              <a:t/>
            </a:r>
            <a:endParaRPr sz="2900">
              <a:solidFill>
                <a:srgbClr val="1B2630"/>
              </a:solidFill>
              <a:latin typeface="Fira Sans ExtraBold"/>
              <a:ea typeface="Fira Sans ExtraBold"/>
              <a:cs typeface="Fira Sans ExtraBold"/>
              <a:sym typeface="Fira Sans ExtraBold"/>
            </a:endParaRPr>
          </a:p>
          <a:p>
            <a:pPr indent="0" lvl="0" marL="0" rtl="0" algn="l">
              <a:lnSpc>
                <a:spcPct val="100000"/>
              </a:lnSpc>
              <a:spcBef>
                <a:spcPts val="0"/>
              </a:spcBef>
              <a:spcAft>
                <a:spcPts val="0"/>
              </a:spcAft>
              <a:buClr>
                <a:schemeClr val="dk1"/>
              </a:buClr>
              <a:buSzPts val="1100"/>
              <a:buFont typeface="Arial"/>
              <a:buNone/>
            </a:pPr>
            <a:r>
              <a:t/>
            </a:r>
            <a:endParaRPr sz="2900">
              <a:solidFill>
                <a:srgbClr val="1B2630"/>
              </a:solidFill>
              <a:latin typeface="DM Serif Display"/>
              <a:ea typeface="DM Serif Display"/>
              <a:cs typeface="DM Serif Display"/>
              <a:sym typeface="DM Serif Display"/>
            </a:endParaRPr>
          </a:p>
          <a:p>
            <a:pPr indent="0" lvl="0" marL="0" rtl="0" algn="l">
              <a:lnSpc>
                <a:spcPct val="100000"/>
              </a:lnSpc>
              <a:spcBef>
                <a:spcPts val="0"/>
              </a:spcBef>
              <a:spcAft>
                <a:spcPts val="0"/>
              </a:spcAft>
              <a:buSzPts val="1100"/>
              <a:buNone/>
            </a:pPr>
            <a:r>
              <a:t/>
            </a:r>
            <a:endParaRPr sz="2900">
              <a:solidFill>
                <a:srgbClr val="1B2630"/>
              </a:solidFill>
              <a:latin typeface="DM Serif Display"/>
              <a:ea typeface="DM Serif Display"/>
              <a:cs typeface="DM Serif Display"/>
              <a:sym typeface="DM Serif Display"/>
            </a:endParaRPr>
          </a:p>
        </p:txBody>
      </p:sp>
      <p:sp>
        <p:nvSpPr>
          <p:cNvPr id="69" name="Google Shape;69;p15"/>
          <p:cNvSpPr txBox="1"/>
          <p:nvPr/>
        </p:nvSpPr>
        <p:spPr>
          <a:xfrm>
            <a:off x="4248325" y="1919150"/>
            <a:ext cx="4672200" cy="2188200"/>
          </a:xfrm>
          <a:prstGeom prst="rect">
            <a:avLst/>
          </a:prstGeom>
          <a:noFill/>
          <a:ln>
            <a:noFill/>
          </a:ln>
        </p:spPr>
        <p:txBody>
          <a:bodyPr anchorCtr="0" anchor="ctr" bIns="91425" lIns="91425" spcFirstLastPara="1" rIns="91425" wrap="square" tIns="91425">
            <a:noAutofit/>
          </a:bodyPr>
          <a:lstStyle/>
          <a:p>
            <a:pPr indent="-317500" lvl="0" marL="457200" rtl="0" algn="l">
              <a:lnSpc>
                <a:spcPct val="150000"/>
              </a:lnSpc>
              <a:spcBef>
                <a:spcPts val="0"/>
              </a:spcBef>
              <a:spcAft>
                <a:spcPts val="0"/>
              </a:spcAft>
              <a:buClr>
                <a:schemeClr val="lt1"/>
              </a:buClr>
              <a:buSzPts val="1400"/>
              <a:buFont typeface="Open Sans Medium"/>
              <a:buChar char="●"/>
            </a:pPr>
            <a:r>
              <a:rPr lang="en">
                <a:solidFill>
                  <a:schemeClr val="lt1"/>
                </a:solidFill>
                <a:latin typeface="Open Sans Medium"/>
                <a:ea typeface="Open Sans Medium"/>
                <a:cs typeface="Open Sans Medium"/>
                <a:sym typeface="Open Sans Medium"/>
              </a:rPr>
              <a:t>SQL Joins</a:t>
            </a:r>
            <a:endParaRPr>
              <a:solidFill>
                <a:schemeClr val="lt1"/>
              </a:solidFill>
              <a:latin typeface="Open Sans Medium"/>
              <a:ea typeface="Open Sans Medium"/>
              <a:cs typeface="Open Sans Medium"/>
              <a:sym typeface="Open Sans Medium"/>
            </a:endParaRPr>
          </a:p>
          <a:p>
            <a:pPr indent="-317500" lvl="0" marL="457200" rtl="0" algn="l">
              <a:lnSpc>
                <a:spcPct val="150000"/>
              </a:lnSpc>
              <a:spcBef>
                <a:spcPts val="0"/>
              </a:spcBef>
              <a:spcAft>
                <a:spcPts val="0"/>
              </a:spcAft>
              <a:buClr>
                <a:schemeClr val="lt1"/>
              </a:buClr>
              <a:buSzPts val="1400"/>
              <a:buFont typeface="Open Sans Medium"/>
              <a:buChar char="●"/>
            </a:pPr>
            <a:r>
              <a:rPr lang="en">
                <a:solidFill>
                  <a:schemeClr val="lt1"/>
                </a:solidFill>
                <a:latin typeface="Open Sans Medium"/>
                <a:ea typeface="Open Sans Medium"/>
                <a:cs typeface="Open Sans Medium"/>
                <a:sym typeface="Open Sans Medium"/>
              </a:rPr>
              <a:t>Types of Joins</a:t>
            </a:r>
            <a:endParaRPr>
              <a:solidFill>
                <a:schemeClr val="lt1"/>
              </a:solidFill>
              <a:latin typeface="Open Sans Medium"/>
              <a:ea typeface="Open Sans Medium"/>
              <a:cs typeface="Open Sans Medium"/>
              <a:sym typeface="Open Sans Medium"/>
            </a:endParaRPr>
          </a:p>
          <a:p>
            <a:pPr indent="-317500" lvl="0" marL="457200" rtl="0" algn="l">
              <a:lnSpc>
                <a:spcPct val="150000"/>
              </a:lnSpc>
              <a:spcBef>
                <a:spcPts val="0"/>
              </a:spcBef>
              <a:spcAft>
                <a:spcPts val="0"/>
              </a:spcAft>
              <a:buClr>
                <a:schemeClr val="lt1"/>
              </a:buClr>
              <a:buSzPts val="1400"/>
              <a:buFont typeface="Open Sans Medium"/>
              <a:buChar char="●"/>
            </a:pPr>
            <a:r>
              <a:rPr lang="en">
                <a:solidFill>
                  <a:schemeClr val="lt1"/>
                </a:solidFill>
                <a:latin typeface="Open Sans Medium"/>
                <a:ea typeface="Open Sans Medium"/>
                <a:cs typeface="Open Sans Medium"/>
                <a:sym typeface="Open Sans Medium"/>
              </a:rPr>
              <a:t>Subqueries</a:t>
            </a:r>
            <a:endParaRPr>
              <a:solidFill>
                <a:schemeClr val="lt1"/>
              </a:solidFill>
              <a:latin typeface="Open Sans Medium"/>
              <a:ea typeface="Open Sans Medium"/>
              <a:cs typeface="Open Sans Medium"/>
              <a:sym typeface="Open Sans Medium"/>
            </a:endParaRPr>
          </a:p>
        </p:txBody>
      </p:sp>
      <p:pic>
        <p:nvPicPr>
          <p:cNvPr id="70" name="Google Shape;70;p15"/>
          <p:cNvPicPr preferRelativeResize="0"/>
          <p:nvPr/>
        </p:nvPicPr>
        <p:blipFill rotWithShape="1">
          <a:blip r:embed="rId4">
            <a:alphaModFix/>
          </a:blip>
          <a:srcRect b="0" l="0" r="63341" t="0"/>
          <a:stretch/>
        </p:blipFill>
        <p:spPr>
          <a:xfrm>
            <a:off x="8058067" y="1536650"/>
            <a:ext cx="1085924" cy="36068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p:nvPr/>
        </p:nvSpPr>
        <p:spPr>
          <a:xfrm>
            <a:off x="5" y="907675"/>
            <a:ext cx="4581900" cy="42357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4581900" y="907675"/>
            <a:ext cx="4581900" cy="4235700"/>
          </a:xfrm>
          <a:prstGeom prst="rect">
            <a:avLst/>
          </a:prstGeom>
          <a:solidFill>
            <a:srgbClr val="01AD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77" name="Google Shape;77;p16"/>
          <p:cNvSpPr txBox="1"/>
          <p:nvPr>
            <p:ph type="title"/>
          </p:nvPr>
        </p:nvSpPr>
        <p:spPr>
          <a:xfrm>
            <a:off x="427172" y="189100"/>
            <a:ext cx="8069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2200">
                <a:latin typeface="Fira Sans"/>
                <a:ea typeface="Fira Sans"/>
                <a:cs typeface="Fira Sans"/>
                <a:sym typeface="Fira Sans"/>
              </a:rPr>
              <a:t>SQL Joins</a:t>
            </a:r>
            <a:endParaRPr b="1" sz="2200">
              <a:latin typeface="Fira Sans"/>
              <a:ea typeface="Fira Sans"/>
              <a:cs typeface="Fira Sans"/>
              <a:sym typeface="Fira Sans"/>
            </a:endParaRPr>
          </a:p>
          <a:p>
            <a:pPr indent="0" lvl="0" marL="0" rtl="0" algn="l">
              <a:lnSpc>
                <a:spcPct val="100000"/>
              </a:lnSpc>
              <a:spcBef>
                <a:spcPts val="0"/>
              </a:spcBef>
              <a:spcAft>
                <a:spcPts val="0"/>
              </a:spcAft>
              <a:buSzPts val="1100"/>
              <a:buNone/>
            </a:pPr>
            <a:r>
              <a:t/>
            </a:r>
            <a:endParaRPr b="1" sz="2200">
              <a:latin typeface="Fira Sans"/>
              <a:ea typeface="Fira Sans"/>
              <a:cs typeface="Fira Sans"/>
              <a:sym typeface="Fira Sans"/>
            </a:endParaRPr>
          </a:p>
        </p:txBody>
      </p:sp>
      <p:sp>
        <p:nvSpPr>
          <p:cNvPr id="78" name="Google Shape;78;p16"/>
          <p:cNvSpPr/>
          <p:nvPr/>
        </p:nvSpPr>
        <p:spPr>
          <a:xfrm>
            <a:off x="498450" y="3355207"/>
            <a:ext cx="3511800" cy="1117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lang="en" sz="950">
                <a:solidFill>
                  <a:srgbClr val="101820"/>
                </a:solidFill>
                <a:latin typeface="Open Sans Medium"/>
                <a:ea typeface="Open Sans Medium"/>
                <a:cs typeface="Open Sans Medium"/>
                <a:sym typeface="Open Sans Medium"/>
              </a:rPr>
              <a:t>Being able to connect data from multiple tables or sources is crucial for data analysts and scientists. SQL can be used to join tables together based on shared data and return any relevant information.</a:t>
            </a:r>
            <a:endParaRPr sz="950">
              <a:solidFill>
                <a:srgbClr val="101820"/>
              </a:solidFill>
              <a:latin typeface="Open Sans Medium"/>
              <a:ea typeface="Open Sans Medium"/>
              <a:cs typeface="Open Sans Medium"/>
              <a:sym typeface="Open Sans Medium"/>
            </a:endParaRPr>
          </a:p>
          <a:p>
            <a:pPr indent="0" lvl="0" marL="0" marR="0" rtl="0" algn="l">
              <a:lnSpc>
                <a:spcPct val="150000"/>
              </a:lnSpc>
              <a:spcBef>
                <a:spcPts val="0"/>
              </a:spcBef>
              <a:spcAft>
                <a:spcPts val="0"/>
              </a:spcAft>
              <a:buClr>
                <a:srgbClr val="000000"/>
              </a:buClr>
              <a:buSzPts val="1200"/>
              <a:buFont typeface="Arial"/>
              <a:buNone/>
            </a:pPr>
            <a:r>
              <a:t/>
            </a:r>
            <a:endParaRPr sz="950">
              <a:solidFill>
                <a:srgbClr val="101820"/>
              </a:solidFill>
              <a:latin typeface="Open Sans Medium"/>
              <a:ea typeface="Open Sans Medium"/>
              <a:cs typeface="Open Sans Medium"/>
              <a:sym typeface="Open Sans Medium"/>
            </a:endParaRPr>
          </a:p>
        </p:txBody>
      </p:sp>
      <p:sp>
        <p:nvSpPr>
          <p:cNvPr id="79" name="Google Shape;79;p16"/>
          <p:cNvSpPr/>
          <p:nvPr/>
        </p:nvSpPr>
        <p:spPr>
          <a:xfrm>
            <a:off x="501599" y="1836400"/>
            <a:ext cx="39231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lang="en" sz="4400">
                <a:solidFill>
                  <a:srgbClr val="101820"/>
                </a:solidFill>
                <a:latin typeface="Fira Sans Medium"/>
                <a:ea typeface="Fira Sans Medium"/>
                <a:cs typeface="Fira Sans Medium"/>
                <a:sym typeface="Fira Sans Medium"/>
              </a:rPr>
              <a:t>Table Relations</a:t>
            </a:r>
            <a:endParaRPr i="0" sz="4400" cap="none" strike="noStrike">
              <a:solidFill>
                <a:srgbClr val="101820"/>
              </a:solidFill>
              <a:latin typeface="Fira Sans Medium"/>
              <a:ea typeface="Fira Sans Medium"/>
              <a:cs typeface="Fira Sans Medium"/>
              <a:sym typeface="Fira Sans Medium"/>
            </a:endParaRPr>
          </a:p>
        </p:txBody>
      </p:sp>
      <p:sp>
        <p:nvSpPr>
          <p:cNvPr id="80" name="Google Shape;80;p16"/>
          <p:cNvSpPr/>
          <p:nvPr/>
        </p:nvSpPr>
        <p:spPr>
          <a:xfrm>
            <a:off x="473400" y="2877934"/>
            <a:ext cx="3561900" cy="40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 sz="1700">
                <a:solidFill>
                  <a:srgbClr val="101820"/>
                </a:solidFill>
                <a:latin typeface="Fira Sans"/>
                <a:ea typeface="Fira Sans"/>
                <a:cs typeface="Fira Sans"/>
                <a:sym typeface="Fira Sans"/>
              </a:rPr>
              <a:t>Connecting Data</a:t>
            </a:r>
            <a:endParaRPr b="1" i="0" sz="1700" cap="none" strike="noStrike">
              <a:solidFill>
                <a:srgbClr val="101820"/>
              </a:solidFill>
              <a:latin typeface="Fira Sans"/>
              <a:ea typeface="Fira Sans"/>
              <a:cs typeface="Fira Sans"/>
              <a:sym typeface="Fira Sans"/>
            </a:endParaRPr>
          </a:p>
        </p:txBody>
      </p:sp>
      <p:sp>
        <p:nvSpPr>
          <p:cNvPr id="81" name="Google Shape;81;p16"/>
          <p:cNvSpPr/>
          <p:nvPr/>
        </p:nvSpPr>
        <p:spPr>
          <a:xfrm>
            <a:off x="5123469" y="3355207"/>
            <a:ext cx="3194400" cy="640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 sz="950">
                <a:solidFill>
                  <a:schemeClr val="lt1"/>
                </a:solidFill>
                <a:latin typeface="Open Sans Medium"/>
                <a:ea typeface="Open Sans Medium"/>
                <a:cs typeface="Open Sans Medium"/>
                <a:sym typeface="Open Sans Medium"/>
              </a:rPr>
              <a:t>In SQL tables are related to each other via what are known as foreign keys. A foreign key is a column in  a table that is shared in another table and can be used to join them together. Entries from both tables are ‘joined’ when the value in that column is shared.</a:t>
            </a:r>
            <a:endParaRPr sz="950">
              <a:solidFill>
                <a:schemeClr val="lt1"/>
              </a:solidFill>
              <a:latin typeface="Open Sans Medium"/>
              <a:ea typeface="Open Sans Medium"/>
              <a:cs typeface="Open Sans Medium"/>
              <a:sym typeface="Open Sans Medium"/>
            </a:endParaRPr>
          </a:p>
          <a:p>
            <a:pPr indent="0" lvl="0" marL="0" rtl="0" algn="l">
              <a:lnSpc>
                <a:spcPct val="150000"/>
              </a:lnSpc>
              <a:spcBef>
                <a:spcPts val="0"/>
              </a:spcBef>
              <a:spcAft>
                <a:spcPts val="0"/>
              </a:spcAft>
              <a:buClr>
                <a:schemeClr val="dk1"/>
              </a:buClr>
              <a:buSzPts val="1200"/>
              <a:buFont typeface="Arial"/>
              <a:buNone/>
            </a:pPr>
            <a:r>
              <a:t/>
            </a:r>
            <a:endParaRPr sz="950">
              <a:solidFill>
                <a:schemeClr val="lt1"/>
              </a:solidFill>
              <a:latin typeface="Open Sans Medium"/>
              <a:ea typeface="Open Sans Medium"/>
              <a:cs typeface="Open Sans Medium"/>
              <a:sym typeface="Open Sans Medium"/>
            </a:endParaRPr>
          </a:p>
          <a:p>
            <a:pPr indent="0" lvl="0" marL="0" marR="0" rtl="0" algn="l">
              <a:lnSpc>
                <a:spcPct val="150000"/>
              </a:lnSpc>
              <a:spcBef>
                <a:spcPts val="0"/>
              </a:spcBef>
              <a:spcAft>
                <a:spcPts val="0"/>
              </a:spcAft>
              <a:buClr>
                <a:srgbClr val="000000"/>
              </a:buClr>
              <a:buSzPts val="1200"/>
              <a:buFont typeface="Arial"/>
              <a:buNone/>
            </a:pPr>
            <a:r>
              <a:t/>
            </a:r>
            <a:endParaRPr sz="950">
              <a:solidFill>
                <a:schemeClr val="lt1"/>
              </a:solidFill>
              <a:latin typeface="Open Sans Medium"/>
              <a:ea typeface="Open Sans Medium"/>
              <a:cs typeface="Open Sans Medium"/>
              <a:sym typeface="Open Sans Medium"/>
            </a:endParaRPr>
          </a:p>
        </p:txBody>
      </p:sp>
      <p:sp>
        <p:nvSpPr>
          <p:cNvPr id="82" name="Google Shape;82;p16"/>
          <p:cNvSpPr/>
          <p:nvPr/>
        </p:nvSpPr>
        <p:spPr>
          <a:xfrm>
            <a:off x="5139766" y="1836407"/>
            <a:ext cx="33711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lang="en" sz="4400">
                <a:solidFill>
                  <a:schemeClr val="lt1"/>
                </a:solidFill>
                <a:latin typeface="Fira Sans Medium"/>
                <a:ea typeface="Fira Sans Medium"/>
                <a:cs typeface="Fira Sans Medium"/>
                <a:sym typeface="Fira Sans Medium"/>
              </a:rPr>
              <a:t>Foreign Key</a:t>
            </a:r>
            <a:endParaRPr i="0" sz="4400" cap="none" strike="noStrike">
              <a:solidFill>
                <a:schemeClr val="lt1"/>
              </a:solidFill>
              <a:latin typeface="Fira Sans Medium"/>
              <a:ea typeface="Fira Sans Medium"/>
              <a:cs typeface="Fira Sans Medium"/>
              <a:sym typeface="Fira Sans Medium"/>
            </a:endParaRPr>
          </a:p>
        </p:txBody>
      </p:sp>
      <p:sp>
        <p:nvSpPr>
          <p:cNvPr id="83" name="Google Shape;83;p16"/>
          <p:cNvSpPr/>
          <p:nvPr/>
        </p:nvSpPr>
        <p:spPr>
          <a:xfrm>
            <a:off x="5107493" y="2877934"/>
            <a:ext cx="3561900" cy="4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 sz="1700">
                <a:solidFill>
                  <a:schemeClr val="lt1"/>
                </a:solidFill>
                <a:latin typeface="Fira Sans"/>
                <a:ea typeface="Fira Sans"/>
                <a:cs typeface="Fira Sans"/>
                <a:sym typeface="Fira Sans"/>
              </a:rPr>
              <a:t>What is shared?</a:t>
            </a:r>
            <a:endParaRPr b="1" i="0" sz="1700" cap="none" strike="noStrike">
              <a:solidFill>
                <a:schemeClr val="lt1"/>
              </a:solidFill>
              <a:latin typeface="Fira Sans"/>
              <a:ea typeface="Fira Sans"/>
              <a:cs typeface="Fira Sans"/>
              <a:sym typeface="Fir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17"/>
          <p:cNvSpPr/>
          <p:nvPr/>
        </p:nvSpPr>
        <p:spPr>
          <a:xfrm>
            <a:off x="2175" y="907775"/>
            <a:ext cx="2289300" cy="42357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p:nvPr/>
        </p:nvSpPr>
        <p:spPr>
          <a:xfrm>
            <a:off x="2287103" y="907775"/>
            <a:ext cx="2289300" cy="42357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p:nvPr/>
        </p:nvSpPr>
        <p:spPr>
          <a:xfrm>
            <a:off x="4572096" y="907775"/>
            <a:ext cx="2289300" cy="42357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a:off x="6857025" y="907775"/>
            <a:ext cx="2289300" cy="42357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p:nvPr/>
        </p:nvSpPr>
        <p:spPr>
          <a:xfrm>
            <a:off x="2495512" y="1175401"/>
            <a:ext cx="1780800" cy="37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
                <a:solidFill>
                  <a:srgbClr val="1B2630"/>
                </a:solidFill>
                <a:latin typeface="Fira Sans"/>
                <a:ea typeface="Fira Sans"/>
                <a:cs typeface="Fira Sans"/>
                <a:sym typeface="Fira Sans"/>
              </a:rPr>
              <a:t>Left vs. Right</a:t>
            </a:r>
            <a:endParaRPr b="1" i="0" u="none" cap="none" strike="noStrike">
              <a:solidFill>
                <a:srgbClr val="1B2630"/>
              </a:solidFill>
              <a:latin typeface="Fira Sans"/>
              <a:ea typeface="Fira Sans"/>
              <a:cs typeface="Fira Sans"/>
              <a:sym typeface="Fira Sans"/>
            </a:endParaRPr>
          </a:p>
        </p:txBody>
      </p:sp>
      <p:sp>
        <p:nvSpPr>
          <p:cNvPr id="93" name="Google Shape;93;p17"/>
          <p:cNvSpPr/>
          <p:nvPr/>
        </p:nvSpPr>
        <p:spPr>
          <a:xfrm>
            <a:off x="239911" y="1175401"/>
            <a:ext cx="1508700" cy="37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b="1" lang="en">
                <a:solidFill>
                  <a:srgbClr val="1B2630"/>
                </a:solidFill>
                <a:latin typeface="Fira Sans"/>
                <a:ea typeface="Fira Sans"/>
                <a:cs typeface="Fira Sans"/>
                <a:sym typeface="Fira Sans"/>
              </a:rPr>
              <a:t>Inner vs. Outer</a:t>
            </a:r>
            <a:endParaRPr b="1">
              <a:solidFill>
                <a:srgbClr val="1B2630"/>
              </a:solidFill>
              <a:latin typeface="Fira Sans"/>
              <a:ea typeface="Fira Sans"/>
              <a:cs typeface="Fira Sans"/>
              <a:sym typeface="Fira Sans"/>
            </a:endParaRPr>
          </a:p>
        </p:txBody>
      </p:sp>
      <p:sp>
        <p:nvSpPr>
          <p:cNvPr id="94" name="Google Shape;94;p17"/>
          <p:cNvSpPr/>
          <p:nvPr/>
        </p:nvSpPr>
        <p:spPr>
          <a:xfrm>
            <a:off x="4806907" y="1175401"/>
            <a:ext cx="1741200" cy="37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
                <a:solidFill>
                  <a:srgbClr val="1B2630"/>
                </a:solidFill>
                <a:latin typeface="Fira Sans"/>
                <a:ea typeface="Fira Sans"/>
                <a:cs typeface="Fira Sans"/>
                <a:sym typeface="Fira Sans"/>
              </a:rPr>
              <a:t>One-to-many</a:t>
            </a:r>
            <a:endParaRPr b="1" i="0" u="none" cap="none" strike="noStrike">
              <a:solidFill>
                <a:srgbClr val="1B2630"/>
              </a:solidFill>
              <a:latin typeface="Fira Sans"/>
              <a:ea typeface="Fira Sans"/>
              <a:cs typeface="Fira Sans"/>
              <a:sym typeface="Fira Sans"/>
            </a:endParaRPr>
          </a:p>
        </p:txBody>
      </p:sp>
      <p:sp>
        <p:nvSpPr>
          <p:cNvPr id="95" name="Google Shape;95;p17"/>
          <p:cNvSpPr/>
          <p:nvPr/>
        </p:nvSpPr>
        <p:spPr>
          <a:xfrm>
            <a:off x="7098118" y="1175401"/>
            <a:ext cx="1741200" cy="37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
                <a:solidFill>
                  <a:srgbClr val="1B2630"/>
                </a:solidFill>
                <a:latin typeface="Fira Sans"/>
                <a:ea typeface="Fira Sans"/>
                <a:cs typeface="Fira Sans"/>
                <a:sym typeface="Fira Sans"/>
              </a:rPr>
              <a:t>Many-to-many</a:t>
            </a:r>
            <a:endParaRPr b="1" i="0" u="none" cap="none" strike="noStrike">
              <a:solidFill>
                <a:srgbClr val="1B2630"/>
              </a:solidFill>
              <a:latin typeface="Fira Sans"/>
              <a:ea typeface="Fira Sans"/>
              <a:cs typeface="Fira Sans"/>
              <a:sym typeface="Fira Sans"/>
            </a:endParaRPr>
          </a:p>
        </p:txBody>
      </p:sp>
      <p:pic>
        <p:nvPicPr>
          <p:cNvPr id="96" name="Google Shape;96;p17"/>
          <p:cNvPicPr preferRelativeResize="0"/>
          <p:nvPr/>
        </p:nvPicPr>
        <p:blipFill rotWithShape="1">
          <a:blip r:embed="rId3">
            <a:alphaModFix/>
          </a:blip>
          <a:srcRect b="-10" l="0" r="0" t="0"/>
          <a:stretch/>
        </p:blipFill>
        <p:spPr>
          <a:xfrm>
            <a:off x="370700" y="4817918"/>
            <a:ext cx="1205250" cy="127750"/>
          </a:xfrm>
          <a:prstGeom prst="rect">
            <a:avLst/>
          </a:prstGeom>
          <a:noFill/>
          <a:ln>
            <a:noFill/>
          </a:ln>
        </p:spPr>
      </p:pic>
      <p:sp>
        <p:nvSpPr>
          <p:cNvPr id="97" name="Google Shape;97;p17"/>
          <p:cNvSpPr txBox="1"/>
          <p:nvPr/>
        </p:nvSpPr>
        <p:spPr>
          <a:xfrm>
            <a:off x="306825" y="1617075"/>
            <a:ext cx="1680000" cy="2491500"/>
          </a:xfrm>
          <a:prstGeom prst="rect">
            <a:avLst/>
          </a:prstGeom>
          <a:noFill/>
          <a:ln>
            <a:noFill/>
          </a:ln>
        </p:spPr>
        <p:txBody>
          <a:bodyPr anchorCtr="0" anchor="t" bIns="91425" lIns="91425" spcFirstLastPara="1" rIns="91425" wrap="square" tIns="91425">
            <a:spAutoFit/>
          </a:bodyPr>
          <a:lstStyle/>
          <a:p>
            <a:pPr indent="-121158" lvl="0" marL="64008" rtl="0" algn="l">
              <a:lnSpc>
                <a:spcPct val="115000"/>
              </a:lnSpc>
              <a:spcBef>
                <a:spcPts val="0"/>
              </a:spcBef>
              <a:spcAft>
                <a:spcPts val="0"/>
              </a:spcAft>
              <a:buClr>
                <a:srgbClr val="1B2630"/>
              </a:buClr>
              <a:buSzPts val="900"/>
              <a:buFont typeface="Open Sans"/>
              <a:buChar char="●"/>
            </a:pPr>
            <a:r>
              <a:rPr lang="en" sz="900">
                <a:solidFill>
                  <a:srgbClr val="222222"/>
                </a:solidFill>
                <a:latin typeface="Open Sans"/>
                <a:ea typeface="Open Sans"/>
                <a:cs typeface="Open Sans"/>
                <a:sym typeface="Open Sans"/>
              </a:rPr>
              <a:t>Inner join will return only records that match in all tables</a:t>
            </a:r>
            <a:endParaRPr sz="900">
              <a:solidFill>
                <a:srgbClr val="222222"/>
              </a:solidFill>
              <a:latin typeface="Open Sans"/>
              <a:ea typeface="Open Sans"/>
              <a:cs typeface="Open Sans"/>
              <a:sym typeface="Open Sans"/>
            </a:endParaRPr>
          </a:p>
          <a:p>
            <a:pPr indent="-121158" lvl="0" marL="64008" rtl="0" algn="l">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Outer join will return all records regardless if they match</a:t>
            </a:r>
            <a:endParaRPr sz="900">
              <a:solidFill>
                <a:srgbClr val="222222"/>
              </a:solidFill>
              <a:latin typeface="Open Sans"/>
              <a:ea typeface="Open Sans"/>
              <a:cs typeface="Open Sans"/>
              <a:sym typeface="Open Sans"/>
            </a:endParaRPr>
          </a:p>
          <a:p>
            <a:pPr indent="-121158" lvl="0" marL="64008" rtl="0" algn="l">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Outer joins </a:t>
            </a:r>
            <a:r>
              <a:rPr lang="en" sz="900">
                <a:solidFill>
                  <a:srgbClr val="222222"/>
                </a:solidFill>
                <a:latin typeface="Open Sans"/>
                <a:ea typeface="Open Sans"/>
                <a:cs typeface="Open Sans"/>
                <a:sym typeface="Open Sans"/>
              </a:rPr>
              <a:t>typically</a:t>
            </a:r>
            <a:r>
              <a:rPr lang="en" sz="900">
                <a:solidFill>
                  <a:srgbClr val="222222"/>
                </a:solidFill>
                <a:latin typeface="Open Sans"/>
                <a:ea typeface="Open Sans"/>
                <a:cs typeface="Open Sans"/>
                <a:sym typeface="Open Sans"/>
              </a:rPr>
              <a:t> result in null data</a:t>
            </a:r>
            <a:endParaRPr sz="900">
              <a:solidFill>
                <a:srgbClr val="222222"/>
              </a:solidFill>
              <a:latin typeface="Open Sans"/>
              <a:ea typeface="Open Sans"/>
              <a:cs typeface="Open Sans"/>
              <a:sym typeface="Open Sans"/>
            </a:endParaRPr>
          </a:p>
          <a:p>
            <a:pPr indent="-121158" lvl="0" marL="64008" rtl="0" algn="l">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Full outer joins almost never occur</a:t>
            </a:r>
            <a:endParaRPr sz="900">
              <a:solidFill>
                <a:srgbClr val="222222"/>
              </a:solidFill>
              <a:latin typeface="Open Sans"/>
              <a:ea typeface="Open Sans"/>
              <a:cs typeface="Open Sans"/>
              <a:sym typeface="Open Sans"/>
            </a:endParaRPr>
          </a:p>
          <a:p>
            <a:pPr indent="-121158" lvl="0" marL="64008" rtl="0" algn="l">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Inner join much more common</a:t>
            </a:r>
            <a:endParaRPr sz="900">
              <a:solidFill>
                <a:srgbClr val="222222"/>
              </a:solidFill>
              <a:latin typeface="Open Sans"/>
              <a:ea typeface="Open Sans"/>
              <a:cs typeface="Open Sans"/>
              <a:sym typeface="Open Sans"/>
            </a:endParaRPr>
          </a:p>
          <a:p>
            <a:pPr indent="0" lvl="0" marL="0" rtl="0" algn="l">
              <a:lnSpc>
                <a:spcPct val="115000"/>
              </a:lnSpc>
              <a:spcBef>
                <a:spcPts val="400"/>
              </a:spcBef>
              <a:spcAft>
                <a:spcPts val="400"/>
              </a:spcAft>
              <a:buNone/>
            </a:pPr>
            <a:r>
              <a:t/>
            </a:r>
            <a:endParaRPr sz="900">
              <a:solidFill>
                <a:srgbClr val="222222"/>
              </a:solidFill>
              <a:latin typeface="Open Sans"/>
              <a:ea typeface="Open Sans"/>
              <a:cs typeface="Open Sans"/>
              <a:sym typeface="Open Sans"/>
            </a:endParaRPr>
          </a:p>
        </p:txBody>
      </p:sp>
      <p:sp>
        <p:nvSpPr>
          <p:cNvPr id="98" name="Google Shape;98;p17"/>
          <p:cNvSpPr txBox="1"/>
          <p:nvPr/>
        </p:nvSpPr>
        <p:spPr>
          <a:xfrm>
            <a:off x="2560800" y="1617075"/>
            <a:ext cx="1680000" cy="2968200"/>
          </a:xfrm>
          <a:prstGeom prst="rect">
            <a:avLst/>
          </a:prstGeom>
          <a:noFill/>
          <a:ln>
            <a:noFill/>
          </a:ln>
        </p:spPr>
        <p:txBody>
          <a:bodyPr anchorCtr="0" anchor="t" bIns="91425" lIns="91425" spcFirstLastPara="1" rIns="91425" wrap="square" tIns="91425">
            <a:spAutoFit/>
          </a:bodyPr>
          <a:lstStyle/>
          <a:p>
            <a:pPr indent="-121158" lvl="0" marL="64008" rtl="0" algn="l">
              <a:lnSpc>
                <a:spcPct val="150000"/>
              </a:lnSpc>
              <a:spcBef>
                <a:spcPts val="0"/>
              </a:spcBef>
              <a:spcAft>
                <a:spcPts val="0"/>
              </a:spcAft>
              <a:buClr>
                <a:srgbClr val="1B2630"/>
              </a:buClr>
              <a:buSzPts val="900"/>
              <a:buFont typeface="Open Sans"/>
              <a:buChar char="●"/>
            </a:pPr>
            <a:r>
              <a:rPr lang="en" sz="900">
                <a:solidFill>
                  <a:srgbClr val="222222"/>
                </a:solidFill>
                <a:latin typeface="Open Sans"/>
                <a:ea typeface="Open Sans"/>
                <a:cs typeface="Open Sans"/>
                <a:sym typeface="Open Sans"/>
              </a:rPr>
              <a:t>Left and Right denote which table in the join</a:t>
            </a:r>
            <a:endParaRPr sz="900">
              <a:solidFill>
                <a:srgbClr val="222222"/>
              </a:solidFill>
              <a:latin typeface="Open Sans"/>
              <a:ea typeface="Open Sans"/>
              <a:cs typeface="Open Sans"/>
              <a:sym typeface="Open Sans"/>
            </a:endParaRPr>
          </a:p>
          <a:p>
            <a:pPr indent="-121158" lvl="0" marL="64008" rtl="0" algn="l">
              <a:lnSpc>
                <a:spcPct val="150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The left table is the ‘primary’ table that is being joined with another</a:t>
            </a:r>
            <a:endParaRPr sz="900">
              <a:solidFill>
                <a:srgbClr val="222222"/>
              </a:solidFill>
              <a:latin typeface="Open Sans"/>
              <a:ea typeface="Open Sans"/>
              <a:cs typeface="Open Sans"/>
              <a:sym typeface="Open Sans"/>
            </a:endParaRPr>
          </a:p>
          <a:p>
            <a:pPr indent="-121158" lvl="0" marL="64008" rtl="0" algn="l">
              <a:lnSpc>
                <a:spcPct val="150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Left table comes first in syntax </a:t>
            </a:r>
            <a:endParaRPr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t/>
            </a:r>
            <a:endParaRPr b="1"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rPr b="1" lang="en" sz="900">
                <a:solidFill>
                  <a:srgbClr val="222222"/>
                </a:solidFill>
                <a:latin typeface="Open Sans"/>
                <a:ea typeface="Open Sans"/>
                <a:cs typeface="Open Sans"/>
                <a:sym typeface="Open Sans"/>
              </a:rPr>
              <a:t>FROM left_table </a:t>
            </a:r>
            <a:endParaRPr b="1"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rPr b="1" lang="en" sz="900">
                <a:solidFill>
                  <a:srgbClr val="222222"/>
                </a:solidFill>
                <a:latin typeface="Open Sans"/>
                <a:ea typeface="Open Sans"/>
                <a:cs typeface="Open Sans"/>
                <a:sym typeface="Open Sans"/>
              </a:rPr>
              <a:t>JOIN right_table </a:t>
            </a:r>
            <a:endParaRPr b="1"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rPr b="1" lang="en" sz="900">
                <a:solidFill>
                  <a:srgbClr val="222222"/>
                </a:solidFill>
                <a:latin typeface="Open Sans"/>
                <a:ea typeface="Open Sans"/>
                <a:cs typeface="Open Sans"/>
                <a:sym typeface="Open Sans"/>
              </a:rPr>
              <a:t>ON shared_column</a:t>
            </a:r>
            <a:endParaRPr b="1" sz="900">
              <a:solidFill>
                <a:srgbClr val="222222"/>
              </a:solidFill>
              <a:latin typeface="Open Sans"/>
              <a:ea typeface="Open Sans"/>
              <a:cs typeface="Open Sans"/>
              <a:sym typeface="Open Sans"/>
            </a:endParaRPr>
          </a:p>
          <a:p>
            <a:pPr indent="0" lvl="0" marL="0" rtl="0" algn="l">
              <a:lnSpc>
                <a:spcPct val="150000"/>
              </a:lnSpc>
              <a:spcBef>
                <a:spcPts val="400"/>
              </a:spcBef>
              <a:spcAft>
                <a:spcPts val="400"/>
              </a:spcAft>
              <a:buNone/>
            </a:pPr>
            <a:r>
              <a:t/>
            </a:r>
            <a:endParaRPr sz="900">
              <a:solidFill>
                <a:srgbClr val="222222"/>
              </a:solidFill>
              <a:latin typeface="Open Sans"/>
              <a:ea typeface="Open Sans"/>
              <a:cs typeface="Open Sans"/>
              <a:sym typeface="Open Sans"/>
            </a:endParaRPr>
          </a:p>
        </p:txBody>
      </p:sp>
      <p:sp>
        <p:nvSpPr>
          <p:cNvPr id="99" name="Google Shape;99;p17"/>
          <p:cNvSpPr txBox="1"/>
          <p:nvPr/>
        </p:nvSpPr>
        <p:spPr>
          <a:xfrm>
            <a:off x="4900856" y="1614375"/>
            <a:ext cx="1741200" cy="633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900">
              <a:solidFill>
                <a:srgbClr val="222222"/>
              </a:solidFill>
              <a:latin typeface="Open Sans"/>
              <a:ea typeface="Open Sans"/>
              <a:cs typeface="Open Sans"/>
              <a:sym typeface="Open Sans"/>
            </a:endParaRPr>
          </a:p>
          <a:p>
            <a:pPr indent="0" lvl="0" marL="0" rtl="0" algn="l">
              <a:lnSpc>
                <a:spcPct val="150000"/>
              </a:lnSpc>
              <a:spcBef>
                <a:spcPts val="800"/>
              </a:spcBef>
              <a:spcAft>
                <a:spcPts val="800"/>
              </a:spcAft>
              <a:buNone/>
            </a:pPr>
            <a:r>
              <a:t/>
            </a:r>
            <a:endParaRPr sz="900">
              <a:solidFill>
                <a:srgbClr val="222222"/>
              </a:solidFill>
              <a:latin typeface="Open Sans"/>
              <a:ea typeface="Open Sans"/>
              <a:cs typeface="Open Sans"/>
              <a:sym typeface="Open Sans"/>
            </a:endParaRPr>
          </a:p>
        </p:txBody>
      </p:sp>
      <p:sp>
        <p:nvSpPr>
          <p:cNvPr id="100" name="Google Shape;100;p17"/>
          <p:cNvSpPr txBox="1"/>
          <p:nvPr>
            <p:ph type="title"/>
          </p:nvPr>
        </p:nvSpPr>
        <p:spPr>
          <a:xfrm>
            <a:off x="389299" y="196875"/>
            <a:ext cx="570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sz="2200">
                <a:latin typeface="Fira Sans"/>
                <a:ea typeface="Fira Sans"/>
                <a:cs typeface="Fira Sans"/>
                <a:sym typeface="Fira Sans"/>
              </a:rPr>
              <a:t>Types of Joins - What data to keep?</a:t>
            </a:r>
            <a:endParaRPr b="1" sz="2200">
              <a:latin typeface="Fira Sans"/>
              <a:ea typeface="Fira Sans"/>
              <a:cs typeface="Fira Sans"/>
              <a:sym typeface="Fira Sans"/>
            </a:endParaRPr>
          </a:p>
        </p:txBody>
      </p:sp>
      <p:sp>
        <p:nvSpPr>
          <p:cNvPr id="101" name="Google Shape;101;p17"/>
          <p:cNvSpPr txBox="1"/>
          <p:nvPr/>
        </p:nvSpPr>
        <p:spPr>
          <a:xfrm>
            <a:off x="4923000" y="1617075"/>
            <a:ext cx="1680000" cy="2657700"/>
          </a:xfrm>
          <a:prstGeom prst="rect">
            <a:avLst/>
          </a:prstGeom>
          <a:noFill/>
          <a:ln>
            <a:noFill/>
          </a:ln>
        </p:spPr>
        <p:txBody>
          <a:bodyPr anchorCtr="0" anchor="t" bIns="91425" lIns="91425" spcFirstLastPara="1" rIns="91425" wrap="square" tIns="91425">
            <a:spAutoFit/>
          </a:bodyPr>
          <a:lstStyle/>
          <a:p>
            <a:pPr indent="-121158" lvl="0" marL="64008" rtl="0" algn="l">
              <a:lnSpc>
                <a:spcPct val="150000"/>
              </a:lnSpc>
              <a:spcBef>
                <a:spcPts val="0"/>
              </a:spcBef>
              <a:spcAft>
                <a:spcPts val="0"/>
              </a:spcAft>
              <a:buClr>
                <a:srgbClr val="1B2630"/>
              </a:buClr>
              <a:buSzPts val="900"/>
              <a:buFont typeface="Open Sans"/>
              <a:buChar char="●"/>
            </a:pPr>
            <a:r>
              <a:rPr lang="en" sz="900">
                <a:solidFill>
                  <a:srgbClr val="222222"/>
                </a:solidFill>
                <a:latin typeface="Open Sans"/>
                <a:ea typeface="Open Sans"/>
                <a:cs typeface="Open Sans"/>
                <a:sym typeface="Open Sans"/>
              </a:rPr>
              <a:t>As opposed to one-to-one (standard join)</a:t>
            </a:r>
            <a:endParaRPr sz="900">
              <a:solidFill>
                <a:srgbClr val="222222"/>
              </a:solidFill>
              <a:latin typeface="Open Sans"/>
              <a:ea typeface="Open Sans"/>
              <a:cs typeface="Open Sans"/>
              <a:sym typeface="Open Sans"/>
            </a:endParaRPr>
          </a:p>
          <a:p>
            <a:pPr indent="-121158" lvl="0" marL="64008" rtl="0" algn="l">
              <a:lnSpc>
                <a:spcPct val="150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When one entry in left table matches multiple </a:t>
            </a:r>
            <a:r>
              <a:rPr lang="en" sz="900">
                <a:solidFill>
                  <a:srgbClr val="222222"/>
                </a:solidFill>
                <a:latin typeface="Open Sans"/>
                <a:ea typeface="Open Sans"/>
                <a:cs typeface="Open Sans"/>
                <a:sym typeface="Open Sans"/>
              </a:rPr>
              <a:t>entries</a:t>
            </a:r>
            <a:r>
              <a:rPr lang="en" sz="900">
                <a:solidFill>
                  <a:srgbClr val="222222"/>
                </a:solidFill>
                <a:latin typeface="Open Sans"/>
                <a:ea typeface="Open Sans"/>
                <a:cs typeface="Open Sans"/>
                <a:sym typeface="Open Sans"/>
              </a:rPr>
              <a:t> in right table</a:t>
            </a:r>
            <a:endParaRPr sz="900">
              <a:solidFill>
                <a:srgbClr val="222222"/>
              </a:solidFill>
              <a:latin typeface="Open Sans"/>
              <a:ea typeface="Open Sans"/>
              <a:cs typeface="Open Sans"/>
              <a:sym typeface="Open Sans"/>
            </a:endParaRPr>
          </a:p>
          <a:p>
            <a:pPr indent="-121158" lvl="0" marL="64008" rtl="0" algn="l">
              <a:lnSpc>
                <a:spcPct val="150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Results in multiple rows being created</a:t>
            </a:r>
            <a:endParaRPr sz="900">
              <a:solidFill>
                <a:srgbClr val="222222"/>
              </a:solidFill>
              <a:latin typeface="Open Sans"/>
              <a:ea typeface="Open Sans"/>
              <a:cs typeface="Open Sans"/>
              <a:sym typeface="Open Sans"/>
            </a:endParaRPr>
          </a:p>
          <a:p>
            <a:pPr indent="-121158" lvl="0" marL="64008" rtl="0" algn="l">
              <a:lnSpc>
                <a:spcPct val="150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Hence can result in more data than ‘expected’</a:t>
            </a:r>
            <a:endParaRPr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t/>
            </a:r>
            <a:endParaRPr sz="900">
              <a:solidFill>
                <a:srgbClr val="222222"/>
              </a:solidFill>
              <a:latin typeface="Open Sans"/>
              <a:ea typeface="Open Sans"/>
              <a:cs typeface="Open Sans"/>
              <a:sym typeface="Open Sans"/>
            </a:endParaRPr>
          </a:p>
          <a:p>
            <a:pPr indent="0" lvl="0" marL="0" rtl="0" algn="l">
              <a:lnSpc>
                <a:spcPct val="150000"/>
              </a:lnSpc>
              <a:spcBef>
                <a:spcPts val="400"/>
              </a:spcBef>
              <a:spcAft>
                <a:spcPts val="400"/>
              </a:spcAft>
              <a:buNone/>
            </a:pPr>
            <a:r>
              <a:t/>
            </a:r>
            <a:endParaRPr sz="900">
              <a:solidFill>
                <a:srgbClr val="222222"/>
              </a:solidFill>
              <a:latin typeface="Open Sans"/>
              <a:ea typeface="Open Sans"/>
              <a:cs typeface="Open Sans"/>
              <a:sym typeface="Open Sans"/>
            </a:endParaRPr>
          </a:p>
        </p:txBody>
      </p:sp>
      <p:sp>
        <p:nvSpPr>
          <p:cNvPr id="102" name="Google Shape;102;p17"/>
          <p:cNvSpPr txBox="1"/>
          <p:nvPr/>
        </p:nvSpPr>
        <p:spPr>
          <a:xfrm>
            <a:off x="7098125" y="1617075"/>
            <a:ext cx="1945800" cy="3537600"/>
          </a:xfrm>
          <a:prstGeom prst="rect">
            <a:avLst/>
          </a:prstGeom>
          <a:noFill/>
          <a:ln>
            <a:noFill/>
          </a:ln>
        </p:spPr>
        <p:txBody>
          <a:bodyPr anchorCtr="0" anchor="t" bIns="91425" lIns="91425" spcFirstLastPara="1" rIns="91425" wrap="square" tIns="91425">
            <a:spAutoFit/>
          </a:bodyPr>
          <a:lstStyle/>
          <a:p>
            <a:pPr indent="-121158" lvl="0" marL="64008" rtl="0" algn="l">
              <a:lnSpc>
                <a:spcPct val="150000"/>
              </a:lnSpc>
              <a:spcBef>
                <a:spcPts val="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Similar to one-to-many</a:t>
            </a:r>
            <a:endParaRPr sz="900">
              <a:solidFill>
                <a:srgbClr val="222222"/>
              </a:solidFill>
              <a:latin typeface="Open Sans"/>
              <a:ea typeface="Open Sans"/>
              <a:cs typeface="Open Sans"/>
              <a:sym typeface="Open Sans"/>
            </a:endParaRPr>
          </a:p>
          <a:p>
            <a:pPr indent="-121158" lvl="0" marL="64008" rtl="0" algn="l">
              <a:lnSpc>
                <a:spcPct val="150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When entries can have multiple matches in both left and right tables</a:t>
            </a:r>
            <a:endParaRPr sz="900">
              <a:solidFill>
                <a:srgbClr val="222222"/>
              </a:solidFill>
              <a:latin typeface="Open Sans"/>
              <a:ea typeface="Open Sans"/>
              <a:cs typeface="Open Sans"/>
              <a:sym typeface="Open Sans"/>
            </a:endParaRPr>
          </a:p>
          <a:p>
            <a:pPr indent="-121158" lvl="0" marL="64008" rtl="0" algn="l">
              <a:lnSpc>
                <a:spcPct val="150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Often use a third ‘linking’ table to join together</a:t>
            </a:r>
            <a:endParaRPr sz="900">
              <a:solidFill>
                <a:srgbClr val="222222"/>
              </a:solidFill>
              <a:latin typeface="Open Sans"/>
              <a:ea typeface="Open Sans"/>
              <a:cs typeface="Open Sans"/>
              <a:sym typeface="Open Sans"/>
            </a:endParaRPr>
          </a:p>
          <a:p>
            <a:pPr indent="-121158" lvl="0" marL="64008" rtl="0" algn="l">
              <a:lnSpc>
                <a:spcPct val="150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Example using books:</a:t>
            </a:r>
            <a:endParaRPr sz="900">
              <a:solidFill>
                <a:srgbClr val="222222"/>
              </a:solidFill>
              <a:latin typeface="Open Sans"/>
              <a:ea typeface="Open Sans"/>
              <a:cs typeface="Open Sans"/>
              <a:sym typeface="Open Sans"/>
            </a:endParaRPr>
          </a:p>
          <a:p>
            <a:pPr indent="0" lvl="0" marL="457200" rtl="0" algn="l">
              <a:lnSpc>
                <a:spcPct val="150000"/>
              </a:lnSpc>
              <a:spcBef>
                <a:spcPts val="400"/>
              </a:spcBef>
              <a:spcAft>
                <a:spcPts val="0"/>
              </a:spcAft>
              <a:buNone/>
            </a:pPr>
            <a:r>
              <a:t/>
            </a:r>
            <a:endParaRPr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rPr lang="en" sz="900">
                <a:solidFill>
                  <a:srgbClr val="222222"/>
                </a:solidFill>
                <a:latin typeface="Open Sans"/>
                <a:ea typeface="Open Sans"/>
                <a:cs typeface="Open Sans"/>
                <a:sym typeface="Open Sans"/>
              </a:rPr>
              <a:t>Books: Info about book</a:t>
            </a:r>
            <a:endParaRPr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rPr lang="en" sz="900">
                <a:solidFill>
                  <a:srgbClr val="222222"/>
                </a:solidFill>
                <a:latin typeface="Open Sans"/>
                <a:ea typeface="Open Sans"/>
                <a:cs typeface="Open Sans"/>
                <a:sym typeface="Open Sans"/>
              </a:rPr>
              <a:t>Authors: Info about authors</a:t>
            </a:r>
            <a:endParaRPr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rPr lang="en" sz="900">
                <a:solidFill>
                  <a:srgbClr val="222222"/>
                </a:solidFill>
                <a:latin typeface="Open Sans"/>
                <a:ea typeface="Open Sans"/>
                <a:cs typeface="Open Sans"/>
                <a:sym typeface="Open Sans"/>
              </a:rPr>
              <a:t>BookAuthors</a:t>
            </a:r>
            <a:r>
              <a:rPr lang="en" sz="900">
                <a:solidFill>
                  <a:srgbClr val="222222"/>
                </a:solidFill>
                <a:latin typeface="Open Sans"/>
                <a:ea typeface="Open Sans"/>
                <a:cs typeface="Open Sans"/>
                <a:sym typeface="Open Sans"/>
              </a:rPr>
              <a:t>: Connects the two</a:t>
            </a:r>
            <a:endParaRPr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t/>
            </a:r>
            <a:endParaRPr sz="900">
              <a:solidFill>
                <a:srgbClr val="222222"/>
              </a:solidFill>
              <a:latin typeface="Open Sans"/>
              <a:ea typeface="Open Sans"/>
              <a:cs typeface="Open Sans"/>
              <a:sym typeface="Open Sans"/>
            </a:endParaRPr>
          </a:p>
          <a:p>
            <a:pPr indent="0" lvl="0" marL="0" rtl="0" algn="l">
              <a:lnSpc>
                <a:spcPct val="150000"/>
              </a:lnSpc>
              <a:spcBef>
                <a:spcPts val="400"/>
              </a:spcBef>
              <a:spcAft>
                <a:spcPts val="0"/>
              </a:spcAft>
              <a:buNone/>
            </a:pPr>
            <a:r>
              <a:t/>
            </a:r>
            <a:endParaRPr sz="900">
              <a:solidFill>
                <a:srgbClr val="222222"/>
              </a:solidFill>
              <a:latin typeface="Open Sans"/>
              <a:ea typeface="Open Sans"/>
              <a:cs typeface="Open Sans"/>
              <a:sym typeface="Open Sans"/>
            </a:endParaRPr>
          </a:p>
          <a:p>
            <a:pPr indent="0" lvl="0" marL="0" rtl="0" algn="l">
              <a:lnSpc>
                <a:spcPct val="150000"/>
              </a:lnSpc>
              <a:spcBef>
                <a:spcPts val="400"/>
              </a:spcBef>
              <a:spcAft>
                <a:spcPts val="400"/>
              </a:spcAft>
              <a:buNone/>
            </a:pPr>
            <a:r>
              <a:t/>
            </a:r>
            <a:endParaRPr sz="900">
              <a:solidFill>
                <a:srgbClr val="222222"/>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106" name="Shape 106"/>
        <p:cNvGrpSpPr/>
        <p:nvPr/>
      </p:nvGrpSpPr>
      <p:grpSpPr>
        <a:xfrm>
          <a:off x="0" y="0"/>
          <a:ext cx="0" cy="0"/>
          <a:chOff x="0" y="0"/>
          <a:chExt cx="0" cy="0"/>
        </a:xfrm>
      </p:grpSpPr>
      <p:sp>
        <p:nvSpPr>
          <p:cNvPr id="107" name="Google Shape;107;p18"/>
          <p:cNvSpPr/>
          <p:nvPr/>
        </p:nvSpPr>
        <p:spPr>
          <a:xfrm>
            <a:off x="3232400" y="-8650"/>
            <a:ext cx="5911500" cy="5152200"/>
          </a:xfrm>
          <a:prstGeom prst="rect">
            <a:avLst/>
          </a:prstGeom>
          <a:solidFill>
            <a:srgbClr val="01AD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pic>
        <p:nvPicPr>
          <p:cNvPr id="108" name="Google Shape;108;p18"/>
          <p:cNvPicPr preferRelativeResize="0"/>
          <p:nvPr/>
        </p:nvPicPr>
        <p:blipFill rotWithShape="1">
          <a:blip r:embed="rId3">
            <a:alphaModFix/>
          </a:blip>
          <a:srcRect b="-10" l="0" r="0" t="0"/>
          <a:stretch/>
        </p:blipFill>
        <p:spPr>
          <a:xfrm>
            <a:off x="370700" y="4817918"/>
            <a:ext cx="1205250" cy="127750"/>
          </a:xfrm>
          <a:prstGeom prst="rect">
            <a:avLst/>
          </a:prstGeom>
          <a:noFill/>
          <a:ln>
            <a:noFill/>
          </a:ln>
        </p:spPr>
      </p:pic>
      <p:sp>
        <p:nvSpPr>
          <p:cNvPr id="109" name="Google Shape;109;p18"/>
          <p:cNvSpPr txBox="1"/>
          <p:nvPr/>
        </p:nvSpPr>
        <p:spPr>
          <a:xfrm>
            <a:off x="6274923" y="2760600"/>
            <a:ext cx="2484900" cy="484800"/>
          </a:xfrm>
          <a:prstGeom prst="rect">
            <a:avLst/>
          </a:prstGeom>
          <a:noFill/>
          <a:ln>
            <a:noFill/>
          </a:ln>
        </p:spPr>
        <p:txBody>
          <a:bodyPr anchorCtr="0" anchor="ctr" bIns="91425" lIns="91425" spcFirstLastPara="1" rIns="91425" wrap="square" tIns="91425">
            <a:noAutofit/>
          </a:bodyPr>
          <a:lstStyle/>
          <a:p>
            <a:pPr indent="0" lvl="0" marL="114300" marR="114300" rtl="0" algn="l">
              <a:lnSpc>
                <a:spcPct val="100000"/>
              </a:lnSpc>
              <a:spcBef>
                <a:spcPts val="0"/>
              </a:spcBef>
              <a:spcAft>
                <a:spcPts val="0"/>
              </a:spcAft>
              <a:buClr>
                <a:srgbClr val="000000"/>
              </a:buClr>
              <a:buSzPts val="3000"/>
              <a:buFont typeface="Arial"/>
              <a:buNone/>
            </a:pPr>
            <a:r>
              <a:rPr lang="en" sz="3200">
                <a:solidFill>
                  <a:schemeClr val="lt1"/>
                </a:solidFill>
                <a:latin typeface="Fira Sans SemiBold"/>
                <a:ea typeface="Fira Sans SemiBold"/>
                <a:cs typeface="Fira Sans SemiBold"/>
                <a:sym typeface="Fira Sans SemiBold"/>
              </a:rPr>
              <a:t>In WHERE</a:t>
            </a:r>
            <a:endParaRPr i="0" sz="3200" u="none" cap="none" strike="noStrike">
              <a:solidFill>
                <a:schemeClr val="lt1"/>
              </a:solidFill>
              <a:latin typeface="Fira Sans SemiBold"/>
              <a:ea typeface="Fira Sans SemiBold"/>
              <a:cs typeface="Fira Sans SemiBold"/>
              <a:sym typeface="Fira Sans SemiBold"/>
            </a:endParaRPr>
          </a:p>
        </p:txBody>
      </p:sp>
      <p:sp>
        <p:nvSpPr>
          <p:cNvPr id="110" name="Google Shape;110;p18"/>
          <p:cNvSpPr txBox="1"/>
          <p:nvPr/>
        </p:nvSpPr>
        <p:spPr>
          <a:xfrm>
            <a:off x="6403275" y="3398795"/>
            <a:ext cx="2261400" cy="1363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000">
                <a:solidFill>
                  <a:schemeClr val="dk1"/>
                </a:solidFill>
                <a:latin typeface="Open Sans"/>
                <a:ea typeface="Open Sans"/>
                <a:cs typeface="Open Sans"/>
                <a:sym typeface="Open Sans"/>
              </a:rPr>
              <a:t>Subqueries are used extensively to filter data beyond what normal WHERE and HAVING statements can do. The subquery becomes the conditional expression to </a:t>
            </a:r>
            <a:r>
              <a:rPr lang="en" sz="1000">
                <a:solidFill>
                  <a:schemeClr val="dk1"/>
                </a:solidFill>
                <a:latin typeface="Open Sans"/>
                <a:ea typeface="Open Sans"/>
                <a:cs typeface="Open Sans"/>
                <a:sym typeface="Open Sans"/>
              </a:rPr>
              <a:t>filter</a:t>
            </a:r>
            <a:r>
              <a:rPr lang="en" sz="1000">
                <a:solidFill>
                  <a:schemeClr val="dk1"/>
                </a:solidFill>
                <a:latin typeface="Open Sans"/>
                <a:ea typeface="Open Sans"/>
                <a:cs typeface="Open Sans"/>
                <a:sym typeface="Open Sans"/>
              </a:rPr>
              <a:t> by.</a:t>
            </a:r>
            <a:endParaRPr sz="1000">
              <a:solidFill>
                <a:schemeClr val="dk1"/>
              </a:solidFill>
              <a:latin typeface="Open Sans"/>
              <a:ea typeface="Open Sans"/>
              <a:cs typeface="Open Sans"/>
              <a:sym typeface="Open Sans"/>
            </a:endParaRPr>
          </a:p>
        </p:txBody>
      </p:sp>
      <p:sp>
        <p:nvSpPr>
          <p:cNvPr id="111" name="Google Shape;111;p18"/>
          <p:cNvSpPr txBox="1"/>
          <p:nvPr/>
        </p:nvSpPr>
        <p:spPr>
          <a:xfrm>
            <a:off x="6302199" y="630348"/>
            <a:ext cx="2484900" cy="484800"/>
          </a:xfrm>
          <a:prstGeom prst="rect">
            <a:avLst/>
          </a:prstGeom>
          <a:noFill/>
          <a:ln>
            <a:noFill/>
          </a:ln>
        </p:spPr>
        <p:txBody>
          <a:bodyPr anchorCtr="0" anchor="ctr" bIns="91425" lIns="91425" spcFirstLastPara="1" rIns="91425" wrap="square" tIns="91425">
            <a:noAutofit/>
          </a:bodyPr>
          <a:lstStyle/>
          <a:p>
            <a:pPr indent="0" lvl="0" marL="114300" marR="114300" rtl="0" algn="l">
              <a:lnSpc>
                <a:spcPct val="100000"/>
              </a:lnSpc>
              <a:spcBef>
                <a:spcPts val="0"/>
              </a:spcBef>
              <a:spcAft>
                <a:spcPts val="0"/>
              </a:spcAft>
              <a:buClr>
                <a:srgbClr val="000000"/>
              </a:buClr>
              <a:buSzPts val="3000"/>
              <a:buFont typeface="Arial"/>
              <a:buNone/>
            </a:pPr>
            <a:r>
              <a:rPr lang="en" sz="3200">
                <a:solidFill>
                  <a:schemeClr val="lt1"/>
                </a:solidFill>
                <a:latin typeface="Fira Sans SemiBold"/>
                <a:ea typeface="Fira Sans SemiBold"/>
                <a:cs typeface="Fira Sans SemiBold"/>
                <a:sym typeface="Fira Sans SemiBold"/>
              </a:rPr>
              <a:t>Complexity</a:t>
            </a:r>
            <a:endParaRPr i="0" sz="3200" u="none" cap="none" strike="noStrike">
              <a:solidFill>
                <a:schemeClr val="lt1"/>
              </a:solidFill>
              <a:latin typeface="Fira Sans SemiBold"/>
              <a:ea typeface="Fira Sans SemiBold"/>
              <a:cs typeface="Fira Sans SemiBold"/>
              <a:sym typeface="Fira Sans SemiBold"/>
            </a:endParaRPr>
          </a:p>
        </p:txBody>
      </p:sp>
      <p:sp>
        <p:nvSpPr>
          <p:cNvPr id="112" name="Google Shape;112;p18"/>
          <p:cNvSpPr txBox="1"/>
          <p:nvPr/>
        </p:nvSpPr>
        <p:spPr>
          <a:xfrm>
            <a:off x="6403275" y="1221752"/>
            <a:ext cx="2261400" cy="1363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200"/>
              <a:buFont typeface="Arial"/>
              <a:buNone/>
            </a:pPr>
            <a:r>
              <a:rPr lang="en" sz="1000">
                <a:solidFill>
                  <a:schemeClr val="dk1"/>
                </a:solidFill>
                <a:latin typeface="Open Sans"/>
                <a:ea typeface="Open Sans"/>
                <a:cs typeface="Open Sans"/>
                <a:sym typeface="Open Sans"/>
              </a:rPr>
              <a:t>Help to increase efficiency when dealing with complex questions. Can answer questions that might seem like they would require two different sequential queries.</a:t>
            </a:r>
            <a:endParaRPr sz="1000">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1000">
              <a:solidFill>
                <a:schemeClr val="lt1"/>
              </a:solidFill>
              <a:latin typeface="Open Sans"/>
              <a:ea typeface="Open Sans"/>
              <a:cs typeface="Open Sans"/>
              <a:sym typeface="Open Sans"/>
            </a:endParaRPr>
          </a:p>
        </p:txBody>
      </p:sp>
      <p:sp>
        <p:nvSpPr>
          <p:cNvPr id="113" name="Google Shape;113;p18"/>
          <p:cNvSpPr txBox="1"/>
          <p:nvPr/>
        </p:nvSpPr>
        <p:spPr>
          <a:xfrm>
            <a:off x="3659097" y="630348"/>
            <a:ext cx="2484900" cy="484800"/>
          </a:xfrm>
          <a:prstGeom prst="rect">
            <a:avLst/>
          </a:prstGeom>
          <a:noFill/>
          <a:ln>
            <a:noFill/>
          </a:ln>
        </p:spPr>
        <p:txBody>
          <a:bodyPr anchorCtr="0" anchor="ctr" bIns="91425" lIns="91425" spcFirstLastPara="1" rIns="91425" wrap="square" tIns="91425">
            <a:noAutofit/>
          </a:bodyPr>
          <a:lstStyle/>
          <a:p>
            <a:pPr indent="0" lvl="0" marL="114300" marR="114300" rtl="0" algn="l">
              <a:lnSpc>
                <a:spcPct val="100000"/>
              </a:lnSpc>
              <a:spcBef>
                <a:spcPts val="0"/>
              </a:spcBef>
              <a:spcAft>
                <a:spcPts val="0"/>
              </a:spcAft>
              <a:buClr>
                <a:srgbClr val="000000"/>
              </a:buClr>
              <a:buSzPts val="3000"/>
              <a:buFont typeface="Arial"/>
              <a:buNone/>
            </a:pPr>
            <a:r>
              <a:rPr lang="en" sz="3200">
                <a:solidFill>
                  <a:schemeClr val="lt1"/>
                </a:solidFill>
                <a:latin typeface="Fira Sans SemiBold"/>
                <a:ea typeface="Fira Sans SemiBold"/>
                <a:cs typeface="Fira Sans SemiBold"/>
                <a:sym typeface="Fira Sans SemiBold"/>
              </a:rPr>
              <a:t>Nested</a:t>
            </a:r>
            <a:endParaRPr i="0" sz="3200" u="none" cap="none" strike="noStrike">
              <a:solidFill>
                <a:schemeClr val="lt1"/>
              </a:solidFill>
              <a:latin typeface="Fira Sans SemiBold"/>
              <a:ea typeface="Fira Sans SemiBold"/>
              <a:cs typeface="Fira Sans SemiBold"/>
              <a:sym typeface="Fira Sans SemiBold"/>
            </a:endParaRPr>
          </a:p>
        </p:txBody>
      </p:sp>
      <p:sp>
        <p:nvSpPr>
          <p:cNvPr id="114" name="Google Shape;114;p18"/>
          <p:cNvSpPr txBox="1"/>
          <p:nvPr/>
        </p:nvSpPr>
        <p:spPr>
          <a:xfrm>
            <a:off x="3779201" y="1221752"/>
            <a:ext cx="2261400" cy="1363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200"/>
              <a:buFont typeface="Arial"/>
              <a:buNone/>
            </a:pPr>
            <a:r>
              <a:rPr lang="en" sz="1000">
                <a:solidFill>
                  <a:schemeClr val="dk1"/>
                </a:solidFill>
                <a:latin typeface="Open Sans"/>
                <a:ea typeface="Open Sans"/>
                <a:cs typeface="Open Sans"/>
                <a:sym typeface="Open Sans"/>
              </a:rPr>
              <a:t>Think of these as nested queries within a larger main query. They are complete SQL queries that are used internal in the main query.</a:t>
            </a:r>
            <a:endParaRPr sz="1000">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rgbClr val="000000"/>
              </a:buClr>
              <a:buSzPts val="1200"/>
              <a:buFont typeface="Arial"/>
              <a:buNone/>
            </a:pPr>
            <a:r>
              <a:t/>
            </a:r>
            <a:endParaRPr i="1" sz="600">
              <a:solidFill>
                <a:schemeClr val="lt1"/>
              </a:solidFill>
              <a:latin typeface="Open Sans"/>
              <a:ea typeface="Open Sans"/>
              <a:cs typeface="Open Sans"/>
              <a:sym typeface="Open Sans"/>
            </a:endParaRPr>
          </a:p>
          <a:p>
            <a:pPr indent="0" lvl="0" marL="0" rtl="0" algn="l">
              <a:lnSpc>
                <a:spcPct val="150000"/>
              </a:lnSpc>
              <a:spcBef>
                <a:spcPts val="0"/>
              </a:spcBef>
              <a:spcAft>
                <a:spcPts val="0"/>
              </a:spcAft>
              <a:buClr>
                <a:srgbClr val="000000"/>
              </a:buClr>
              <a:buSzPts val="1200"/>
              <a:buFont typeface="Arial"/>
              <a:buNone/>
            </a:pPr>
            <a:r>
              <a:t/>
            </a:r>
            <a:endParaRPr sz="600">
              <a:solidFill>
                <a:schemeClr val="lt1"/>
              </a:solidFill>
              <a:latin typeface="Open Sans"/>
              <a:ea typeface="Open Sans"/>
              <a:cs typeface="Open Sans"/>
              <a:sym typeface="Open Sans"/>
            </a:endParaRPr>
          </a:p>
        </p:txBody>
      </p:sp>
      <p:sp>
        <p:nvSpPr>
          <p:cNvPr id="115" name="Google Shape;115;p18"/>
          <p:cNvSpPr txBox="1"/>
          <p:nvPr/>
        </p:nvSpPr>
        <p:spPr>
          <a:xfrm>
            <a:off x="3659097" y="2760600"/>
            <a:ext cx="2261400" cy="484800"/>
          </a:xfrm>
          <a:prstGeom prst="rect">
            <a:avLst/>
          </a:prstGeom>
          <a:noFill/>
          <a:ln>
            <a:noFill/>
          </a:ln>
        </p:spPr>
        <p:txBody>
          <a:bodyPr anchorCtr="0" anchor="ctr" bIns="91425" lIns="91425" spcFirstLastPara="1" rIns="91425" wrap="square" tIns="91425">
            <a:noAutofit/>
          </a:bodyPr>
          <a:lstStyle/>
          <a:p>
            <a:pPr indent="0" lvl="0" marL="114300" marR="114300" rtl="0" algn="l">
              <a:lnSpc>
                <a:spcPct val="100000"/>
              </a:lnSpc>
              <a:spcBef>
                <a:spcPts val="0"/>
              </a:spcBef>
              <a:spcAft>
                <a:spcPts val="0"/>
              </a:spcAft>
              <a:buClr>
                <a:srgbClr val="000000"/>
              </a:buClr>
              <a:buSzPts val="3000"/>
              <a:buFont typeface="Arial"/>
              <a:buNone/>
            </a:pPr>
            <a:r>
              <a:rPr lang="en" sz="3200">
                <a:solidFill>
                  <a:schemeClr val="lt1"/>
                </a:solidFill>
                <a:latin typeface="Fira Sans SemiBold"/>
                <a:ea typeface="Fira Sans SemiBold"/>
                <a:cs typeface="Fira Sans SemiBold"/>
                <a:sym typeface="Fira Sans SemiBold"/>
              </a:rPr>
              <a:t>In FROM</a:t>
            </a:r>
            <a:endParaRPr i="0" sz="3200" u="none" cap="none" strike="noStrike">
              <a:solidFill>
                <a:schemeClr val="lt1"/>
              </a:solidFill>
              <a:latin typeface="Fira Sans SemiBold"/>
              <a:ea typeface="Fira Sans SemiBold"/>
              <a:cs typeface="Fira Sans SemiBold"/>
              <a:sym typeface="Fira Sans SemiBold"/>
            </a:endParaRPr>
          </a:p>
        </p:txBody>
      </p:sp>
      <p:sp>
        <p:nvSpPr>
          <p:cNvPr id="116" name="Google Shape;116;p18"/>
          <p:cNvSpPr txBox="1"/>
          <p:nvPr/>
        </p:nvSpPr>
        <p:spPr>
          <a:xfrm>
            <a:off x="3779200" y="3398795"/>
            <a:ext cx="2261400" cy="1363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200"/>
              <a:buFont typeface="Arial"/>
              <a:buNone/>
            </a:pPr>
            <a:r>
              <a:rPr lang="en" sz="1000">
                <a:solidFill>
                  <a:schemeClr val="dk1"/>
                </a:solidFill>
                <a:latin typeface="Open Sans"/>
                <a:ea typeface="Open Sans"/>
                <a:cs typeface="Open Sans"/>
                <a:sym typeface="Open Sans"/>
              </a:rPr>
              <a:t>Useful if </a:t>
            </a:r>
            <a:r>
              <a:rPr lang="en" sz="1000">
                <a:solidFill>
                  <a:schemeClr val="dk1"/>
                </a:solidFill>
                <a:latin typeface="Open Sans"/>
                <a:ea typeface="Open Sans"/>
                <a:cs typeface="Open Sans"/>
                <a:sym typeface="Open Sans"/>
              </a:rPr>
              <a:t>you need to apply multiple aggregation functions. For example the average number of routes that depart from all airports. Think of it as a new temporary table in the database.</a:t>
            </a:r>
            <a:endParaRPr sz="1000">
              <a:solidFill>
                <a:schemeClr val="dk1"/>
              </a:solidFill>
              <a:latin typeface="Open Sans"/>
              <a:ea typeface="Open Sans"/>
              <a:cs typeface="Open Sans"/>
              <a:sym typeface="Open Sans"/>
            </a:endParaRPr>
          </a:p>
        </p:txBody>
      </p:sp>
      <p:sp>
        <p:nvSpPr>
          <p:cNvPr id="117" name="Google Shape;117;p18"/>
          <p:cNvSpPr txBox="1"/>
          <p:nvPr>
            <p:ph idx="4294967295" type="ctrTitle"/>
          </p:nvPr>
        </p:nvSpPr>
        <p:spPr>
          <a:xfrm>
            <a:off x="351375" y="1139575"/>
            <a:ext cx="2578200" cy="1979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sz="3600">
                <a:solidFill>
                  <a:srgbClr val="1B2630"/>
                </a:solidFill>
                <a:latin typeface="Fira Sans"/>
                <a:ea typeface="Fira Sans"/>
                <a:cs typeface="Fira Sans"/>
                <a:sym typeface="Fira Sans"/>
              </a:rPr>
              <a:t>Subqueries</a:t>
            </a:r>
            <a:endParaRPr b="1" sz="3600">
              <a:solidFill>
                <a:srgbClr val="1B2630"/>
              </a:solidFill>
              <a:latin typeface="Fira Sans"/>
              <a:ea typeface="Fira Sans"/>
              <a:cs typeface="Fira Sans"/>
              <a:sym typeface="Fira Sans"/>
            </a:endParaRPr>
          </a:p>
          <a:p>
            <a:pPr indent="0" lvl="0" marL="0" rtl="0" algn="l">
              <a:lnSpc>
                <a:spcPct val="100000"/>
              </a:lnSpc>
              <a:spcBef>
                <a:spcPts val="0"/>
              </a:spcBef>
              <a:spcAft>
                <a:spcPts val="0"/>
              </a:spcAft>
              <a:buSzPts val="1100"/>
              <a:buNone/>
            </a:pPr>
            <a:r>
              <a:t/>
            </a:r>
            <a:endParaRPr b="1" sz="3600">
              <a:solidFill>
                <a:srgbClr val="1B2630"/>
              </a:solidFill>
              <a:latin typeface="Fira Sans"/>
              <a:ea typeface="Fira Sans"/>
              <a:cs typeface="Fira Sans"/>
              <a:sym typeface="Fira Sans"/>
            </a:endParaRPr>
          </a:p>
          <a:p>
            <a:pPr indent="0" lvl="0" marL="0" rtl="0" algn="l">
              <a:lnSpc>
                <a:spcPct val="100000"/>
              </a:lnSpc>
              <a:spcBef>
                <a:spcPts val="0"/>
              </a:spcBef>
              <a:spcAft>
                <a:spcPts val="0"/>
              </a:spcAft>
              <a:buSzPts val="4800"/>
              <a:buNone/>
            </a:pPr>
            <a:r>
              <a:t/>
            </a:r>
            <a:endParaRPr b="1" sz="3600">
              <a:solidFill>
                <a:srgbClr val="1B2630"/>
              </a:solidFill>
              <a:latin typeface="Fira Sans"/>
              <a:ea typeface="Fira Sans"/>
              <a:cs typeface="Fira Sans"/>
              <a:sym typeface="Fira Sans"/>
            </a:endParaRPr>
          </a:p>
          <a:p>
            <a:pPr indent="0" lvl="0" marL="0" rtl="0" algn="l">
              <a:lnSpc>
                <a:spcPct val="100000"/>
              </a:lnSpc>
              <a:spcBef>
                <a:spcPts val="0"/>
              </a:spcBef>
              <a:spcAft>
                <a:spcPts val="0"/>
              </a:spcAft>
              <a:buSzPts val="2400"/>
              <a:buNone/>
            </a:pPr>
            <a:r>
              <a:t/>
            </a:r>
            <a:endParaRPr b="1" sz="2900">
              <a:solidFill>
                <a:srgbClr val="1B2630"/>
              </a:solidFill>
              <a:latin typeface="Fira Sans"/>
              <a:ea typeface="Fira Sans"/>
              <a:cs typeface="Fira Sans"/>
              <a:sym typeface="Fira Sans"/>
            </a:endParaRPr>
          </a:p>
          <a:p>
            <a:pPr indent="0" lvl="0" marL="0" rtl="0" algn="l">
              <a:lnSpc>
                <a:spcPct val="100000"/>
              </a:lnSpc>
              <a:spcBef>
                <a:spcPts val="0"/>
              </a:spcBef>
              <a:spcAft>
                <a:spcPts val="0"/>
              </a:spcAft>
              <a:buSzPts val="2800"/>
              <a:buNone/>
            </a:pPr>
            <a:r>
              <a:t/>
            </a:r>
            <a:endParaRPr sz="2900">
              <a:solidFill>
                <a:srgbClr val="101820"/>
              </a:solidFill>
              <a:latin typeface="Fira Sans ExtraBold"/>
              <a:ea typeface="Fira Sans ExtraBold"/>
              <a:cs typeface="Fira Sans ExtraBold"/>
              <a:sym typeface="Fira Sans ExtraBold"/>
            </a:endParaRPr>
          </a:p>
          <a:p>
            <a:pPr indent="0" lvl="0" marL="0" rtl="0" algn="l">
              <a:lnSpc>
                <a:spcPct val="100000"/>
              </a:lnSpc>
              <a:spcBef>
                <a:spcPts val="0"/>
              </a:spcBef>
              <a:spcAft>
                <a:spcPts val="0"/>
              </a:spcAft>
              <a:buClr>
                <a:schemeClr val="dk1"/>
              </a:buClr>
              <a:buSzPts val="1100"/>
              <a:buFont typeface="Arial"/>
              <a:buNone/>
            </a:pPr>
            <a:r>
              <a:t/>
            </a:r>
            <a:endParaRPr sz="2900">
              <a:solidFill>
                <a:srgbClr val="101820"/>
              </a:solidFill>
              <a:latin typeface="DM Serif Display"/>
              <a:ea typeface="DM Serif Display"/>
              <a:cs typeface="DM Serif Display"/>
              <a:sym typeface="DM Serif Display"/>
            </a:endParaRPr>
          </a:p>
          <a:p>
            <a:pPr indent="0" lvl="0" marL="0" rtl="0" algn="l">
              <a:lnSpc>
                <a:spcPct val="100000"/>
              </a:lnSpc>
              <a:spcBef>
                <a:spcPts val="0"/>
              </a:spcBef>
              <a:spcAft>
                <a:spcPts val="0"/>
              </a:spcAft>
              <a:buSzPts val="1100"/>
              <a:buNone/>
            </a:pPr>
            <a:r>
              <a:t/>
            </a:r>
            <a:endParaRPr sz="2900">
              <a:solidFill>
                <a:srgbClr val="101820"/>
              </a:solidFill>
              <a:latin typeface="DM Serif Display"/>
              <a:ea typeface="DM Serif Display"/>
              <a:cs typeface="DM Serif Display"/>
              <a:sym typeface="DM Serif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19"/>
          <p:cNvSpPr/>
          <p:nvPr/>
        </p:nvSpPr>
        <p:spPr>
          <a:xfrm>
            <a:off x="6098400" y="907950"/>
            <a:ext cx="3048000" cy="42357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AD5C8"/>
              </a:solidFill>
            </a:endParaRPr>
          </a:p>
        </p:txBody>
      </p:sp>
      <p:sp>
        <p:nvSpPr>
          <p:cNvPr id="123" name="Google Shape;123;p19"/>
          <p:cNvSpPr/>
          <p:nvPr/>
        </p:nvSpPr>
        <p:spPr>
          <a:xfrm>
            <a:off x="3050400" y="907950"/>
            <a:ext cx="3048000" cy="42357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AD5C8"/>
              </a:solidFill>
            </a:endParaRPr>
          </a:p>
        </p:txBody>
      </p:sp>
      <p:sp>
        <p:nvSpPr>
          <p:cNvPr id="124" name="Google Shape;124;p19"/>
          <p:cNvSpPr/>
          <p:nvPr/>
        </p:nvSpPr>
        <p:spPr>
          <a:xfrm>
            <a:off x="2400" y="907950"/>
            <a:ext cx="3048000" cy="42357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AD5C8"/>
              </a:solidFill>
            </a:endParaRPr>
          </a:p>
        </p:txBody>
      </p:sp>
      <p:sp>
        <p:nvSpPr>
          <p:cNvPr id="125" name="Google Shape;125;p19"/>
          <p:cNvSpPr txBox="1"/>
          <p:nvPr>
            <p:ph type="title"/>
          </p:nvPr>
        </p:nvSpPr>
        <p:spPr>
          <a:xfrm>
            <a:off x="311099" y="189100"/>
            <a:ext cx="8521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1100"/>
              <a:buNone/>
            </a:pPr>
            <a:r>
              <a:rPr b="1" lang="en" sz="2200">
                <a:latin typeface="Fira Sans"/>
                <a:ea typeface="Fira Sans"/>
                <a:cs typeface="Fira Sans"/>
                <a:sym typeface="Fira Sans"/>
              </a:rPr>
              <a:t>Summary</a:t>
            </a:r>
            <a:endParaRPr b="1" sz="2200">
              <a:latin typeface="Fira Sans"/>
              <a:ea typeface="Fira Sans"/>
              <a:cs typeface="Fira Sans"/>
              <a:sym typeface="Fira Sans"/>
            </a:endParaRPr>
          </a:p>
          <a:p>
            <a:pPr indent="0" lvl="0" marL="0" rtl="0" algn="ctr">
              <a:lnSpc>
                <a:spcPct val="100000"/>
              </a:lnSpc>
              <a:spcBef>
                <a:spcPts val="0"/>
              </a:spcBef>
              <a:spcAft>
                <a:spcPts val="0"/>
              </a:spcAft>
              <a:buSzPts val="1100"/>
              <a:buNone/>
            </a:pPr>
            <a:r>
              <a:t/>
            </a:r>
            <a:endParaRPr b="1" sz="2200">
              <a:latin typeface="Fira Sans"/>
              <a:ea typeface="Fira Sans"/>
              <a:cs typeface="Fira Sans"/>
              <a:sym typeface="Fira Sans"/>
            </a:endParaRPr>
          </a:p>
        </p:txBody>
      </p:sp>
      <p:sp>
        <p:nvSpPr>
          <p:cNvPr id="126" name="Google Shape;126;p19"/>
          <p:cNvSpPr/>
          <p:nvPr/>
        </p:nvSpPr>
        <p:spPr>
          <a:xfrm>
            <a:off x="197100" y="3280475"/>
            <a:ext cx="2658600" cy="1117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dk1"/>
              </a:buClr>
              <a:buSzPts val="1100"/>
              <a:buFont typeface="Arial"/>
              <a:buNone/>
            </a:pPr>
            <a:r>
              <a:rPr lang="en" sz="900">
                <a:solidFill>
                  <a:srgbClr val="101820"/>
                </a:solidFill>
                <a:latin typeface="Open Sans Medium"/>
                <a:ea typeface="Open Sans Medium"/>
                <a:cs typeface="Open Sans Medium"/>
                <a:sym typeface="Open Sans Medium"/>
              </a:rPr>
              <a:t>We talked about how SQL joins allow to utilize the relational database to connect data together.</a:t>
            </a:r>
            <a:endParaRPr sz="900">
              <a:solidFill>
                <a:srgbClr val="101820"/>
              </a:solidFill>
              <a:latin typeface="Open Sans Medium"/>
              <a:ea typeface="Open Sans Medium"/>
              <a:cs typeface="Open Sans Medium"/>
              <a:sym typeface="Open Sans Medium"/>
            </a:endParaRPr>
          </a:p>
          <a:p>
            <a:pPr indent="0" lvl="0" marL="0" marR="0" rtl="0" algn="ctr">
              <a:lnSpc>
                <a:spcPct val="150000"/>
              </a:lnSpc>
              <a:spcBef>
                <a:spcPts val="0"/>
              </a:spcBef>
              <a:spcAft>
                <a:spcPts val="0"/>
              </a:spcAft>
              <a:buClr>
                <a:srgbClr val="000000"/>
              </a:buClr>
              <a:buSzPts val="1200"/>
              <a:buFont typeface="Arial"/>
              <a:buNone/>
            </a:pPr>
            <a:r>
              <a:t/>
            </a:r>
            <a:endParaRPr sz="900">
              <a:solidFill>
                <a:srgbClr val="101820"/>
              </a:solidFill>
              <a:latin typeface="Open Sans Medium"/>
              <a:ea typeface="Open Sans Medium"/>
              <a:cs typeface="Open Sans Medium"/>
              <a:sym typeface="Open Sans Medium"/>
            </a:endParaRPr>
          </a:p>
        </p:txBody>
      </p:sp>
      <p:sp>
        <p:nvSpPr>
          <p:cNvPr id="127" name="Google Shape;127;p19"/>
          <p:cNvSpPr/>
          <p:nvPr/>
        </p:nvSpPr>
        <p:spPr>
          <a:xfrm>
            <a:off x="304202" y="1816263"/>
            <a:ext cx="24444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lang="en" sz="4400">
                <a:solidFill>
                  <a:srgbClr val="01ADE2"/>
                </a:solidFill>
                <a:latin typeface="Fira Sans Medium"/>
                <a:ea typeface="Fira Sans Medium"/>
                <a:cs typeface="Fira Sans Medium"/>
                <a:sym typeface="Fira Sans Medium"/>
              </a:rPr>
              <a:t>Joins</a:t>
            </a:r>
            <a:endParaRPr i="0" sz="4400" cap="none" strike="noStrike">
              <a:solidFill>
                <a:srgbClr val="01ADE2"/>
              </a:solidFill>
              <a:latin typeface="Fira Sans Medium"/>
              <a:ea typeface="Fira Sans Medium"/>
              <a:cs typeface="Fira Sans Medium"/>
              <a:sym typeface="Fira Sans Medium"/>
            </a:endParaRPr>
          </a:p>
        </p:txBody>
      </p:sp>
      <p:sp>
        <p:nvSpPr>
          <p:cNvPr id="128" name="Google Shape;128;p19"/>
          <p:cNvSpPr/>
          <p:nvPr/>
        </p:nvSpPr>
        <p:spPr>
          <a:xfrm>
            <a:off x="226050" y="2777200"/>
            <a:ext cx="2600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sz="1700">
                <a:solidFill>
                  <a:srgbClr val="101820"/>
                </a:solidFill>
                <a:latin typeface="Fira Sans"/>
                <a:ea typeface="Fira Sans"/>
                <a:cs typeface="Fira Sans"/>
                <a:sym typeface="Fira Sans"/>
              </a:rPr>
              <a:t>Relations</a:t>
            </a:r>
            <a:endParaRPr b="1" i="0" sz="1700" cap="none" strike="noStrike">
              <a:solidFill>
                <a:srgbClr val="101820"/>
              </a:solidFill>
              <a:latin typeface="Fira Sans"/>
              <a:ea typeface="Fira Sans"/>
              <a:cs typeface="Fira Sans"/>
              <a:sym typeface="Fira Sans"/>
            </a:endParaRPr>
          </a:p>
        </p:txBody>
      </p:sp>
      <p:sp>
        <p:nvSpPr>
          <p:cNvPr id="129" name="Google Shape;129;p19"/>
          <p:cNvSpPr/>
          <p:nvPr/>
        </p:nvSpPr>
        <p:spPr>
          <a:xfrm>
            <a:off x="3245100" y="3280475"/>
            <a:ext cx="2658600" cy="1117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dk1"/>
              </a:buClr>
              <a:buSzPts val="1100"/>
              <a:buFont typeface="Arial"/>
              <a:buNone/>
            </a:pPr>
            <a:r>
              <a:rPr lang="en" sz="900">
                <a:solidFill>
                  <a:srgbClr val="101820"/>
                </a:solidFill>
                <a:latin typeface="Open Sans Medium"/>
                <a:ea typeface="Open Sans Medium"/>
                <a:cs typeface="Open Sans Medium"/>
                <a:sym typeface="Open Sans Medium"/>
              </a:rPr>
              <a:t>We talked briefly about the different types of joins </a:t>
            </a:r>
            <a:r>
              <a:rPr lang="en" sz="900">
                <a:solidFill>
                  <a:srgbClr val="101820"/>
                </a:solidFill>
                <a:latin typeface="Open Sans Medium"/>
                <a:ea typeface="Open Sans Medium"/>
                <a:cs typeface="Open Sans Medium"/>
                <a:sym typeface="Open Sans Medium"/>
              </a:rPr>
              <a:t>that help dictate what data is kept in the final result.</a:t>
            </a:r>
            <a:endParaRPr sz="900">
              <a:solidFill>
                <a:srgbClr val="101820"/>
              </a:solidFill>
              <a:latin typeface="Open Sans Medium"/>
              <a:ea typeface="Open Sans Medium"/>
              <a:cs typeface="Open Sans Medium"/>
              <a:sym typeface="Open Sans Medium"/>
            </a:endParaRPr>
          </a:p>
          <a:p>
            <a:pPr indent="0" lvl="0" marL="0" marR="0" rtl="0" algn="ctr">
              <a:lnSpc>
                <a:spcPct val="150000"/>
              </a:lnSpc>
              <a:spcBef>
                <a:spcPts val="0"/>
              </a:spcBef>
              <a:spcAft>
                <a:spcPts val="0"/>
              </a:spcAft>
              <a:buClr>
                <a:srgbClr val="000000"/>
              </a:buClr>
              <a:buSzPts val="1200"/>
              <a:buFont typeface="Arial"/>
              <a:buNone/>
            </a:pPr>
            <a:r>
              <a:t/>
            </a:r>
            <a:endParaRPr sz="900">
              <a:solidFill>
                <a:srgbClr val="101820"/>
              </a:solidFill>
              <a:latin typeface="Open Sans Medium"/>
              <a:ea typeface="Open Sans Medium"/>
              <a:cs typeface="Open Sans Medium"/>
              <a:sym typeface="Open Sans Medium"/>
            </a:endParaRPr>
          </a:p>
        </p:txBody>
      </p:sp>
      <p:sp>
        <p:nvSpPr>
          <p:cNvPr id="130" name="Google Shape;130;p19"/>
          <p:cNvSpPr/>
          <p:nvPr/>
        </p:nvSpPr>
        <p:spPr>
          <a:xfrm>
            <a:off x="3352202" y="1816263"/>
            <a:ext cx="24444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lang="en" sz="4400">
                <a:solidFill>
                  <a:srgbClr val="01ADE2"/>
                </a:solidFill>
                <a:latin typeface="Fira Sans Medium"/>
                <a:ea typeface="Fira Sans Medium"/>
                <a:cs typeface="Fira Sans Medium"/>
                <a:sym typeface="Fira Sans Medium"/>
              </a:rPr>
              <a:t>Types</a:t>
            </a:r>
            <a:endParaRPr i="0" sz="4400" cap="none" strike="noStrike">
              <a:solidFill>
                <a:srgbClr val="01ADE2"/>
              </a:solidFill>
              <a:latin typeface="Fira Sans Medium"/>
              <a:ea typeface="Fira Sans Medium"/>
              <a:cs typeface="Fira Sans Medium"/>
              <a:sym typeface="Fira Sans Medium"/>
            </a:endParaRPr>
          </a:p>
        </p:txBody>
      </p:sp>
      <p:sp>
        <p:nvSpPr>
          <p:cNvPr id="131" name="Google Shape;131;p19"/>
          <p:cNvSpPr/>
          <p:nvPr/>
        </p:nvSpPr>
        <p:spPr>
          <a:xfrm>
            <a:off x="3274050" y="2777200"/>
            <a:ext cx="2600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sz="1700">
                <a:solidFill>
                  <a:srgbClr val="101820"/>
                </a:solidFill>
                <a:latin typeface="Fira Sans"/>
                <a:ea typeface="Fira Sans"/>
                <a:cs typeface="Fira Sans"/>
                <a:sym typeface="Fira Sans"/>
              </a:rPr>
              <a:t>What to Keep</a:t>
            </a:r>
            <a:endParaRPr b="1" i="0" sz="1700" cap="none" strike="noStrike">
              <a:solidFill>
                <a:srgbClr val="101820"/>
              </a:solidFill>
              <a:latin typeface="Fira Sans"/>
              <a:ea typeface="Fira Sans"/>
              <a:cs typeface="Fira Sans"/>
              <a:sym typeface="Fira Sans"/>
            </a:endParaRPr>
          </a:p>
        </p:txBody>
      </p:sp>
      <p:sp>
        <p:nvSpPr>
          <p:cNvPr id="132" name="Google Shape;132;p19"/>
          <p:cNvSpPr/>
          <p:nvPr/>
        </p:nvSpPr>
        <p:spPr>
          <a:xfrm>
            <a:off x="6293100" y="3280475"/>
            <a:ext cx="2658600" cy="1117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dk1"/>
              </a:buClr>
              <a:buSzPts val="1100"/>
              <a:buFont typeface="Arial"/>
              <a:buNone/>
            </a:pPr>
            <a:r>
              <a:rPr lang="en" sz="900">
                <a:solidFill>
                  <a:srgbClr val="101820"/>
                </a:solidFill>
                <a:latin typeface="Open Sans Medium"/>
                <a:ea typeface="Open Sans Medium"/>
                <a:cs typeface="Open Sans Medium"/>
                <a:sym typeface="Open Sans Medium"/>
              </a:rPr>
              <a:t>We talked about how you can use SQL subqueries to tackle more complex and advanced problems.</a:t>
            </a:r>
            <a:endParaRPr sz="900">
              <a:solidFill>
                <a:srgbClr val="101820"/>
              </a:solidFill>
              <a:latin typeface="Open Sans Medium"/>
              <a:ea typeface="Open Sans Medium"/>
              <a:cs typeface="Open Sans Medium"/>
              <a:sym typeface="Open Sans Medium"/>
            </a:endParaRPr>
          </a:p>
          <a:p>
            <a:pPr indent="0" lvl="0" marL="0" marR="0" rtl="0" algn="ctr">
              <a:lnSpc>
                <a:spcPct val="150000"/>
              </a:lnSpc>
              <a:spcBef>
                <a:spcPts val="0"/>
              </a:spcBef>
              <a:spcAft>
                <a:spcPts val="0"/>
              </a:spcAft>
              <a:buClr>
                <a:srgbClr val="000000"/>
              </a:buClr>
              <a:buSzPts val="1200"/>
              <a:buFont typeface="Arial"/>
              <a:buNone/>
            </a:pPr>
            <a:r>
              <a:t/>
            </a:r>
            <a:endParaRPr sz="900">
              <a:solidFill>
                <a:srgbClr val="101820"/>
              </a:solidFill>
              <a:latin typeface="Open Sans Medium"/>
              <a:ea typeface="Open Sans Medium"/>
              <a:cs typeface="Open Sans Medium"/>
              <a:sym typeface="Open Sans Medium"/>
            </a:endParaRPr>
          </a:p>
        </p:txBody>
      </p:sp>
      <p:sp>
        <p:nvSpPr>
          <p:cNvPr id="133" name="Google Shape;133;p19"/>
          <p:cNvSpPr/>
          <p:nvPr/>
        </p:nvSpPr>
        <p:spPr>
          <a:xfrm>
            <a:off x="6400202" y="1816263"/>
            <a:ext cx="24444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lang="en" sz="4400">
                <a:solidFill>
                  <a:srgbClr val="01ADE2"/>
                </a:solidFill>
                <a:latin typeface="Fira Sans Medium"/>
                <a:ea typeface="Fira Sans Medium"/>
                <a:cs typeface="Fira Sans Medium"/>
                <a:sym typeface="Fira Sans Medium"/>
              </a:rPr>
              <a:t>Subquery</a:t>
            </a:r>
            <a:endParaRPr i="0" sz="4400" cap="none" strike="noStrike">
              <a:solidFill>
                <a:srgbClr val="01ADE2"/>
              </a:solidFill>
              <a:latin typeface="Fira Sans Medium"/>
              <a:ea typeface="Fira Sans Medium"/>
              <a:cs typeface="Fira Sans Medium"/>
              <a:sym typeface="Fira Sans Medium"/>
            </a:endParaRPr>
          </a:p>
        </p:txBody>
      </p:sp>
      <p:sp>
        <p:nvSpPr>
          <p:cNvPr id="134" name="Google Shape;134;p19"/>
          <p:cNvSpPr/>
          <p:nvPr/>
        </p:nvSpPr>
        <p:spPr>
          <a:xfrm>
            <a:off x="6322050" y="2777200"/>
            <a:ext cx="2600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sz="1700">
                <a:solidFill>
                  <a:srgbClr val="101820"/>
                </a:solidFill>
                <a:latin typeface="Fira Sans"/>
                <a:ea typeface="Fira Sans"/>
                <a:cs typeface="Fira Sans"/>
                <a:sym typeface="Fira Sans"/>
              </a:rPr>
              <a:t>Nesting</a:t>
            </a:r>
            <a:endParaRPr b="1" i="0" sz="1700" cap="none" strike="noStrike">
              <a:solidFill>
                <a:srgbClr val="101820"/>
              </a:solidFill>
              <a:latin typeface="Fira Sans"/>
              <a:ea typeface="Fira Sans"/>
              <a:cs typeface="Fira Sans"/>
              <a:sym typeface="Fira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